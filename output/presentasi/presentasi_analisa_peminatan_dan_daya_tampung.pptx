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B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E65100"/>
                </a:solidFill>
              </a:defRPr>
            </a:pPr>
            <a:r>
              <a:t>TUGAS 05 - MAGANG (KHUSUS) | AUDIT-GRADE DECISION ANALYTICS</a:t>
            </a:r>
          </a:p>
          <a:p>
            <a:pPr>
              <a:spcAft>
                <a:spcPts val="1400"/>
              </a:spcAft>
              <a:defRPr sz="2800" b="1">
                <a:solidFill>
                  <a:srgbClr val="1B3B6F"/>
                </a:solidFill>
              </a:defRPr>
            </a:pPr>
            <a:r>
              <a:t>ANALISA PEMINATAN DAN DAYA TAMPUNG</a:t>
            </a:r>
            <a:br/>
            <a:r>
              <a:t>PROGRAM STUDI UNIVERSITAS SYIAH KUALA</a:t>
            </a:r>
          </a:p>
          <a:p>
            <a:pPr>
              <a:spcAft>
                <a:spcPts val="2400"/>
              </a:spcAft>
              <a:defRPr sz="1400">
                <a:solidFill>
                  <a:srgbClr val="475569"/>
                </a:solidFill>
              </a:defRPr>
            </a:pPr>
            <a:r>
              <a:t>Evaluasi Tren Multi-Tahun (2022–2026), Rasio Keketatan Seleksi, Matriks Portofolio Kuadran, Dekonstruksi Kebocoran Desil KIP-Kuliah, dan Rekomendasi Kebijakan PTN-BH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9875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INFORMASI EKSEKUTIF PENUGASAN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Target Peserta Rapat: </a:t>
            </a:r>
            <a:r>
              <a:rPr>
                <a:solidFill>
                  <a:srgbClr val="374151"/>
                </a:solidFill>
              </a:rPr>
              <a:t>Rektor, Para Wakil Rektor, Ketua Senat Akademik, dan Para Dekan Fakultas</a:t>
            </a:r>
          </a:p>
          <a:p>
            <a:pPr>
              <a:spcAft>
                <a:spcPts val="4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Dasar Dataset Analisis: </a:t>
            </a:r>
            <a:r>
              <a:rPr>
                <a:solidFill>
                  <a:srgbClr val="374151"/>
                </a:solidFill>
              </a:rPr>
              <a:t>Data Empiris PMB USK 2022–2026, Dataset Jalur Masuk &amp; Kebocoran, serta Data Induk KIP-Kuliah 2025–2026</a:t>
            </a:r>
          </a:p>
          <a:p>
            <a:pPr>
              <a:spcAft>
                <a:spcPts val="2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Penyusun &amp; Tujuan Dokumen: </a:t>
            </a:r>
            <a:r>
              <a:rPr>
                <a:solidFill>
                  <a:srgbClr val="374151"/>
                </a:solidFill>
              </a:rPr>
              <a:t>Data Analyst PMB — Tim Magang USK | Pengambilan Keputusan Strategis Rasionalisasi Kuota, Penyelamatan Mahasiswa Prasejahtera, dan Efisiensi Finansial PTN-BH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Ringkasan Eksekutif: Tiga Dimensi Evaluasi PMB USK Pasca Transformasi PTN-BH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200"/>
              </a:spcAft>
              <a:defRPr b="1" sz="1400">
                <a:solidFill>
                  <a:srgbClr val="1B3B6F"/>
                </a:solidFill>
              </a:defRPr>
            </a:pPr>
            <a:r>
              <a:t>1. DIMENSI PERMINTAAN PASAR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1B3B6F"/>
                </a:solidFill>
              </a:rPr>
              <a:t>Lonjakan Peminat: </a:t>
            </a:r>
            <a:r>
              <a:rPr>
                <a:solidFill>
                  <a:srgbClr val="374151"/>
                </a:solidFill>
              </a:rPr>
              <a:t>Total peminat USK melonjak dari 48.769 (2022) menjadi 68.010 (2026), sempat mencatat rekor 70.945 di 2025 (+39,5% dalam 5 tahun).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1B3B6F"/>
                </a:solidFill>
              </a:rPr>
              <a:t>Polarisasi Ekstrem: </a:t>
            </a:r>
            <a:r>
              <a:rPr>
                <a:solidFill>
                  <a:srgbClr val="374151"/>
                </a:solidFill>
              </a:rPr>
              <a:t>Terjadi ketimpangan tajam: Farmasi mencapai rasio 39 : 1, sedangkan Budidaya Perairan hanya 0,91 : 1 (jumlah peminat di bawah daya tampung).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1B3B6F"/>
                </a:solidFill>
              </a:rPr>
              <a:t>Pergeseran Minat: </a:t>
            </a:r>
            <a:r>
              <a:rPr>
                <a:solidFill>
                  <a:srgbClr val="374151"/>
                </a:solidFill>
              </a:rPr>
              <a:t>Peminat bergeser kuat ke prodi kesehatan, teknologi digital, dan kepastian formasi kerja ASN/PPPK (PGSD).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50876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200"/>
              </a:spcAft>
              <a:defRPr b="1" sz="1400">
                <a:solidFill>
                  <a:srgbClr val="E65100"/>
                </a:solidFill>
              </a:defRPr>
            </a:pPr>
            <a:r>
              <a:t>2. KAPASITAS &amp; EFISIENSI KUOTA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1B3B6F"/>
                </a:solidFill>
              </a:rPr>
              <a:t>Ekspansi Kuota PTN-BH: </a:t>
            </a:r>
            <a:r>
              <a:rPr>
                <a:solidFill>
                  <a:srgbClr val="374151"/>
                </a:solidFill>
              </a:rPr>
              <a:t>Daya tampung dinaikkan agresif sebesar +32,7% (dari 7.863 menjadi 10.435 kursi) pasca transformasi PTN-BH.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1B3B6F"/>
                </a:solidFill>
              </a:rPr>
              <a:t>Realisasi Pendaftar Ulang: </a:t>
            </a:r>
            <a:r>
              <a:rPr>
                <a:solidFill>
                  <a:srgbClr val="374151"/>
                </a:solidFill>
              </a:rPr>
              <a:t>Realisasi mahasiswa riil naik dari 6.197 ke 8.440 mhs, namun persisten menyisakan beban ~2.000 bangku kosong per tahun.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1B3B6F"/>
                </a:solidFill>
              </a:rPr>
              <a:t>Disparitas Antar Segmen: </a:t>
            </a:r>
            <a:r>
              <a:rPr>
                <a:solidFill>
                  <a:srgbClr val="374151"/>
                </a:solidFill>
              </a:rPr>
              <a:t>S1 Kampus Utama relatif sehat (84,7% keterisian), namun Vokasi D3 terpuruk (51,3%) dan PSDKU Gayo Lues krisis akut (18,6%).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50876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200"/>
              </a:spcAft>
              <a:defRPr b="1" sz="1400">
                <a:solidFill>
                  <a:srgbClr val="1095C1"/>
                </a:solidFill>
              </a:defRPr>
            </a:pPr>
            <a:r>
              <a:t>3. RESOLUSI "PLOT TWIST" KEBOCORAN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1B3B6F"/>
                </a:solidFill>
              </a:rPr>
              <a:t>Kesesuaian Kausalitas 97,6%: </a:t>
            </a:r>
            <a:r>
              <a:rPr>
                <a:solidFill>
                  <a:srgbClr val="374151"/>
                </a:solidFill>
              </a:rPr>
              <a:t>Anomali 626 kursi kosong di SNBT 2026 secara akurat identik dengan 611 calon mahasiswa KIP yang ditolak beasiswanya.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1B3B6F"/>
                </a:solidFill>
              </a:rPr>
              <a:t>Tragedi Desil 5 &amp; 6: </a:t>
            </a:r>
            <a:r>
              <a:rPr>
                <a:solidFill>
                  <a:srgbClr val="374151"/>
                </a:solidFill>
              </a:rPr>
              <a:t>526 orang (84% kursi kosong SNBT) berasal dari keluarga prasejahtera Desil 5 dan 6 yang ditolak massal (&gt;98%).</a:t>
            </a:r>
          </a:p>
          <a:p>
            <a:pPr>
              <a:spcAft>
                <a:spcPts val="800"/>
              </a:spcAft>
              <a:defRPr sz="1150"/>
            </a:pPr>
            <a:r>
              <a:rPr b="1">
                <a:solidFill>
                  <a:srgbClr val="1B3B6F"/>
                </a:solidFill>
              </a:rPr>
              <a:t>Economic Forced Drop-Out: </a:t>
            </a:r>
            <a:r>
              <a:rPr>
                <a:solidFill>
                  <a:srgbClr val="374151"/>
                </a:solidFill>
              </a:rPr>
              <a:t>Terbukti kursi kosong bukan karena siswa kabur ke PTS/kedinasan, melainkan kegagalan daya beli akibat pemotongan kuota beasiswa.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Evaluasi Tren Makro 5 Tahun USK: Kapasitas Melompat, Beban ~2.000 Bangku Kosong Tetap Berulang</a:t>
            </a:r>
          </a:p>
        </p:txBody>
      </p:sp>
      <p:pic>
        <p:nvPicPr>
          <p:cNvPr id="3" name="Picture 2" descr="01_tren_makro_peminat_dt_du_u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312463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92440" y="1463040"/>
            <a:ext cx="336499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b="1" sz="1350">
                <a:solidFill>
                  <a:srgbClr val="1B3B6F"/>
                </a:solidFill>
              </a:defRPr>
            </a:pPr>
            <a:r>
              <a:t>EVOLUSI METRIK 5 TAHUN USK: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2022: </a:t>
            </a:r>
            <a:r>
              <a:rPr>
                <a:solidFill>
                  <a:srgbClr val="374151"/>
                </a:solidFill>
              </a:rPr>
              <a:t>48.769 Peminat | 7.863 Kuota | 6.197 DU | 1.666 Kosong (Fill Rate 78,8%)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2023: </a:t>
            </a:r>
            <a:r>
              <a:rPr>
                <a:solidFill>
                  <a:srgbClr val="374151"/>
                </a:solidFill>
              </a:rPr>
              <a:t>44.653 Peminat | 8.780 Kuota | 6.299 DU | 2.481 Kosong (Fill Rate 71,7%)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2024: </a:t>
            </a:r>
            <a:r>
              <a:rPr>
                <a:solidFill>
                  <a:srgbClr val="374151"/>
                </a:solidFill>
              </a:rPr>
              <a:t>65.495 Peminat | 10.240 Kuota | 7.791 DU | 2.449 Kosong (Fill Rate 76,1%)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2025: </a:t>
            </a:r>
            <a:r>
              <a:rPr>
                <a:solidFill>
                  <a:srgbClr val="374151"/>
                </a:solidFill>
              </a:rPr>
              <a:t>70.945 Peminat | 10.420 Kuota | 8.027 DU | 2.393 Kosong (Fill Rate 77,0%)</a:t>
            </a:r>
          </a:p>
          <a:p>
            <a:pPr>
              <a:spcAft>
                <a:spcPts val="8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2026: </a:t>
            </a:r>
            <a:r>
              <a:rPr>
                <a:solidFill>
                  <a:srgbClr val="374151"/>
                </a:solidFill>
              </a:rPr>
              <a:t>68.010 Peminat | 10.435 Kuota | 8.440 DU | 1.995 Kosong (Fill Rate 80,9%)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E65100"/>
                </a:solidFill>
              </a:rPr>
              <a:t>Pesan Kunci Pimpinan: </a:t>
            </a:r>
            <a:r>
              <a:rPr>
                <a:solidFill>
                  <a:srgbClr val="374151"/>
                </a:solidFill>
              </a:rPr>
              <a:t>Menambah daya tampung tanpa sinkronisasi daya serap pasar riil dan kuota beasiswa hanya menciptakan 'kursi kosong semu' yang merugikan efisiensi beban dosen, akreditasi, dan utilisasi fasilitas kampus.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Peta Keketatan Seleksi &amp; Market Fulfillment Ratio (MFR) 2026: Disparitas 39:1 vs Peminat &lt; Kuota</a:t>
            </a:r>
          </a:p>
        </p:txBody>
      </p:sp>
      <p:pic>
        <p:nvPicPr>
          <p:cNvPr id="3" name="Picture 2" descr="04_rasio_keketatan_peminatan_vs_daya_tamp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315200" cy="338809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75320" y="1463040"/>
            <a:ext cx="31821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350">
                <a:solidFill>
                  <a:srgbClr val="1B3B6F"/>
                </a:solidFill>
              </a:defRPr>
            </a:pPr>
            <a:r>
              <a:t>FORMULASI &amp; DISPARITAS MFR: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Formulasi: </a:t>
            </a:r>
            <a:r>
              <a:rPr>
                <a:solidFill>
                  <a:srgbClr val="374151"/>
                </a:solidFill>
              </a:rPr>
              <a:t>MFR = Peminat / Kuota (Benchmark Ideal &gt;= 3,0)</a:t>
            </a:r>
          </a:p>
          <a:p>
            <a:pPr>
              <a:spcAft>
                <a:spcPts val="8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Top 8 Paling Favorit / Ketat: </a:t>
            </a:r>
            <a:r>
              <a:rPr>
                <a:solidFill>
                  <a:srgbClr val="374151"/>
                </a:solidFill>
              </a:rPr>
              <a:t>1. Farmasi (39,18:1)
2. D4 Akuntansi Pajak (22,43:1)
3. Informatika (18,12:1)
4. Psikologi (17,31:1)
5. T. Perminyakan (15,50:1)
6. T. Pertambangan (14,46:1)
7. Manajemen (14,12:1)
8. Bisnis Digital (12,79:1)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C0392B"/>
                </a:solidFill>
              </a:rPr>
              <a:t>Top 8 Paling Sepi / Rawan: </a:t>
            </a:r>
            <a:r>
              <a:rPr>
                <a:solidFill>
                  <a:srgbClr val="374151"/>
                </a:solidFill>
              </a:rPr>
              <a:t>1. Budidaya Perairan (0,91:1 - Minus!)
2. PSP Perikanan (1,08:1)
3. Fisika (1,18:1)
4. Pendidikan Fisika (1,29:1)
5. Proteksi Tanaman (1,31:1)
6. Ilmu Tanah (1,35:1)
7. Pendidikan Kimia (1,52:1)
8. Pendidikan Geografi (1,56:1)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Sintesis Matriks 4 Kuadran Portofolio &amp; Klasifikasi Tren Multi-Tahun Program Studi</a:t>
            </a:r>
          </a:p>
        </p:txBody>
      </p:sp>
      <p:pic>
        <p:nvPicPr>
          <p:cNvPr id="3" name="Picture 2" descr="10_matriks_4_kuadran_prodi_u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7498079" cy="359283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12480" y="1417320"/>
            <a:ext cx="304495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b="1" sz="1300">
                <a:solidFill>
                  <a:srgbClr val="1B3B6F"/>
                </a:solidFill>
              </a:defRPr>
            </a:pPr>
            <a:r>
              <a:t>AKSI MANAJERIAL PIMPINAN: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27AE60"/>
                </a:solidFill>
              </a:rPr>
              <a:t>Kuadran I (Prime - 25 Prodi): </a:t>
            </a:r>
            <a:r>
              <a:rPr>
                <a:solidFill>
                  <a:srgbClr val="374151"/>
                </a:solidFill>
              </a:rPr>
              <a:t>MFR &gt;= 3,2 &amp; Fill &gt;= 84,7%. Kedokteran, Farmasi, Informatika, PGSD, T. Sipil, Keperawatan, Hukum, Akuntansi, Tambang.
-&gt; AKSI: Maintain &amp; Invest (Kelas Internasional).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2980B9"/>
                </a:solidFill>
              </a:rPr>
              <a:t>Kuadran II (Niche - 8 Prodi): </a:t>
            </a:r>
            <a:r>
              <a:rPr>
                <a:solidFill>
                  <a:srgbClr val="374151"/>
                </a:solidFill>
              </a:rPr>
              <a:t>MFR &lt; 3,2 &amp; Fill &gt;= 84,7%. Arsitektur, T. Mesin, Pend. Bahasa Indo, Peternakan.
-&gt; AKSI: Protect &amp; Control (Kunci Kuota).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C0392B"/>
                </a:solidFill>
              </a:rPr>
              <a:t>Kuadran III (Defisit - 25 Prodi): </a:t>
            </a:r>
            <a:r>
              <a:rPr>
                <a:solidFill>
                  <a:srgbClr val="374151"/>
                </a:solidFill>
              </a:rPr>
              <a:t>MFR &lt; 3,2 &amp; Fill &lt; 84,7%. Budidaya Perairan, Fisika, PSP, Pend Fisika/Kimia, THP, Pend Ekonomi.
-&gt; AKSI: Downsize Kuota 20%-40%!</a:t>
            </a:r>
          </a:p>
          <a:p>
            <a:pPr>
              <a:spcAft>
                <a:spcPts val="400"/>
              </a:spcAft>
              <a:defRPr sz="1000"/>
            </a:pPr>
            <a:r>
              <a:rPr b="1">
                <a:solidFill>
                  <a:srgbClr val="E65100"/>
                </a:solidFill>
              </a:rPr>
              <a:t>Kuadran IV (Bocor - 8 Prodi): </a:t>
            </a:r>
            <a:r>
              <a:rPr>
                <a:solidFill>
                  <a:srgbClr val="374151"/>
                </a:solidFill>
              </a:rPr>
              <a:t>MFR &gt;= 3,2 &amp; Fill &lt; 84,7%. Manajemen FEB, Eko Islam, Eko Pembangunan, Sosiologi, Agribisnis.
-&gt; AKSI: Retain &amp; Convert (Cicilan IPI).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Bintang Pertumbuhan vs Sinyal Waspada: Analisis Slope OLS &amp; CAGR Multi-Tahun</a:t>
            </a:r>
          </a:p>
        </p:txBody>
      </p:sp>
      <p:pic>
        <p:nvPicPr>
          <p:cNvPr id="3" name="Picture 2" descr="02_top_tren_peningkatan_pendaftar_dan_pemin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257800" cy="3023235"/>
          </a:xfrm>
          <a:prstGeom prst="rect">
            <a:avLst/>
          </a:prstGeom>
        </p:spPr>
      </p:pic>
      <p:pic>
        <p:nvPicPr>
          <p:cNvPr id="4" name="Picture 3" descr="03_top_tren_penurunan_pendaftar_dan_pemin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17320"/>
            <a:ext cx="5257800" cy="30232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120640"/>
            <a:ext cx="5257800" cy="1417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b="1" sz="1100">
                <a:solidFill>
                  <a:srgbClr val="166534"/>
                </a:solidFill>
              </a:defRPr>
            </a:pPr>
            <a:r>
              <a:t>TOP BINTANG PERTUMBUHAN RIIL (OLS POSITIF)</a:t>
            </a:r>
          </a:p>
          <a:p>
            <a:pPr>
              <a:spcAft>
                <a:spcPts val="2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1. Keperawatan: </a:t>
            </a:r>
            <a:r>
              <a:rPr>
                <a:solidFill>
                  <a:srgbClr val="374151"/>
                </a:solidFill>
              </a:rPr>
              <a:t>Slope +38,4 mhs/thn (CAGR +23,5%, 127 -&gt; 295 mhs). Pasar ners global.</a:t>
            </a:r>
          </a:p>
          <a:p>
            <a:pPr>
              <a:spcAft>
                <a:spcPts val="2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2. PGSD (FKIP): </a:t>
            </a:r>
            <a:r>
              <a:rPr>
                <a:solidFill>
                  <a:srgbClr val="374151"/>
                </a:solidFill>
              </a:rPr>
              <a:t>Slope +27,4 mhs/thn (CAGR +19,9%, 105 -&gt; 217 mhs). 4 thn beruntun naik! Kepastian PPPK.</a:t>
            </a:r>
          </a:p>
          <a:p>
            <a:pPr>
              <a:spcAft>
                <a:spcPts val="1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3. Sipil &amp; Komputer: </a:t>
            </a:r>
            <a:r>
              <a:rPr>
                <a:solidFill>
                  <a:srgbClr val="374151"/>
                </a:solidFill>
              </a:rPr>
              <a:t>Masing-masing tumbuh konsisten (+23,0 &amp; +14,8 mhs/thn) sejalan digitalisasi &amp; infrastruktur.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5120640"/>
            <a:ext cx="5257800" cy="1417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b="1" sz="1100">
                <a:solidFill>
                  <a:srgbClr val="991B1B"/>
                </a:solidFill>
              </a:defRPr>
            </a:pPr>
            <a:r>
              <a:t>TOP SINYAL WASPADA (KONTRAKSI BERKELANJUTAN)</a:t>
            </a:r>
          </a:p>
          <a:p>
            <a:pPr>
              <a:spcAft>
                <a:spcPts val="2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1. Manajemen FEB: </a:t>
            </a:r>
            <a:r>
              <a:rPr>
                <a:solidFill>
                  <a:srgbClr val="374151"/>
                </a:solidFill>
              </a:rPr>
              <a:t>Slope -16,4 mhs/thn (CAGR -7,0%, 266 -&gt; 199 mhs). Terkanibalisasi Bisnis Digital.</a:t>
            </a:r>
          </a:p>
          <a:p>
            <a:pPr>
              <a:spcAft>
                <a:spcPts val="2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2. Ekonomi Islam &amp; Pembangunan: </a:t>
            </a:r>
            <a:r>
              <a:rPr>
                <a:solidFill>
                  <a:srgbClr val="374151"/>
                </a:solidFill>
              </a:rPr>
              <a:t>Turun konsisten 3 thn beruntun (Slope -10,3 &amp; -7,7 mhs/thn).</a:t>
            </a:r>
          </a:p>
          <a:p>
            <a:pPr>
              <a:spcAft>
                <a:spcPts val="1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3. Sains Murni &amp; Perikanan: </a:t>
            </a:r>
            <a:r>
              <a:rPr>
                <a:solidFill>
                  <a:srgbClr val="374151"/>
                </a:solidFill>
              </a:rPr>
              <a:t>Matematika (-2,9 mhs/thn) &amp; PSP (-3,7 mhs/thn) mengalami pelemahan minat.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Fenomena Over-Ekspansi Kuota: Tambah Daya Tampung Tidak Menambah Mahasiswa</a:t>
            </a:r>
          </a:p>
        </p:txBody>
      </p:sp>
      <p:pic>
        <p:nvPicPr>
          <p:cNvPr id="3" name="Picture 2" descr="05_over_ekspansi_kuota_vs_daftar_ulang_ri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315200" cy="442866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75320" y="1463040"/>
            <a:ext cx="31821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350">
                <a:solidFill>
                  <a:srgbClr val="1B3B6F"/>
                </a:solidFill>
              </a:defRPr>
            </a:pPr>
            <a:r>
              <a:t>BUKTI EMPIRIS OVER-EKSPANSI: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Budidaya Perairan: </a:t>
            </a:r>
            <a:r>
              <a:rPr>
                <a:solidFill>
                  <a:srgbClr val="374151"/>
                </a:solidFill>
              </a:rPr>
              <a:t>Kuota dipatok 160 kursi, mahasiswa masuk macet di 90 mhs -&gt; 70 Kursi Kosong (Keterisian 56,3%).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THP Pertanian: </a:t>
            </a:r>
            <a:r>
              <a:rPr>
                <a:solidFill>
                  <a:srgbClr val="374151"/>
                </a:solidFill>
              </a:rPr>
              <a:t>Kuota dinaikkan 2x (80 ke 160), daftar ulang hanya 102 mhs -&gt; 58 Kursi Kosong.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Pendidikan Ekonomi: </a:t>
            </a:r>
            <a:r>
              <a:rPr>
                <a:solidFill>
                  <a:srgbClr val="374151"/>
                </a:solidFill>
              </a:rPr>
              <a:t>Kuota dinaikkan ke 160, daftar ulang hanya 103 mhs -&gt; 57 Kursi Kosong.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Teknik Kimia: </a:t>
            </a:r>
            <a:r>
              <a:rPr>
                <a:solidFill>
                  <a:srgbClr val="374151"/>
                </a:solidFill>
              </a:rPr>
              <a:t>Kuota dinaikkan ke 180, daftar ulang hanya 120 mhs -&gt; 60 Kursi Kosong.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PSP Perikanan: </a:t>
            </a:r>
            <a:r>
              <a:rPr>
                <a:solidFill>
                  <a:srgbClr val="374151"/>
                </a:solidFill>
              </a:rPr>
              <a:t>Kuota dipatok 120, daftar ulang hanya 67 mhs -&gt; 53 Kursi Kosong.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E65100"/>
                </a:solidFill>
              </a:rPr>
              <a:t>Dampak Manajerial: </a:t>
            </a:r>
            <a:r>
              <a:rPr>
                <a:solidFill>
                  <a:srgbClr val="374151"/>
                </a:solidFill>
              </a:rPr>
              <a:t>Merasionalkan kuota 5 prodi ini ke angka 80–120 menghapus ~300 kursi kosong semu tanpa kehilangan 1 pun mahasiswa riil!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Dinamika Jalur Masuk &amp; Corong Kebocoran Calon Mahasiswa Resmi USK (2026)</a:t>
            </a:r>
          </a:p>
        </p:txBody>
      </p:sp>
      <p:pic>
        <p:nvPicPr>
          <p:cNvPr id="3" name="Picture 2" descr="06_dinamika_jalur_masuk_dan_kebocoran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406640" cy="3291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339327" y="1463040"/>
            <a:ext cx="311810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KOMPOSISI &amp; KEBOCORAN JALUR: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SNBT (38,6%): </a:t>
            </a:r>
            <a:r>
              <a:rPr>
                <a:solidFill>
                  <a:srgbClr val="374151"/>
                </a:solidFill>
              </a:rPr>
              <a:t>Kontributor volume terbesar (3.260 mhs). Mengalami kebocoran 626 calon (Yield 83,9%).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SNBP (32,6%): </a:t>
            </a:r>
            <a:r>
              <a:rPr>
                <a:solidFill>
                  <a:srgbClr val="374151"/>
                </a:solidFill>
              </a:rPr>
              <a:t>Penopang mutu akademik (2.754 mhs). Paling loyal (Yield 94,8%), hanya 151 orang gugur berkat sanksi blacklist SNPMB.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SMMPTN Mandiri (21,5%): </a:t>
            </a:r>
            <a:r>
              <a:rPr>
                <a:solidFill>
                  <a:srgbClr val="374151"/>
                </a:solidFill>
              </a:rPr>
              <a:t>1.814 mhs masuk. Bocor 604 calon (Yield 75,0%) akibat batas bayar IPI 5 hari yang sangat sempit.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TALENTA (Bocor Parah): </a:t>
            </a:r>
            <a:r>
              <a:rPr>
                <a:solidFill>
                  <a:srgbClr val="374151"/>
                </a:solidFill>
              </a:rPr>
              <a:t>930 calon gugur (Yield hanya 24,9%). 3 dari 4 calon kabur karena dijadikan tiket cadangan gratis menjelang UTBK.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SMC &amp; ADIK (2,6%): </a:t>
            </a:r>
            <a:r>
              <a:rPr>
                <a:solidFill>
                  <a:srgbClr val="374151"/>
                </a:solidFill>
              </a:rPr>
              <a:t>Menyerap 205 mhs mandiri cadangan dan 20 mhs afirmasi 3T Papua/3T Aceh.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Resolusi "Plot Twist": Kursi Kosong SNBT Akibat Terhempas Pemotongan Kuota KIP-Kuliah!</a:t>
            </a:r>
          </a:p>
        </p:txBody>
      </p:sp>
      <p:pic>
        <p:nvPicPr>
          <p:cNvPr id="3" name="Picture 2" descr="20_analisis_desil_dan_rejection_kip_sn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31907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92440" y="1463040"/>
            <a:ext cx="336499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350">
                <a:solidFill>
                  <a:srgbClr val="1B3B6F"/>
                </a:solidFill>
              </a:defRPr>
            </a:pPr>
            <a:r>
              <a:t>KORELASI KAUSALITAS 97,6%:</a:t>
            </a:r>
          </a:p>
          <a:p>
            <a:pPr>
              <a:spcAft>
                <a:spcPts val="800"/>
              </a:spcAft>
              <a:defRPr sz="1050"/>
            </a:pPr>
            <a:r>
              <a:rPr b="1">
                <a:solidFill>
                  <a:srgbClr val="E65100"/>
                </a:solidFill>
              </a:rPr>
              <a:t>Kesesuaian Matematis: </a:t>
            </a:r>
            <a:r>
              <a:rPr>
                <a:solidFill>
                  <a:srgbClr val="374151"/>
                </a:solidFill>
              </a:rPr>
              <a:t>Calon Gugur SNBT 2026 (626 Orang) nyaris 100% identik dengan Pendaftar KIP SNBT Ditolak Kampus (611 Orang).
-&gt; Rasio Kesesuaian = 611 / 626 = 97,60%!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Mengapa Penolakan KIP Meledak? </a:t>
            </a:r>
            <a:r>
              <a:rPr>
                <a:solidFill>
                  <a:srgbClr val="374151"/>
                </a:solidFill>
              </a:rPr>
              <a:t>Pada 2025: Kuota KIP USK = 1.846 kursi, penolakan KIP SNBT hanya 370 orang (29,0%).
Pada 2026: Kuota KIP USK dipangkas 207 kursi (-11,2%) menjadi 1.639 kursi.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Efek Penyerapan SNBP: </a:t>
            </a:r>
            <a:r>
              <a:rPr>
                <a:solidFill>
                  <a:srgbClr val="374151"/>
                </a:solidFill>
              </a:rPr>
              <a:t>Karena 893 kursi KIP terserap di SNBP, kuota sisa KIP untuk SNBT terpangkas menjadi 746 kursi, sementara pendaftar KIP UTBK naik ke 1.361 orang -&gt; 611 siswa KIP ditolak (+65,1%!).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"The Smoking Gun": Penolakan KIP Terkonsentrasi Penuh pada Siswa Prasejahtera Desil 5 &amp;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b="1" sz="1200">
                <a:solidFill>
                  <a:srgbClr val="1B3B6F"/>
                </a:solidFill>
              </a:defRPr>
            </a:pPr>
            <a:r>
              <a:t>PROFIL PENERIMAAN KIP SNBT 2026 BERDASARKAN DESIL DTKS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166534"/>
                </a:solidFill>
              </a:rPr>
              <a:t>Desil 1 (Sangat Miskin): </a:t>
            </a:r>
            <a:r>
              <a:rPr>
                <a:solidFill>
                  <a:srgbClr val="374151"/>
                </a:solidFill>
              </a:rPr>
              <a:t>221 Pendaftar | 200 Diterima (90,5%) | 21 Ditolak [Lolos Aman]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166534"/>
                </a:solidFill>
              </a:rPr>
              <a:t>Desil 2 (Miskin): </a:t>
            </a:r>
            <a:r>
              <a:rPr>
                <a:solidFill>
                  <a:srgbClr val="374151"/>
                </a:solidFill>
              </a:rPr>
              <a:t>186 Pendaftar | 162 Diterima (87,1%) | 24 Ditolak [Lolos Aman]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166534"/>
                </a:solidFill>
              </a:rPr>
              <a:t>Desil 3 (Hampir Miskin): </a:t>
            </a:r>
            <a:r>
              <a:rPr>
                <a:solidFill>
                  <a:srgbClr val="374151"/>
                </a:solidFill>
              </a:rPr>
              <a:t>219 Pendaftar | 204 Diterima (93,2%) | 15 Ditolak [Lolos Aman]</a:t>
            </a:r>
          </a:p>
          <a:p>
            <a:pPr>
              <a:spcAft>
                <a:spcPts val="1000"/>
              </a:spcAft>
              <a:defRPr sz="1100"/>
            </a:pPr>
            <a:r>
              <a:rPr b="1">
                <a:solidFill>
                  <a:srgbClr val="166534"/>
                </a:solidFill>
              </a:rPr>
              <a:t>Desil 4 (Rentan Miskin): </a:t>
            </a:r>
            <a:r>
              <a:rPr>
                <a:solidFill>
                  <a:srgbClr val="374151"/>
                </a:solidFill>
              </a:rPr>
              <a:t>176 Pendaftar | 160 Diterima (90,9%) | 16 Ditolak [Lolos Aman]</a:t>
            </a:r>
          </a:p>
          <a:p>
            <a:pPr>
              <a:spcAft>
                <a:spcPts val="1000"/>
              </a:spcAft>
              <a:defRPr sz="950" b="1">
                <a:solidFill>
                  <a:srgbClr val="DC2626"/>
                </a:solidFill>
              </a:defRPr>
            </a:pPr>
            <a:r>
              <a:t>------------------ GARIS CUTOFF AMBANG KUOTA KIP APBN ------------------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DC2626"/>
                </a:solidFill>
              </a:rPr>
              <a:t>Desil 5 (Prasejahtera Menengah): </a:t>
            </a:r>
            <a:r>
              <a:rPr>
                <a:solidFill>
                  <a:srgbClr val="374151"/>
                </a:solidFill>
              </a:rPr>
              <a:t>149 Pendaftar | HANYA 3 DITERIMA (2,0%) | 146 DITOLAK (98,0%)!</a:t>
            </a:r>
          </a:p>
          <a:p>
            <a:pPr>
              <a:spcAft>
                <a:spcPts val="800"/>
              </a:spcAft>
              <a:defRPr sz="1100"/>
            </a:pPr>
            <a:r>
              <a:rPr b="1">
                <a:solidFill>
                  <a:srgbClr val="DC2626"/>
                </a:solidFill>
              </a:rPr>
              <a:t>Desil 6 (Prasejahtera Menengah): </a:t>
            </a:r>
            <a:r>
              <a:rPr>
                <a:solidFill>
                  <a:srgbClr val="374151"/>
                </a:solidFill>
              </a:rPr>
              <a:t>385 Pendaftar | HANYA 5 DITERIMA (1,3%) | 380 DITOLAK (98,7%)!</a:t>
            </a:r>
          </a:p>
          <a:p>
            <a:pPr>
              <a:spcAft>
                <a:spcPts val="200"/>
              </a:spcAft>
              <a:defRPr sz="1150"/>
            </a:pPr>
            <a:r>
              <a:rPr b="1">
                <a:solidFill>
                  <a:srgbClr val="B91C1C"/>
                </a:solidFill>
              </a:rPr>
              <a:t>TOTAL DESIL 5 &amp; 6 DITOLAK: </a:t>
            </a:r>
            <a:r>
              <a:rPr>
                <a:solidFill>
                  <a:srgbClr val="374151"/>
                </a:solidFill>
              </a:rPr>
              <a:t>526 CALON MAHASISWA BERPRESTASI UTBK!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463040"/>
            <a:ext cx="5010912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200"/>
              </a:spcAft>
              <a:defRPr b="1" sz="1300">
                <a:solidFill>
                  <a:srgbClr val="B91C1C"/>
                </a:solidFill>
              </a:defRPr>
            </a:pPr>
            <a:r>
              <a:t>MEKANISME ECONOMIC FORCED DROP-OUT</a:t>
            </a:r>
          </a:p>
          <a:p>
            <a:pPr>
              <a:spcAft>
                <a:spcPts val="10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1. Pengalihan Otomatis ke UKT Reguler: </a:t>
            </a:r>
            <a:r>
              <a:rPr>
                <a:solidFill>
                  <a:srgbClr val="374151"/>
                </a:solidFill>
              </a:rPr>
              <a:t>Sebanyak 526 calon mahasiswa Desil 5 &amp; 6 yang ditolak beasiswanya langsung dialihkan ke tagihan UKT Kelompok 3-5 (Rp 2,5 – 5 Juta/semester).</a:t>
            </a:r>
          </a:p>
          <a:p>
            <a:pPr>
              <a:spcAft>
                <a:spcPts val="10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2. Profil Keluarga Prasejahtera: </a:t>
            </a:r>
            <a:r>
              <a:rPr>
                <a:solidFill>
                  <a:srgbClr val="374151"/>
                </a:solidFill>
              </a:rPr>
              <a:t>Desil 5 dan 6 di Aceh adalah keluarga petani kecil, buruh harian, nelayan tradisional, dan pedagang mikro yang tidak memiliki kesiapan dana tunai jutaan rupiah.</a:t>
            </a:r>
          </a:p>
          <a:p>
            <a:pPr>
              <a:spcAft>
                <a:spcPts val="10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3. Mundur Terpaksa (Bukan Kabur): </a:t>
            </a:r>
            <a:r>
              <a:rPr>
                <a:solidFill>
                  <a:srgbClr val="374151"/>
                </a:solidFill>
              </a:rPr>
              <a:t>Menghadapi tagihan UKT tanpa beasiswa dalam tempo verifikasi yang sempit, 526 calon mahasiswa ini terpaksa tidak mendaftar ulang.</a:t>
            </a:r>
          </a:p>
          <a:p>
            <a:pPr>
              <a:spcAft>
                <a:spcPts val="400"/>
              </a:spcAft>
              <a:defRPr sz="1150"/>
            </a:pPr>
            <a:r>
              <a:rPr b="1">
                <a:solidFill>
                  <a:srgbClr val="B91C1C"/>
                </a:solidFill>
              </a:rPr>
              <a:t>4. Sumber 84% Kursi Kosong SNBT: </a:t>
            </a:r>
            <a:r>
              <a:rPr>
                <a:solidFill>
                  <a:srgbClr val="374151"/>
                </a:solidFill>
              </a:rPr>
              <a:t>526 dari 626 bangku kosong SNBT (84,0%) secara langsung tercipta dari tragedi keterbatasan kuota KIP ini!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Sinkronisasi Sektoral: Korelasi Riil Calon Gugur vs Penolakan KIP Desil 5–6 per Prodi</a:t>
            </a:r>
          </a:p>
        </p:txBody>
      </p:sp>
      <p:pic>
        <p:nvPicPr>
          <p:cNvPr id="3" name="Picture 2" descr="23_korelasi_prodi_calon_gugur_vs_kip_de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375385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92440" y="1463040"/>
            <a:ext cx="336499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BUKTI PARALELISME PER PRODI:</a:t>
            </a:r>
          </a:p>
          <a:p>
            <a:pPr>
              <a:spcAft>
                <a:spcPts val="500"/>
              </a:spcAft>
              <a:defRPr sz="1050"/>
            </a:pPr>
            <a:r>
              <a:rPr b="1">
                <a:solidFill>
                  <a:srgbClr val="DC2626"/>
                </a:solidFill>
              </a:rPr>
              <a:t>Keperawatan: </a:t>
            </a:r>
            <a:r>
              <a:rPr>
                <a:solidFill>
                  <a:srgbClr val="374151"/>
                </a:solidFill>
              </a:rPr>
              <a:t>20 Calon Gugur &lt;-&gt; 20 KIP Desil 5–6 Ditolak (Korelasi 100% Presisi!)</a:t>
            </a:r>
          </a:p>
          <a:p>
            <a:pPr>
              <a:spcAft>
                <a:spcPts val="5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Akuntansi: </a:t>
            </a:r>
            <a:r>
              <a:rPr>
                <a:solidFill>
                  <a:srgbClr val="374151"/>
                </a:solidFill>
              </a:rPr>
              <a:t>20 Calon Gugur &lt;-&gt; 14 KIP Desil 5–6 Ditolak</a:t>
            </a:r>
          </a:p>
          <a:p>
            <a:pPr>
              <a:spcAft>
                <a:spcPts val="5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Budidaya Perairan: </a:t>
            </a:r>
            <a:r>
              <a:rPr>
                <a:solidFill>
                  <a:srgbClr val="374151"/>
                </a:solidFill>
              </a:rPr>
              <a:t>16 Calon Gugur &lt;-&gt; 12 KIP Desil 5–6 Ditolak</a:t>
            </a:r>
          </a:p>
          <a:p>
            <a:pPr>
              <a:spcAft>
                <a:spcPts val="5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Ilmu Politik: </a:t>
            </a:r>
            <a:r>
              <a:rPr>
                <a:solidFill>
                  <a:srgbClr val="374151"/>
                </a:solidFill>
              </a:rPr>
              <a:t>16 Calon Gugur &lt;-&gt; 12 KIP Desil 5–6 Ditolak</a:t>
            </a:r>
          </a:p>
          <a:p>
            <a:pPr>
              <a:spcAft>
                <a:spcPts val="5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Ilmu Hukum: </a:t>
            </a:r>
            <a:r>
              <a:rPr>
                <a:solidFill>
                  <a:srgbClr val="374151"/>
                </a:solidFill>
              </a:rPr>
              <a:t>14 Calon Gugur &lt;-&gt; 15 KIP Desil 5–6 Ditolak</a:t>
            </a:r>
          </a:p>
          <a:p>
            <a:pPr>
              <a:spcAft>
                <a:spcPts val="5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Ilmu Pemerintahan: </a:t>
            </a:r>
            <a:r>
              <a:rPr>
                <a:solidFill>
                  <a:srgbClr val="374151"/>
                </a:solidFill>
              </a:rPr>
              <a:t>12 Calon Gugur &lt;-&gt; 14 KIP Desil 5–6 Ditolak</a:t>
            </a:r>
          </a:p>
          <a:p>
            <a:pPr>
              <a:spcAft>
                <a:spcPts val="5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PGSD FKIP: </a:t>
            </a:r>
            <a:r>
              <a:rPr>
                <a:solidFill>
                  <a:srgbClr val="374151"/>
                </a:solidFill>
              </a:rPr>
              <a:t>9 Calon Gugur &lt;-&gt; 20 KIP Desil 5–6 Ditolak</a:t>
            </a:r>
          </a:p>
          <a:p>
            <a:pPr>
              <a:spcAft>
                <a:spcPts val="5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THP Pertanian: </a:t>
            </a:r>
            <a:r>
              <a:rPr>
                <a:solidFill>
                  <a:srgbClr val="374151"/>
                </a:solidFill>
              </a:rPr>
              <a:t>8 Calon Gugur &lt;-&gt; 19 KIP Desil 5–6 Ditolak</a:t>
            </a:r>
          </a:p>
          <a:p>
            <a:pPr>
              <a:spcAft>
                <a:spcPts val="200"/>
              </a:spcAft>
              <a:defRPr sz="1000"/>
            </a:pPr>
            <a:r>
              <a:rPr b="1">
                <a:solidFill>
                  <a:srgbClr val="E65100"/>
                </a:solidFill>
              </a:rPr>
              <a:t>Kesimpulan Audit: </a:t>
            </a:r>
            <a:r>
              <a:rPr>
                <a:solidFill>
                  <a:srgbClr val="374151"/>
                </a:solidFill>
              </a:rPr>
              <a:t>Terbukti bahwa prodi rumpun kesehatan, keguruan, pertanian, dan sospol mengalami kursi kosong murni karena benturan ekonomi siswa, bukan ketiadaan peminat.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Stratifikasi Sosial-Ekonomi: Kuadran III Berperan Sebagai Jaring Pengaman Sosial USK</a:t>
            </a:r>
          </a:p>
        </p:txBody>
      </p:sp>
      <p:pic>
        <p:nvPicPr>
          <p:cNvPr id="3" name="Picture 2" descr="21_ketergantungan_kip_antar_kuadran_dan_top_pro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33878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92440" y="1463040"/>
            <a:ext cx="336499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PENETRASI KIP PER KUADRAN: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Kuadran I (Unggulan): </a:t>
            </a:r>
            <a:r>
              <a:rPr>
                <a:solidFill>
                  <a:srgbClr val="374151"/>
                </a:solidFill>
              </a:rPr>
              <a:t>Penetrasi KIP 13,19% (515 KIP dari 3.905 mhs). Mandiri finansial, didominasi pembayar UKT tinggi dan IPI puluhan juta.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Kuadran II (Niche): </a:t>
            </a:r>
            <a:r>
              <a:rPr>
                <a:solidFill>
                  <a:srgbClr val="374151"/>
                </a:solidFill>
              </a:rPr>
              <a:t>Penetrasi KIP 14,63% (153 KIP dari 1.046 mhs).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Kuadran IV (Bocor): </a:t>
            </a:r>
            <a:r>
              <a:rPr>
                <a:solidFill>
                  <a:srgbClr val="374151"/>
                </a:solidFill>
              </a:rPr>
              <a:t>Penetrasi KIP 24,47% (163 KIP dari 666 mhs).</a:t>
            </a:r>
          </a:p>
          <a:p>
            <a:pPr>
              <a:spcAft>
                <a:spcPts val="800"/>
              </a:spcAft>
              <a:defRPr sz="1050"/>
            </a:pPr>
            <a:r>
              <a:rPr b="1">
                <a:solidFill>
                  <a:srgbClr val="DC2626"/>
                </a:solidFill>
              </a:rPr>
              <a:t>Kuadran III (Defisit/Rentan): </a:t>
            </a:r>
            <a:r>
              <a:rPr>
                <a:solidFill>
                  <a:srgbClr val="374151"/>
                </a:solidFill>
              </a:rPr>
              <a:t>Penetrasi KIP 31,11% (734 KIP dari 2.359 mhs). Sangat bergantung beasiswa! Penetrasi KIP mencapai 2,4x lipat Kuadran I.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Top KIP Dependency (Kuadran III): </a:t>
            </a:r>
            <a:r>
              <a:rPr>
                <a:solidFill>
                  <a:srgbClr val="374151"/>
                </a:solidFill>
              </a:rPr>
              <a:t>PSP Perikanan (56,7%), Pend. Fisika (53,9%), Budidaya Perairan (51,1%), Pend. Ekonomi (49,5%), Pend. Kimia (48,0%).</a:t>
            </a:r>
          </a:p>
          <a:p>
            <a:pPr>
              <a:spcAft>
                <a:spcPts val="2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Lowest KIP (Kuadran I Elite): </a:t>
            </a:r>
            <a:r>
              <a:rPr>
                <a:solidFill>
                  <a:srgbClr val="374151"/>
                </a:solidFill>
              </a:rPr>
              <a:t>Dokter Gigi (1,0%), Dokter (2,4%), Informatika (3,4%), T. Perminyakan (3,9%), Tambang (5,1%).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Profil Demografis Penerima KIP-Kuliah: Sebaran Fakultas, Gender, dan Jalur Masuk</a:t>
            </a:r>
          </a:p>
        </p:txBody>
      </p:sp>
      <p:pic>
        <p:nvPicPr>
          <p:cNvPr id="3" name="Picture 2" descr="22_demografi_fakultas_dan_gender_kip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34214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92440" y="1463040"/>
            <a:ext cx="336499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RINGKASAN DEMOGRAFIS KIP:</a:t>
            </a:r>
          </a:p>
          <a:p>
            <a:pPr>
              <a:spcAft>
                <a:spcPts val="8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1. FKIP Penyerap Utama (39,7%): </a:t>
            </a:r>
            <a:r>
              <a:rPr>
                <a:solidFill>
                  <a:srgbClr val="374151"/>
                </a:solidFill>
              </a:rPr>
              <a:t>FKIP menyerap 651 mahasiswa KIP (hampir 40% kuota seluruh universitas!). Disusul Pertanian (218), FEB (153), FT (152), FPK (133), FISIP (118), FMIPA (70), Keperawatan (63), Hukum (55), FKH (15), FK (10), FKG (1).</a:t>
            </a:r>
          </a:p>
          <a:p>
            <a:pPr>
              <a:spcAft>
                <a:spcPts val="800"/>
              </a:spcAft>
              <a:defRPr sz="1050"/>
            </a:pPr>
            <a:r>
              <a:rPr b="1">
                <a:solidFill>
                  <a:srgbClr val="E65100"/>
                </a:solidFill>
              </a:rPr>
              <a:t>2. Feminisme Pendidikan Tinggi: </a:t>
            </a:r>
            <a:r>
              <a:rPr>
                <a:solidFill>
                  <a:srgbClr val="374151"/>
                </a:solidFill>
              </a:rPr>
              <a:t>Perempuan: 1.268 mhs (77,36%) vs Laki-laki: 371 mhs (22,64%). Rasio 3,4 : 1 membuktikan KIP-Kuliah adalah lokomotif utama mobilitas sosial anak perempuan prasejahtera di Aceh.</a:t>
            </a:r>
          </a:p>
          <a:p>
            <a:pPr>
              <a:spcAft>
                <a:spcPts val="4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3. Distribusi Jalur Masuk: </a:t>
            </a:r>
            <a:r>
              <a:rPr>
                <a:solidFill>
                  <a:srgbClr val="374151"/>
                </a:solidFill>
              </a:rPr>
              <a:t>SNBP (Prestasi Rapor): 893 mhs (54,48%) vs SNBT (Tes UTBK): 746 mhs (45,52%). Penyerapan dini di SNBP memangkas jatah KIP untuk SNBT.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Evaluasi Kinerja 12 Fakultas dan Pemetaan Krisis Akut Dua Segmen Khusus</a:t>
            </a:r>
          </a:p>
        </p:txBody>
      </p:sp>
      <p:pic>
        <p:nvPicPr>
          <p:cNvPr id="3" name="Picture 2" descr="07_analisa_peminatan_dan_keterisian_fakul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28529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92440" y="1463040"/>
            <a:ext cx="336499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ZONASI FAKULTAS &amp; SEGMEN KHUSUS:</a:t>
            </a:r>
          </a:p>
          <a:p>
            <a:pPr>
              <a:spcAft>
                <a:spcPts val="500"/>
              </a:spcAft>
              <a:defRPr sz="1050"/>
            </a:pPr>
            <a:r>
              <a:rPr b="1">
                <a:solidFill>
                  <a:srgbClr val="166534"/>
                </a:solidFill>
              </a:rPr>
              <a:t>Zona Prima (98-100%): </a:t>
            </a:r>
            <a:r>
              <a:rPr>
                <a:solidFill>
                  <a:srgbClr val="374151"/>
                </a:solidFill>
              </a:rPr>
              <a:t>FKG (100%), Fakultas Hukum (99,6%), dan Kedokteran (98,8%). Kursi terisi penuh sempurna.</a:t>
            </a:r>
          </a:p>
          <a:p>
            <a:pPr>
              <a:spcAft>
                <a:spcPts val="5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Zona Sehat (&gt;80%): </a:t>
            </a:r>
            <a:r>
              <a:rPr>
                <a:solidFill>
                  <a:srgbClr val="374151"/>
                </a:solidFill>
              </a:rPr>
              <a:t>FISIP (89,6%), FKH (88,5%), Keperawatan (81,9%), FMIPA (81,9%), FKIP (81,5%), FT (81,4%).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DC2626"/>
                </a:solidFill>
              </a:rPr>
              <a:t>Zona Kritis (&lt;80%): </a:t>
            </a:r>
            <a:r>
              <a:rPr>
                <a:solidFill>
                  <a:srgbClr val="374151"/>
                </a:solidFill>
              </a:rPr>
              <a:t>FEB (77,2%), FPK (62,4%), Fakultas Pertanian (62,1%). Perlu rasionalisasi kuota.</a:t>
            </a:r>
          </a:p>
          <a:p>
            <a:pPr>
              <a:spcAft>
                <a:spcPts val="6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Krisis Vokasi D3 (51,3%): </a:t>
            </a:r>
            <a:r>
              <a:rPr>
                <a:solidFill>
                  <a:srgbClr val="374151"/>
                </a:solidFill>
              </a:rPr>
              <a:t>Dari 665 kuota tersisa 324 kursi kosong. Lulusan terbentur golongan II/c ASN. Solusi: Konversi bertahap ke D4 Sarjana Terapan (Golongan III/a).</a:t>
            </a:r>
          </a:p>
          <a:p>
            <a:pPr>
              <a:spcAft>
                <a:spcPts val="200"/>
              </a:spcAft>
              <a:defRPr sz="1050"/>
            </a:pPr>
            <a:r>
              <a:rPr b="1">
                <a:solidFill>
                  <a:srgbClr val="1B3B6F"/>
                </a:solidFill>
              </a:rPr>
              <a:t>Krisis PSDKU Gayo Lues (18,6%): </a:t>
            </a:r>
            <a:r>
              <a:rPr>
                <a:solidFill>
                  <a:srgbClr val="374151"/>
                </a:solidFill>
              </a:rPr>
              <a:t>Dari 220 kuota hanya terisi 41 mhs (81,4% kosong melompong). Wajib diikat MoU beasiswa Pemkab atau dirampingkan ke 2 prodi lokal.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UNIVERSITAS SYIAH KUALA | RAPAT PIMPINAN PMB</a:t>
            </a:r>
          </a:p>
          <a:p>
            <a:pPr>
              <a:defRPr sz="2100" b="1">
                <a:solidFill>
                  <a:srgbClr val="1B3B6F"/>
                </a:solidFill>
              </a:defRPr>
            </a:pPr>
            <a:r>
              <a:t>5 Rekomendasi Kebijakan Strategis Rektorat &amp; PTN-BH Menuju PMB 2027 yang Efisien &amp; Berkeadilan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066543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200">
                <a:solidFill>
                  <a:srgbClr val="C0392B"/>
                </a:solidFill>
              </a:defRPr>
            </a:pPr>
            <a:r>
              <a:t>AKSI 1:</a:t>
            </a:r>
            <a:br/>
            <a:r>
              <a:t>RASIONALISASI KUOTA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Pangkas Kuadran III: </a:t>
            </a:r>
            <a:r>
              <a:rPr>
                <a:solidFill>
                  <a:srgbClr val="374151"/>
                </a:solidFill>
              </a:rPr>
              <a:t>Kurangi kuota 20%-40% pada: Budidaya Perairan (160-&gt;90), THP (160-&gt;100), Pend. Ekonomi (160-&gt;100), T. Kimia (180-&gt;120), Fisika (80-&gt;50), PSP (120-&gt;75).</a:t>
            </a:r>
          </a:p>
          <a:p>
            <a:pPr>
              <a:spcAft>
                <a:spcPts val="2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Hasil Strategis: </a:t>
            </a:r>
            <a:r>
              <a:rPr>
                <a:solidFill>
                  <a:srgbClr val="374151"/>
                </a:solidFill>
              </a:rPr>
              <a:t>Menghapus ~300 bangku kosong semu tanpa mengurangi mahasiswa riil, mendongkrak Fill Rate institusi.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2" y="1463040"/>
            <a:ext cx="2066543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200">
                <a:solidFill>
                  <a:srgbClr val="E65100"/>
                </a:solidFill>
              </a:defRPr>
            </a:pPr>
            <a:r>
              <a:t>AKSI 2:</a:t>
            </a:r>
            <a:br/>
            <a:r>
              <a:t>UKT PENYELAMAT DESIL 5 &amp; 6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SK Rektor Transisi: </a:t>
            </a:r>
            <a:r>
              <a:rPr>
                <a:solidFill>
                  <a:srgbClr val="374151"/>
                </a:solidFill>
              </a:rPr>
              <a:t>Pelamar KIP SNBT Desil 5-6 yang tidak tertampung kuota APBN otomatis masuk UKT 1 (Rp500rb) atau UKT 2 (Rp1jt) di semester 1.</a:t>
            </a:r>
          </a:p>
          <a:p>
            <a:pPr>
              <a:spcAft>
                <a:spcPts val="2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Hasil Strategis: </a:t>
            </a:r>
            <a:r>
              <a:rPr>
                <a:solidFill>
                  <a:srgbClr val="374151"/>
                </a:solidFill>
              </a:rPr>
              <a:t>Menyelamatkan 300+ calon mahasiswa berprestasi UTBK agar tidak putus kuliah akibat tagihan jutaan rupiah.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1463040"/>
            <a:ext cx="2066543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200">
                <a:solidFill>
                  <a:srgbClr val="1B3B6F"/>
                </a:solidFill>
              </a:defRPr>
            </a:pPr>
            <a:r>
              <a:t>AKSI 3:</a:t>
            </a:r>
            <a:br/>
            <a:r>
              <a:t>SUBSIDI SILANG IPI MANDIRI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KIP Kemitraan PTN-BH: </a:t>
            </a:r>
            <a:r>
              <a:rPr>
                <a:solidFill>
                  <a:srgbClr val="374151"/>
                </a:solidFill>
              </a:rPr>
              <a:t>Alokasikan 5% dari surplus penerimaan IPI Mandiri Kuadran I (~Rp 2,0 Miliar) sebagai beasiswa mandiri USK.</a:t>
            </a:r>
          </a:p>
          <a:p>
            <a:pPr>
              <a:spcAft>
                <a:spcPts val="2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Hasil Strategis: </a:t>
            </a:r>
            <a:r>
              <a:rPr>
                <a:solidFill>
                  <a:srgbClr val="374151"/>
                </a:solidFill>
              </a:rPr>
              <a:t>Mendanai UKT 800+ mahasiswa prasejahtera di prodi Kuadran III penopang ketahanan pangan dan sains.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1463040"/>
            <a:ext cx="2066543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200">
                <a:solidFill>
                  <a:srgbClr val="2980B9"/>
                </a:solidFill>
              </a:defRPr>
            </a:pPr>
            <a:r>
              <a:t>AKSI 4:</a:t>
            </a:r>
            <a:br/>
            <a:r>
              <a:t>CICILAN IPI &amp; KUNCI TALENTA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Sosialisasi Cicilan: </a:t>
            </a:r>
            <a:r>
              <a:rPr>
                <a:solidFill>
                  <a:srgbClr val="374151"/>
                </a:solidFill>
              </a:rPr>
              <a:t>Masifkan prosedur cicilan IPI sejak awal pendaftaran mandiri untuk cegah liquidity shock orang tua.</a:t>
            </a:r>
          </a:p>
          <a:p>
            <a:pPr>
              <a:spcAft>
                <a:spcPts val="2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Kunci TALENTA: </a:t>
            </a:r>
            <a:r>
              <a:rPr>
                <a:solidFill>
                  <a:srgbClr val="374151"/>
                </a:solidFill>
              </a:rPr>
              <a:t>Terapkan uang komitmen registrasi Rp 1 Juta agar tidak dijadikan tiket cadangan gratis menjelang UTBK.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1463040"/>
            <a:ext cx="2066543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200">
                <a:solidFill>
                  <a:srgbClr val="166534"/>
                </a:solidFill>
              </a:defRPr>
            </a:pPr>
            <a:r>
              <a:t>AKSI 5:</a:t>
            </a:r>
            <a:br/>
            <a:r>
              <a:t>SINERGI BAITUL MAL &amp; OTSUS</a:t>
            </a:r>
          </a:p>
          <a:p>
            <a:pPr>
              <a:spcAft>
                <a:spcPts val="6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Advokasi Dana Daerah: </a:t>
            </a:r>
            <a:r>
              <a:rPr>
                <a:solidFill>
                  <a:srgbClr val="374151"/>
                </a:solidFill>
              </a:rPr>
              <a:t>Ajukan daftar 526 calon mahasiswa Desil 5-6 kepada Baitul Mal Aceh &amp; Pemprov sebagai mustahik beasiswa Fisabilillah/Fakir Miskin.</a:t>
            </a:r>
          </a:p>
          <a:p>
            <a:pPr>
              <a:spcAft>
                <a:spcPts val="200"/>
              </a:spcAft>
              <a:defRPr sz="1000"/>
            </a:pPr>
            <a:r>
              <a:rPr b="1">
                <a:solidFill>
                  <a:srgbClr val="1B3B6F"/>
                </a:solidFill>
              </a:rPr>
              <a:t>Hasil Strategis: </a:t>
            </a:r>
            <a:r>
              <a:rPr>
                <a:solidFill>
                  <a:srgbClr val="374151"/>
                </a:solidFill>
              </a:rPr>
              <a:t>Mengintegrasikan dana otonomi daerah dengan misi pengentasan kemiskinan berbasis pendidikan tinggi.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200" b="1">
                <a:solidFill>
                  <a:srgbClr val="E65100"/>
                </a:solidFill>
              </a:defRPr>
            </a:pPr>
            <a:r>
              <a:t>UNIVERSITAS SYIAH KUALA | PESAN KUNCI PIMPINAN</a:t>
            </a:r>
          </a:p>
          <a:p>
            <a:pPr algn="ctr">
              <a:defRPr sz="1650" i="1" b="1">
                <a:solidFill>
                  <a:srgbClr val="FFFFFF"/>
                </a:solidFill>
              </a:defRPr>
            </a:pPr>
            <a:r>
              <a:t>"Tolak ukur keberhasilan PMB PTN-BH bukanlah seberapa besar daya tampung yang kita umumkan di atas kertas, melainkan seberapa presisi kuota tersebut terisi oleh mahasiswa yang nyata, berdaya beli, atau terlindungi beasiswanya hingga lulus tepat waktu."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108960"/>
            <a:ext cx="31546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1B3B6F"/>
                </a:solidFill>
              </a:defRPr>
            </a:pPr>
            <a:r>
              <a:t>1. AUDIT DATA MEMBUKTIKAN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Bukan Masalah Minat: </a:t>
            </a:r>
            <a:r>
              <a:rPr>
                <a:solidFill>
                  <a:srgbClr val="374151"/>
                </a:solidFill>
              </a:rPr>
              <a:t>Kebocoran SNBT adalah masalah keterbatasan kuota beasiswa (pemotongan KIP &amp; cutoff Desil 5-6), bukan ketidakmampuan universitas menarik minat calon mahasiswa berprestasi.</a:t>
            </a:r>
          </a:p>
          <a:p>
            <a:pPr>
              <a:spcAft>
                <a:spcPts val="2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Data Empiris: </a:t>
            </a:r>
            <a:r>
              <a:rPr>
                <a:solidFill>
                  <a:srgbClr val="374151"/>
                </a:solidFill>
              </a:rPr>
              <a:t>Kausalitas 97,6% membuktikan bahwa siswa yang gugur adalah anak prasejahtera yang terhempas ketiadaan beasiswa.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7136" y="3108960"/>
            <a:ext cx="31546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E65100"/>
                </a:solidFill>
              </a:defRPr>
            </a:pPr>
            <a:r>
              <a:t>2. EFISIENSI MENYELAMATKAN AKREDITASI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Menghapus Bangku Semu: </a:t>
            </a:r>
            <a:r>
              <a:rPr>
                <a:solidFill>
                  <a:srgbClr val="374151"/>
                </a:solidFill>
              </a:rPr>
              <a:t>Merasionalkan kuota Kuadran III adalah strategi penyehatan mutu akademik dan efisiensi institusi, bukan bentuk pelemahan prodi atau fakultas.</a:t>
            </a:r>
          </a:p>
          <a:p>
            <a:pPr>
              <a:spcAft>
                <a:spcPts val="2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Optimalisasi Rasio Dosen: </a:t>
            </a:r>
            <a:r>
              <a:rPr>
                <a:solidFill>
                  <a:srgbClr val="374151"/>
                </a:solidFill>
              </a:rPr>
              <a:t>Kapasitas yang pas menjaga rasio dosen-mahasiswa dan instrumen akreditasi unggul internasional.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6992" y="3108960"/>
            <a:ext cx="31546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b="1" sz="1300">
                <a:solidFill>
                  <a:srgbClr val="166534"/>
                </a:solidFill>
              </a:defRPr>
            </a:pPr>
            <a:r>
              <a:t>3. KEBERPIHAKAN SOSIAL PTN-BH</a:t>
            </a:r>
          </a:p>
          <a:p>
            <a:pPr>
              <a:spcAft>
                <a:spcPts val="6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Kemandirian Berkeadilan: </a:t>
            </a:r>
            <a:r>
              <a:rPr>
                <a:solidFill>
                  <a:srgbClr val="374151"/>
                </a:solidFill>
              </a:rPr>
              <a:t>Fleksibilitas finansial PTN-BH harus menjadi berkah bagi mahasiswa prasejahtera melalui subsidi silang IPI mandiri ke program beasiswa universitas.</a:t>
            </a:r>
          </a:p>
          <a:p>
            <a:pPr>
              <a:spcAft>
                <a:spcPts val="200"/>
              </a:spcAft>
              <a:defRPr sz="1100"/>
            </a:pPr>
            <a:r>
              <a:rPr b="1">
                <a:solidFill>
                  <a:srgbClr val="1B3B6F"/>
                </a:solidFill>
              </a:rPr>
              <a:t>Jantong Hate Rakyat Aceh: </a:t>
            </a:r>
            <a:r>
              <a:rPr>
                <a:solidFill>
                  <a:srgbClr val="374151"/>
                </a:solidFill>
              </a:rPr>
              <a:t>Menjaga marwah USK sebagai benteng kesempatan pendidikan tinggi bagi seluruh lapisan masyarakat Aceh.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