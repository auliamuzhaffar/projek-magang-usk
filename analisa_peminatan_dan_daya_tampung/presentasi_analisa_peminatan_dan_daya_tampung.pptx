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65760" cy="6858000"/>
          </a:xfrm>
          <a:prstGeom prst="rect">
            <a:avLst/>
          </a:prstGeom>
          <a:solidFill>
            <a:srgbClr val="1B3B6F"/>
          </a:solidFill>
          <a:ln>
            <a:solidFill>
              <a:srgbClr val="1B3B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45920"/>
            <a:ext cx="10058400" cy="3657600"/>
          </a:xfrm>
          <a:prstGeom prst="rect">
            <a:avLst/>
          </a:prstGeom>
          <a:noFill/>
        </p:spPr>
        <p:txBody>
          <a:bodyPr wrap="square">
            <a:spAutoFit/>
          </a:bodyPr>
          <a:lstStyle/>
          <a:p>
            <a:pPr>
              <a:spcAft>
                <a:spcPts val="1000"/>
              </a:spcAft>
              <a:defRPr sz="1400" b="1">
                <a:solidFill>
                  <a:srgbClr val="E65100"/>
                </a:solidFill>
              </a:defRPr>
            </a:pPr>
            <a:r>
              <a:t>TUGAS 05 - MAGANG (KHUSUS)</a:t>
            </a:r>
          </a:p>
          <a:p>
            <a:pPr>
              <a:spcAft>
                <a:spcPts val="1500"/>
              </a:spcAft>
              <a:defRPr sz="3000" b="1">
                <a:solidFill>
                  <a:srgbClr val="1B3B6F"/>
                </a:solidFill>
              </a:defRPr>
            </a:pPr>
            <a:r>
              <a:t>ANALISA PEMINATAN DAN DAYA TAMPUNG</a:t>
            </a:r>
            <a:br/>
            <a:r>
              <a:t>PROGRAM STUDI UNIVERSITAS SYIAH KUALA</a:t>
            </a:r>
          </a:p>
          <a:p>
            <a:pPr>
              <a:spcAft>
                <a:spcPts val="2500"/>
              </a:spcAft>
              <a:defRPr sz="1400">
                <a:solidFill>
                  <a:srgbClr val="555555"/>
                </a:solidFill>
              </a:defRPr>
            </a:pPr>
            <a:r>
              <a:t>Evaluasi Tren Multi-Tahun (2022–2026), Rasio Keketatan Seleksi, Efisiensi Kapasitas Kuota, dan Kausalitas Lapangan sebagai Bahan Pertimbangan Strategis Penerimaan Mahasiswa Baru Menuju Rasionalisasi Kuota PTN-BH</a:t>
            </a:r>
          </a:p>
          <a:p>
            <a:pPr>
              <a:defRPr sz="1200" i="1">
                <a:solidFill>
                  <a:srgbClr val="787878"/>
                </a:solidFill>
              </a:defRPr>
            </a:pPr>
            <a:r>
              <a:t>Disusun oleh: Tim Magang Universitas Syiah Kuala | Sumber Data Resmi: PMB USK 2022–2026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Ringkasan Eksekutif: Membedah Segitiga Emas PMB USK (2022–2026)</a:t>
            </a:r>
          </a:p>
        </p:txBody>
      </p:sp>
      <p:sp>
        <p:nvSpPr>
          <p:cNvPr id="3" name="Rounded Rectangle 2"/>
          <p:cNvSpPr/>
          <p:nvPr/>
        </p:nvSpPr>
        <p:spPr>
          <a:xfrm>
            <a:off x="731520" y="1645920"/>
            <a:ext cx="3291840" cy="4572000"/>
          </a:xfrm>
          <a:prstGeom prst="roundRect">
            <a:avLst/>
          </a:prstGeom>
          <a:solidFill>
            <a:srgbClr val="FFFFFF"/>
          </a:solidFill>
          <a:ln>
            <a:solidFill>
              <a:srgbClr val="DCDCDC"/>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spcAft>
                <a:spcPts val="1200"/>
              </a:spcAft>
              <a:defRPr b="1" sz="1500">
                <a:solidFill>
                  <a:srgbClr val="1B3B6F"/>
                </a:solidFill>
              </a:defRPr>
            </a:pPr>
            <a:r>
              <a:t>1. PEMINAT vs KUOTA</a:t>
            </a:r>
          </a:p>
          <a:p>
            <a:pPr>
              <a:spcAft>
                <a:spcPts val="1000"/>
              </a:spcAft>
              <a:defRPr sz="1300"/>
            </a:pPr>
            <a:r>
              <a:rPr b="1">
                <a:solidFill>
                  <a:srgbClr val="212121"/>
                </a:solidFill>
              </a:rPr>
              <a:t>Lonjakan Peminat: </a:t>
            </a:r>
            <a:r>
              <a:rPr>
                <a:solidFill>
                  <a:srgbClr val="424242"/>
                </a:solidFill>
              </a:rPr>
              <a:t>Total peminat USK naik dari 48.769 (2022) menjadi 68.010 (2026) setelah sempat menyentuh rekor 70.945 peminat di 2025.</a:t>
            </a:r>
          </a:p>
          <a:p>
            <a:pPr>
              <a:spcAft>
                <a:spcPts val="1000"/>
              </a:spcAft>
              <a:defRPr sz="1300"/>
            </a:pPr>
            <a:r>
              <a:rPr b="1">
                <a:solidFill>
                  <a:srgbClr val="212121"/>
                </a:solidFill>
              </a:rPr>
              <a:t>Ekspansi Kuota: </a:t>
            </a:r>
            <a:r>
              <a:rPr>
                <a:solidFill>
                  <a:srgbClr val="424242"/>
                </a:solidFill>
              </a:rPr>
              <a:t>Daya tampung diperluas agresif pasca PTN-BH sebesar +32,7% (dari 7.863 menjadi 10.435 kursi).</a:t>
            </a:r>
          </a:p>
          <a:p>
            <a:pPr>
              <a:spcAft>
                <a:spcPts val="1000"/>
              </a:spcAft>
              <a:defRPr sz="1300"/>
            </a:pPr>
            <a:r>
              <a:rPr b="1">
                <a:solidFill>
                  <a:srgbClr val="212121"/>
                </a:solidFill>
              </a:rPr>
              <a:t>Disparitas Keketatan: </a:t>
            </a:r>
            <a:r>
              <a:rPr>
                <a:solidFill>
                  <a:srgbClr val="424242"/>
                </a:solidFill>
              </a:rPr>
              <a:t>Farmasi terketat (39:1), sementara Budidaya Perairan peminatnya lebih sedikit dari kursi (0,91:1).</a:t>
            </a:r>
          </a:p>
        </p:txBody>
      </p:sp>
      <p:sp>
        <p:nvSpPr>
          <p:cNvPr id="4" name="Rounded Rectangle 3"/>
          <p:cNvSpPr/>
          <p:nvPr/>
        </p:nvSpPr>
        <p:spPr>
          <a:xfrm>
            <a:off x="4389120" y="1645920"/>
            <a:ext cx="3291840" cy="4572000"/>
          </a:xfrm>
          <a:prstGeom prst="roundRect">
            <a:avLst/>
          </a:prstGeom>
          <a:solidFill>
            <a:srgbClr val="FFFFFF"/>
          </a:solidFill>
          <a:ln>
            <a:solidFill>
              <a:srgbClr val="DCDCDC"/>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spcAft>
                <a:spcPts val="1200"/>
              </a:spcAft>
              <a:defRPr b="1" sz="1500">
                <a:solidFill>
                  <a:srgbClr val="E65100"/>
                </a:solidFill>
              </a:defRPr>
            </a:pPr>
            <a:r>
              <a:t>2. REALISASI &amp; KURSI KOSONG</a:t>
            </a:r>
          </a:p>
          <a:p>
            <a:pPr>
              <a:spcAft>
                <a:spcPts val="1000"/>
              </a:spcAft>
              <a:defRPr sz="1300"/>
            </a:pPr>
            <a:r>
              <a:rPr b="1">
                <a:solidFill>
                  <a:srgbClr val="212121"/>
                </a:solidFill>
              </a:rPr>
              <a:t>Pendaftar Ulang Naik: </a:t>
            </a:r>
            <a:r>
              <a:rPr>
                <a:solidFill>
                  <a:srgbClr val="424242"/>
                </a:solidFill>
              </a:rPr>
              <a:t>Mahasiswa masuk riil tumbuh dari 6.197 (2022) ke 8.440 mhs (2026) dengan keterisian rata-rata 80,9%.</a:t>
            </a:r>
          </a:p>
          <a:p>
            <a:pPr>
              <a:spcAft>
                <a:spcPts val="1000"/>
              </a:spcAft>
              <a:defRPr sz="1300"/>
            </a:pPr>
            <a:r>
              <a:rPr b="1">
                <a:solidFill>
                  <a:srgbClr val="212121"/>
                </a:solidFill>
              </a:rPr>
              <a:t>Beban 2.000 Bangku Kosong: </a:t>
            </a:r>
            <a:r>
              <a:rPr>
                <a:solidFill>
                  <a:srgbClr val="424242"/>
                </a:solidFill>
              </a:rPr>
              <a:t>USK secara persisten menyisakan ~2.000 kursi kosong setiap tahunnya akibat over-ekspansi kuota.</a:t>
            </a:r>
          </a:p>
          <a:p>
            <a:pPr>
              <a:spcAft>
                <a:spcPts val="1000"/>
              </a:spcAft>
              <a:defRPr sz="1300"/>
            </a:pPr>
            <a:r>
              <a:rPr b="1">
                <a:solidFill>
                  <a:srgbClr val="212121"/>
                </a:solidFill>
              </a:rPr>
              <a:t>Pemisahan Segmen: </a:t>
            </a:r>
            <a:r>
              <a:rPr>
                <a:solidFill>
                  <a:srgbClr val="424242"/>
                </a:solidFill>
              </a:rPr>
              <a:t>S1 Utama relatif sehat (84,7%), namun Vokasi D3 terpuruk di 51,3% dan PSDKU Gayo Lues hanya terisi 18,6%.</a:t>
            </a:r>
          </a:p>
        </p:txBody>
      </p:sp>
      <p:sp>
        <p:nvSpPr>
          <p:cNvPr id="5" name="Rounded Rectangle 4"/>
          <p:cNvSpPr/>
          <p:nvPr/>
        </p:nvSpPr>
        <p:spPr>
          <a:xfrm>
            <a:off x="8046720" y="1645920"/>
            <a:ext cx="3291840" cy="4572000"/>
          </a:xfrm>
          <a:prstGeom prst="roundRect">
            <a:avLst/>
          </a:prstGeom>
          <a:solidFill>
            <a:srgbClr val="FFFFFF"/>
          </a:solidFill>
          <a:ln>
            <a:solidFill>
              <a:srgbClr val="DCDCDC"/>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spcAft>
                <a:spcPts val="1200"/>
              </a:spcAft>
              <a:defRPr b="1" sz="1500">
                <a:solidFill>
                  <a:srgbClr val="2E7D32"/>
                </a:solidFill>
              </a:defRPr>
            </a:pPr>
            <a:r>
              <a:t>3. PENYEBAB &amp; SOLUSI</a:t>
            </a:r>
          </a:p>
          <a:p>
            <a:pPr>
              <a:spcAft>
                <a:spcPts val="1000"/>
              </a:spcAft>
              <a:defRPr sz="1300"/>
            </a:pPr>
            <a:r>
              <a:rPr b="1">
                <a:solidFill>
                  <a:srgbClr val="212121"/>
                </a:solidFill>
              </a:rPr>
              <a:t>Mengapa Prodi A Tinggi? </a:t>
            </a:r>
            <a:r>
              <a:rPr>
                <a:solidFill>
                  <a:srgbClr val="424242"/>
                </a:solidFill>
              </a:rPr>
              <a:t>Kepastian kerja ASN/PPPK (PGSD) dan pasar ners luar negeri (Keperawatan) mendorong permintaan tinggi.</a:t>
            </a:r>
          </a:p>
          <a:p>
            <a:pPr>
              <a:spcAft>
                <a:spcPts val="1000"/>
              </a:spcAft>
              <a:defRPr sz="1300"/>
            </a:pPr>
            <a:r>
              <a:rPr b="1">
                <a:solidFill>
                  <a:srgbClr val="212121"/>
                </a:solidFill>
              </a:rPr>
              <a:t>Mengapa Prodi B Rendah? </a:t>
            </a:r>
            <a:r>
              <a:rPr>
                <a:solidFill>
                  <a:srgbClr val="424242"/>
                </a:solidFill>
              </a:rPr>
              <a:t>Persepsi minim karir di daerah (Fisika, Budidaya Perairan) dan kanibalisasi internal Bisnis Digital.</a:t>
            </a:r>
          </a:p>
          <a:p>
            <a:pPr>
              <a:spcAft>
                <a:spcPts val="1000"/>
              </a:spcAft>
              <a:defRPr sz="1300"/>
            </a:pPr>
            <a:r>
              <a:rPr b="1">
                <a:solidFill>
                  <a:srgbClr val="212121"/>
                </a:solidFill>
              </a:rPr>
              <a:t>Kebocoran Mandiri &amp; Talenta: </a:t>
            </a:r>
            <a:r>
              <a:rPr>
                <a:solidFill>
                  <a:srgbClr val="424242"/>
                </a:solidFill>
              </a:rPr>
              <a:t>Biaya IPI puluhan juta di Jalur Mandiri dan tiket cadangan Jalur Talenta menjadi sumber mundurnya 2.300+ calon.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Evaluasi Tren Makro USK 2022–2026: Kapasitas Kuota vs Realisasi Peminat</a:t>
            </a:r>
          </a:p>
        </p:txBody>
      </p:sp>
      <p:pic>
        <p:nvPicPr>
          <p:cNvPr id="3" name="Picture 2" descr="01_tren_makro_peminat_dt_du_usk.png"/>
          <p:cNvPicPr>
            <a:picLocks noChangeAspect="1"/>
          </p:cNvPicPr>
          <p:nvPr/>
        </p:nvPicPr>
        <p:blipFill>
          <a:blip r:embed="rId2"/>
          <a:stretch>
            <a:fillRect/>
          </a:stretch>
        </p:blipFill>
        <p:spPr>
          <a:xfrm>
            <a:off x="731520" y="1463040"/>
            <a:ext cx="7132320" cy="3863340"/>
          </a:xfrm>
          <a:prstGeom prst="rect">
            <a:avLst/>
          </a:prstGeom>
        </p:spPr>
      </p:pic>
      <p:sp>
        <p:nvSpPr>
          <p:cNvPr id="4" name="TextBox 3"/>
          <p:cNvSpPr txBox="1"/>
          <p:nvPr/>
        </p:nvSpPr>
        <p:spPr>
          <a:xfrm>
            <a:off x="8138160" y="1463040"/>
            <a:ext cx="3474720" cy="4754880"/>
          </a:xfrm>
          <a:prstGeom prst="rect">
            <a:avLst/>
          </a:prstGeom>
          <a:noFill/>
        </p:spPr>
        <p:txBody>
          <a:bodyPr wrap="square">
            <a:spAutoFit/>
          </a:bodyPr>
          <a:lstStyle/>
          <a:p>
            <a:pPr>
              <a:spcAft>
                <a:spcPts val="1000"/>
              </a:spcAft>
              <a:defRPr b="1" sz="1400">
                <a:solidFill>
                  <a:srgbClr val="1B3B6F"/>
                </a:solidFill>
              </a:defRPr>
            </a:pPr>
            <a:r>
              <a:t>POKOK TEMUAN MAKRO:</a:t>
            </a:r>
          </a:p>
          <a:p>
            <a:pPr>
              <a:spcAft>
                <a:spcPts val="1000"/>
              </a:spcAft>
              <a:defRPr sz="1300"/>
            </a:pPr>
            <a:r>
              <a:rPr b="1">
                <a:solidFill>
                  <a:srgbClr val="212121"/>
                </a:solidFill>
              </a:rPr>
              <a:t>1. Pertumbuhan Volume: </a:t>
            </a:r>
            <a:r>
              <a:rPr>
                <a:solidFill>
                  <a:srgbClr val="424242"/>
                </a:solidFill>
              </a:rPr>
              <a:t>Total peminat melonjak +39,5% selama 5 tahun. USK semakin diminati pendaftar secara regional dan nasional.</a:t>
            </a:r>
          </a:p>
          <a:p>
            <a:pPr>
              <a:spcAft>
                <a:spcPts val="1000"/>
              </a:spcAft>
              <a:defRPr sz="1300"/>
            </a:pPr>
            <a:r>
              <a:rPr b="1">
                <a:solidFill>
                  <a:srgbClr val="212121"/>
                </a:solidFill>
              </a:rPr>
              <a:t>2. Lonjakan Kuota PTN-BH: </a:t>
            </a:r>
            <a:r>
              <a:rPr>
                <a:solidFill>
                  <a:srgbClr val="424242"/>
                </a:solidFill>
              </a:rPr>
              <a:t>Daya tampung dinaikkan dari 7.863 ke 10.435 kursi (+2.572 bangku) sejak transisi PTN-BH tahun 2024.</a:t>
            </a:r>
          </a:p>
          <a:p>
            <a:pPr>
              <a:spcAft>
                <a:spcPts val="1000"/>
              </a:spcAft>
              <a:defRPr sz="1300"/>
            </a:pPr>
            <a:r>
              <a:rPr b="1">
                <a:solidFill>
                  <a:srgbClr val="212121"/>
                </a:solidFill>
              </a:rPr>
              <a:t>3. Jebakan 2.000 Kursi Kosong: </a:t>
            </a:r>
            <a:r>
              <a:rPr>
                <a:solidFill>
                  <a:srgbClr val="424242"/>
                </a:solidFill>
              </a:rPr>
              <a:t>Meskipun mahasiswa masuk meningkat, USK selalu gagal mengisi 1.995 s.d. 2.481 kursi setiap tahun.</a:t>
            </a:r>
          </a:p>
          <a:p>
            <a:pPr>
              <a:spcAft>
                <a:spcPts val="1000"/>
              </a:spcAft>
              <a:defRPr sz="1300"/>
            </a:pPr>
            <a:r>
              <a:rPr b="1">
                <a:solidFill>
                  <a:srgbClr val="212121"/>
                </a:solidFill>
              </a:rPr>
              <a:t>4. Masalah Distribusi: </a:t>
            </a:r>
            <a:r>
              <a:rPr>
                <a:solidFill>
                  <a:srgbClr val="424242"/>
                </a:solidFill>
              </a:rPr>
              <a:t>Bukan kekurangan peminat, melainkan alokasi kuota berlebihan di prodi yang peminatnya sedikit.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Peta Tingkat Keketatan Seleksi 2026: Prodi Paling Favorit vs Paling Sepi</a:t>
            </a:r>
          </a:p>
        </p:txBody>
      </p:sp>
      <p:pic>
        <p:nvPicPr>
          <p:cNvPr id="3" name="Picture 2" descr="04_rasio_keketatan_peminatan_vs_daya_tampung.png"/>
          <p:cNvPicPr>
            <a:picLocks noChangeAspect="1"/>
          </p:cNvPicPr>
          <p:nvPr/>
        </p:nvPicPr>
        <p:blipFill>
          <a:blip r:embed="rId2"/>
          <a:stretch>
            <a:fillRect/>
          </a:stretch>
        </p:blipFill>
        <p:spPr>
          <a:xfrm>
            <a:off x="731520" y="1463040"/>
            <a:ext cx="7315200" cy="3200400"/>
          </a:xfrm>
          <a:prstGeom prst="rect">
            <a:avLst/>
          </a:prstGeom>
        </p:spPr>
      </p:pic>
      <p:sp>
        <p:nvSpPr>
          <p:cNvPr id="4" name="TextBox 3"/>
          <p:cNvSpPr txBox="1"/>
          <p:nvPr/>
        </p:nvSpPr>
        <p:spPr>
          <a:xfrm>
            <a:off x="8321040" y="1463040"/>
            <a:ext cx="3291840" cy="4754880"/>
          </a:xfrm>
          <a:prstGeom prst="rect">
            <a:avLst/>
          </a:prstGeom>
          <a:noFill/>
        </p:spPr>
        <p:txBody>
          <a:bodyPr wrap="square">
            <a:spAutoFit/>
          </a:bodyPr>
          <a:lstStyle/>
          <a:p>
            <a:pPr>
              <a:spcAft>
                <a:spcPts val="1000"/>
              </a:spcAft>
              <a:defRPr b="1" sz="1400">
                <a:solidFill>
                  <a:srgbClr val="1B3B6F"/>
                </a:solidFill>
              </a:defRPr>
            </a:pPr>
            <a:r>
              <a:t>FAKTA KEKETATAN SELEKSI:</a:t>
            </a:r>
          </a:p>
          <a:p>
            <a:pPr>
              <a:spcAft>
                <a:spcPts val="1000"/>
              </a:spcAft>
              <a:defRPr sz="1300"/>
            </a:pPr>
            <a:r>
              <a:rPr b="1">
                <a:solidFill>
                  <a:srgbClr val="212121"/>
                </a:solidFill>
              </a:rPr>
              <a:t>Top Favorit (Persaingan Sengit): </a:t>
            </a:r>
            <a:r>
              <a:rPr>
                <a:solidFill>
                  <a:srgbClr val="424242"/>
                </a:solidFill>
              </a:rPr>
              <a:t>Farmasi memimpin (39,2:1), Akuntansi Perpajakan D4 (22,4:1), Informatika (18,1:1), Psikologi (17,3:1), dan T. Perminyakan (15,5:1).</a:t>
            </a:r>
          </a:p>
          <a:p>
            <a:pPr>
              <a:spcAft>
                <a:spcPts val="1000"/>
              </a:spcAft>
              <a:defRPr sz="1300"/>
            </a:pPr>
            <a:r>
              <a:rPr b="1">
                <a:solidFill>
                  <a:srgbClr val="212121"/>
                </a:solidFill>
              </a:rPr>
              <a:t>Anomali Kritis (Peminat &lt; Kuota): </a:t>
            </a:r>
            <a:r>
              <a:rPr>
                <a:solidFill>
                  <a:srgbClr val="424242"/>
                </a:solidFill>
              </a:rPr>
              <a:t>Budidaya Perairan hanya memiliki rasio 0,91:1 (peminat 145 orang vs kuota 160 kursi). Secara matematis kuota mustahil terisi.</a:t>
            </a:r>
          </a:p>
          <a:p>
            <a:pPr>
              <a:spcAft>
                <a:spcPts val="1000"/>
              </a:spcAft>
              <a:defRPr sz="1300"/>
            </a:pPr>
            <a:r>
              <a:rPr b="1">
                <a:solidFill>
                  <a:srgbClr val="212121"/>
                </a:solidFill>
              </a:rPr>
              <a:t>Prodi Rawan Sepi (&lt;1,5:1): </a:t>
            </a:r>
            <a:r>
              <a:rPr>
                <a:solidFill>
                  <a:srgbClr val="424242"/>
                </a:solidFill>
              </a:rPr>
              <a:t>PSP Perikanan (1,07:1), Fisika (1,18:1), Pendidikan Fisika (1,29:1), dan Proteksi Tanaman (1,31:1).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Matriks 4 Kuadran Portofolio Strategis Program Studi S1 USK (2026)</a:t>
            </a:r>
          </a:p>
        </p:txBody>
      </p:sp>
      <p:pic>
        <p:nvPicPr>
          <p:cNvPr id="3" name="Picture 2" descr="10_matriks_4_kuadran_prodi_usk.png"/>
          <p:cNvPicPr>
            <a:picLocks noChangeAspect="1"/>
          </p:cNvPicPr>
          <p:nvPr/>
        </p:nvPicPr>
        <p:blipFill>
          <a:blip r:embed="rId2"/>
          <a:stretch>
            <a:fillRect/>
          </a:stretch>
        </p:blipFill>
        <p:spPr>
          <a:xfrm>
            <a:off x="731520" y="1371600"/>
            <a:ext cx="7589520" cy="4806696"/>
          </a:xfrm>
          <a:prstGeom prst="rect">
            <a:avLst/>
          </a:prstGeom>
        </p:spPr>
      </p:pic>
      <p:sp>
        <p:nvSpPr>
          <p:cNvPr id="4" name="TextBox 3"/>
          <p:cNvSpPr txBox="1"/>
          <p:nvPr/>
        </p:nvSpPr>
        <p:spPr>
          <a:xfrm>
            <a:off x="8503920" y="1371600"/>
            <a:ext cx="3108960" cy="4937760"/>
          </a:xfrm>
          <a:prstGeom prst="rect">
            <a:avLst/>
          </a:prstGeom>
          <a:noFill/>
        </p:spPr>
        <p:txBody>
          <a:bodyPr wrap="square">
            <a:spAutoFit/>
          </a:bodyPr>
          <a:lstStyle/>
          <a:p>
            <a:pPr>
              <a:spcAft>
                <a:spcPts val="800"/>
              </a:spcAft>
              <a:defRPr b="1" sz="1350">
                <a:solidFill>
                  <a:srgbClr val="1B3B6F"/>
                </a:solidFill>
              </a:defRPr>
            </a:pPr>
            <a:r>
              <a:t>PANDUAN KEPUTUSAN PIMPINAN:</a:t>
            </a:r>
          </a:p>
          <a:p>
            <a:pPr>
              <a:spcAft>
                <a:spcPts val="600"/>
              </a:spcAft>
              <a:defRPr sz="1100"/>
            </a:pPr>
            <a:r>
              <a:rPr b="1">
                <a:solidFill>
                  <a:srgbClr val="212121"/>
                </a:solidFill>
              </a:rPr>
              <a:t>Kuadran I (Prima): </a:t>
            </a:r>
            <a:r>
              <a:rPr>
                <a:solidFill>
                  <a:srgbClr val="424242"/>
                </a:solidFill>
              </a:rPr>
              <a:t>Peminat tinggi &amp; kursi penuh (Farmasi, Informatika, PGSD, Kedokteran, Hukum). Boleh ekspansi kuota &amp; kelas internasional.</a:t>
            </a:r>
          </a:p>
          <a:p>
            <a:pPr>
              <a:spcAft>
                <a:spcPts val="600"/>
              </a:spcAft>
              <a:defRPr sz="1100"/>
            </a:pPr>
            <a:r>
              <a:rPr b="1">
                <a:solidFill>
                  <a:srgbClr val="212121"/>
                </a:solidFill>
              </a:rPr>
              <a:t>Kuadran II (Stabil): </a:t>
            </a:r>
            <a:r>
              <a:rPr>
                <a:solidFill>
                  <a:srgbClr val="424242"/>
                </a:solidFill>
              </a:rPr>
              <a:t>Peminat sedang tapi kursi terisi penuh (Arsitektur, T. Mesin, Pend. Bhs Indo). Jaga kuota tetap stabil.</a:t>
            </a:r>
          </a:p>
          <a:p>
            <a:pPr>
              <a:spcAft>
                <a:spcPts val="600"/>
              </a:spcAft>
              <a:defRPr sz="1100"/>
            </a:pPr>
            <a:r>
              <a:rPr b="1">
                <a:solidFill>
                  <a:srgbClr val="212121"/>
                </a:solidFill>
              </a:rPr>
              <a:t>Kuadran III (Kritis): </a:t>
            </a:r>
            <a:r>
              <a:rPr>
                <a:solidFill>
                  <a:srgbClr val="424242"/>
                </a:solidFill>
              </a:rPr>
              <a:t>Peminat sepi &amp; kursi banyak bolong (Budidaya Perairan, Fisika, PSP, Proteksi Tanaman, THP). WAJIB PANGKAS KUOTA 20-40%!</a:t>
            </a:r>
          </a:p>
          <a:p>
            <a:pPr>
              <a:spcAft>
                <a:spcPts val="600"/>
              </a:spcAft>
              <a:defRPr sz="1100"/>
            </a:pPr>
            <a:r>
              <a:rPr b="1">
                <a:solidFill>
                  <a:srgbClr val="212121"/>
                </a:solidFill>
              </a:rPr>
              <a:t>Kuadran IV (Dilema): </a:t>
            </a:r>
            <a:r>
              <a:rPr>
                <a:solidFill>
                  <a:srgbClr val="424242"/>
                </a:solidFill>
              </a:rPr>
              <a:t>Peminat tinggi tapi keterisian bocor (Manajemen FEB, Eko. Pembangunan). Perbaiki konversi &amp; skema cicilan IPI.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Bintang Pertumbuhan: Program Studi S1 dengan Laju Peningkatan Tertinggi</a:t>
            </a:r>
          </a:p>
        </p:txBody>
      </p:sp>
      <p:pic>
        <p:nvPicPr>
          <p:cNvPr id="3" name="Picture 2" descr="02_top_tren_peningkatan_pendaftar_dan_peminat.png"/>
          <p:cNvPicPr>
            <a:picLocks noChangeAspect="1"/>
          </p:cNvPicPr>
          <p:nvPr/>
        </p:nvPicPr>
        <p:blipFill>
          <a:blip r:embed="rId2"/>
          <a:stretch>
            <a:fillRect/>
          </a:stretch>
        </p:blipFill>
        <p:spPr>
          <a:xfrm>
            <a:off x="731520" y="1463040"/>
            <a:ext cx="7315200" cy="3938954"/>
          </a:xfrm>
          <a:prstGeom prst="rect">
            <a:avLst/>
          </a:prstGeom>
        </p:spPr>
      </p:pic>
      <p:sp>
        <p:nvSpPr>
          <p:cNvPr id="4" name="TextBox 3"/>
          <p:cNvSpPr txBox="1"/>
          <p:nvPr/>
        </p:nvSpPr>
        <p:spPr>
          <a:xfrm>
            <a:off x="8321040" y="1463040"/>
            <a:ext cx="3291840" cy="4754880"/>
          </a:xfrm>
          <a:prstGeom prst="rect">
            <a:avLst/>
          </a:prstGeom>
          <a:noFill/>
        </p:spPr>
        <p:txBody>
          <a:bodyPr wrap="square">
            <a:spAutoFit/>
          </a:bodyPr>
          <a:lstStyle/>
          <a:p>
            <a:pPr>
              <a:spcAft>
                <a:spcPts val="1000"/>
              </a:spcAft>
              <a:defRPr b="1" sz="1400">
                <a:solidFill>
                  <a:srgbClr val="2E7D32"/>
                </a:solidFill>
              </a:defRPr>
            </a:pPr>
            <a:r>
              <a:t>ANALISIS TREN TUMBUH:</a:t>
            </a:r>
          </a:p>
          <a:p>
            <a:pPr>
              <a:spcAft>
                <a:spcPts val="1000"/>
              </a:spcAft>
              <a:defRPr sz="1300"/>
            </a:pPr>
            <a:r>
              <a:rPr b="1">
                <a:solidFill>
                  <a:srgbClr val="212121"/>
                </a:solidFill>
              </a:rPr>
              <a:t>1. Ilmu Keperawatan: </a:t>
            </a:r>
            <a:r>
              <a:rPr>
                <a:solidFill>
                  <a:srgbClr val="424242"/>
                </a:solidFill>
              </a:rPr>
              <a:t>Slope +38,4 mhs/thn (CAGR +23,5%). Melonjak dari 127 ke 295 mhs. Permintaan lulusan ners internasional ke Jepang &amp; Jerman sangat kuat.</a:t>
            </a:r>
          </a:p>
          <a:p>
            <a:pPr>
              <a:spcAft>
                <a:spcPts val="1000"/>
              </a:spcAft>
              <a:defRPr sz="1300"/>
            </a:pPr>
            <a:r>
              <a:rPr b="1">
                <a:solidFill>
                  <a:srgbClr val="212121"/>
                </a:solidFill>
              </a:rPr>
              <a:t>2. PGSD (FKIP): </a:t>
            </a:r>
            <a:r>
              <a:rPr>
                <a:solidFill>
                  <a:srgbClr val="424242"/>
                </a:solidFill>
              </a:rPr>
              <a:t>Slope +27,4 mhs/thn (CAGR +19,9%). Rekor 4 tahun berturut-turut selalu naik (105 ke 217 mhs) berkat kepastian formasi PPPK Guru.</a:t>
            </a:r>
          </a:p>
          <a:p>
            <a:pPr>
              <a:spcAft>
                <a:spcPts val="1000"/>
              </a:spcAft>
              <a:defRPr sz="1300"/>
            </a:pPr>
            <a:r>
              <a:rPr b="1">
                <a:solidFill>
                  <a:srgbClr val="212121"/>
                </a:solidFill>
              </a:rPr>
              <a:t>3. Teknik Sipil &amp; Komputer: </a:t>
            </a:r>
            <a:r>
              <a:rPr>
                <a:solidFill>
                  <a:srgbClr val="424242"/>
                </a:solidFill>
              </a:rPr>
              <a:t>Masing-masing tumbuh konsisten (Sipil +23 mhs/thn, Komputer +14,8 mhs/thn) sejalan dengan digitalisasi dan infrastruktur.</a:t>
            </a:r>
          </a:p>
          <a:p>
            <a:pPr>
              <a:spcAft>
                <a:spcPts val="1000"/>
              </a:spcAft>
              <a:defRPr sz="1300"/>
            </a:pPr>
            <a:r>
              <a:rPr b="1">
                <a:solidFill>
                  <a:srgbClr val="212121"/>
                </a:solidFill>
              </a:rPr>
              <a:t>4. Kehutanan: </a:t>
            </a:r>
            <a:r>
              <a:rPr>
                <a:solidFill>
                  <a:srgbClr val="424242"/>
                </a:solidFill>
              </a:rPr>
              <a:t>Tumbuh konsisten 4 tahun beruntun (+14,9% CAGR) berkat tren isu lingkungan dan sertifikasi karbon.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Sinyal Waspada: Program Studi yang Mengalami Penurunan Berkelanjutan</a:t>
            </a:r>
          </a:p>
        </p:txBody>
      </p:sp>
      <p:pic>
        <p:nvPicPr>
          <p:cNvPr id="3" name="Picture 2" descr="03_top_tren_penurunan_pendaftar_dan_peminat.png"/>
          <p:cNvPicPr>
            <a:picLocks noChangeAspect="1"/>
          </p:cNvPicPr>
          <p:nvPr/>
        </p:nvPicPr>
        <p:blipFill>
          <a:blip r:embed="rId2"/>
          <a:stretch>
            <a:fillRect/>
          </a:stretch>
        </p:blipFill>
        <p:spPr>
          <a:xfrm>
            <a:off x="731520" y="1463040"/>
            <a:ext cx="7315200" cy="3938954"/>
          </a:xfrm>
          <a:prstGeom prst="rect">
            <a:avLst/>
          </a:prstGeom>
        </p:spPr>
      </p:pic>
      <p:sp>
        <p:nvSpPr>
          <p:cNvPr id="4" name="TextBox 3"/>
          <p:cNvSpPr txBox="1"/>
          <p:nvPr/>
        </p:nvSpPr>
        <p:spPr>
          <a:xfrm>
            <a:off x="8321040" y="1463040"/>
            <a:ext cx="3291840" cy="4754880"/>
          </a:xfrm>
          <a:prstGeom prst="rect">
            <a:avLst/>
          </a:prstGeom>
          <a:noFill/>
        </p:spPr>
        <p:txBody>
          <a:bodyPr wrap="square">
            <a:spAutoFit/>
          </a:bodyPr>
          <a:lstStyle/>
          <a:p>
            <a:pPr>
              <a:spcAft>
                <a:spcPts val="1000"/>
              </a:spcAft>
              <a:defRPr b="1" sz="1400">
                <a:solidFill>
                  <a:srgbClr val="C0392B"/>
                </a:solidFill>
              </a:defRPr>
            </a:pPr>
            <a:r>
              <a:t>ANALISIS KONTRAKSI PRODI:</a:t>
            </a:r>
          </a:p>
          <a:p>
            <a:pPr>
              <a:spcAft>
                <a:spcPts val="1000"/>
              </a:spcAft>
              <a:defRPr sz="1300"/>
            </a:pPr>
            <a:r>
              <a:rPr b="1">
                <a:solidFill>
                  <a:srgbClr val="212121"/>
                </a:solidFill>
              </a:rPr>
              <a:t>1. Tiga Serangkai FEB Tertekan: </a:t>
            </a:r>
            <a:r>
              <a:rPr>
                <a:solidFill>
                  <a:srgbClr val="424242"/>
                </a:solidFill>
              </a:rPr>
              <a:t>Manajemen (Slope -16,4 mhs/thn), Ekonomi Islam (-10,3 mhs/thn), dan Ekonomi Pembangunan (-7,7 mhs/thn) mengalami penurunan 3 tahun berturut-turut.</a:t>
            </a:r>
          </a:p>
          <a:p>
            <a:pPr>
              <a:spcAft>
                <a:spcPts val="1000"/>
              </a:spcAft>
              <a:defRPr sz="1300"/>
            </a:pPr>
            <a:r>
              <a:rPr b="1">
                <a:solidFill>
                  <a:srgbClr val="212121"/>
                </a:solidFill>
              </a:rPr>
              <a:t>2. Faktor Kanibalisasi Internal: </a:t>
            </a:r>
            <a:r>
              <a:rPr>
                <a:solidFill>
                  <a:srgbClr val="424242"/>
                </a:solidFill>
              </a:rPr>
              <a:t>Lahirnya prodi baru S1 Bisnis Digital di FEB menyedot langsung calon mahasiswa Manajemen.</a:t>
            </a:r>
          </a:p>
          <a:p>
            <a:pPr>
              <a:spcAft>
                <a:spcPts val="1000"/>
              </a:spcAft>
              <a:defRPr sz="1300"/>
            </a:pPr>
            <a:r>
              <a:rPr b="1">
                <a:solidFill>
                  <a:srgbClr val="212121"/>
                </a:solidFill>
              </a:rPr>
              <a:t>3. Sains Murni (Matematika &amp; Fisika): </a:t>
            </a:r>
            <a:r>
              <a:rPr>
                <a:solidFill>
                  <a:srgbClr val="424242"/>
                </a:solidFill>
              </a:rPr>
              <a:t>Matematika turun -2,9 mhs/thn (CAGR -4,4%). Generasi muda menghindari sains murni karena persepsi minimnya formasi kerja kantoran.</a:t>
            </a:r>
          </a:p>
          <a:p>
            <a:pPr>
              <a:spcAft>
                <a:spcPts val="1000"/>
              </a:spcAft>
              <a:defRPr sz="1300"/>
            </a:pPr>
            <a:r>
              <a:rPr b="1">
                <a:solidFill>
                  <a:srgbClr val="212121"/>
                </a:solidFill>
              </a:rPr>
              <a:t>4. Pemanfaatan Sumberdaya Perikanan: </a:t>
            </a:r>
            <a:r>
              <a:rPr>
                <a:solidFill>
                  <a:srgbClr val="424242"/>
                </a:solidFill>
              </a:rPr>
              <a:t>Turun konsisten dari 80 ke 67 mhs.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Fenomena Over-Ekspansi Kuota: Tambah Kuota Tidak Menambah Mahasiswa</a:t>
            </a:r>
          </a:p>
        </p:txBody>
      </p:sp>
      <p:pic>
        <p:nvPicPr>
          <p:cNvPr id="3" name="Picture 2" descr="05_over_ekspansi_kuota_vs_daftar_ulang_riil.png"/>
          <p:cNvPicPr>
            <a:picLocks noChangeAspect="1"/>
          </p:cNvPicPr>
          <p:nvPr/>
        </p:nvPicPr>
        <p:blipFill>
          <a:blip r:embed="rId2"/>
          <a:stretch>
            <a:fillRect/>
          </a:stretch>
        </p:blipFill>
        <p:spPr>
          <a:xfrm>
            <a:off x="731520" y="1463040"/>
            <a:ext cx="7315200" cy="4876800"/>
          </a:xfrm>
          <a:prstGeom prst="rect">
            <a:avLst/>
          </a:prstGeom>
        </p:spPr>
      </p:pic>
      <p:sp>
        <p:nvSpPr>
          <p:cNvPr id="4" name="TextBox 3"/>
          <p:cNvSpPr txBox="1"/>
          <p:nvPr/>
        </p:nvSpPr>
        <p:spPr>
          <a:xfrm>
            <a:off x="8321040" y="1463040"/>
            <a:ext cx="3291840" cy="4754880"/>
          </a:xfrm>
          <a:prstGeom prst="rect">
            <a:avLst/>
          </a:prstGeom>
          <a:noFill/>
        </p:spPr>
        <p:txBody>
          <a:bodyPr wrap="square">
            <a:spAutoFit/>
          </a:bodyPr>
          <a:lstStyle/>
          <a:p>
            <a:pPr>
              <a:spcAft>
                <a:spcPts val="1000"/>
              </a:spcAft>
              <a:defRPr b="1" sz="1400">
                <a:solidFill>
                  <a:srgbClr val="1B3B6F"/>
                </a:solidFill>
              </a:defRPr>
            </a:pPr>
            <a:r>
              <a:t>BUKTI OVER-EKSPANSI:</a:t>
            </a:r>
          </a:p>
          <a:p>
            <a:pPr>
              <a:spcAft>
                <a:spcPts val="1000"/>
              </a:spcAft>
              <a:defRPr sz="1300"/>
            </a:pPr>
            <a:r>
              <a:rPr b="1">
                <a:solidFill>
                  <a:srgbClr val="212121"/>
                </a:solidFill>
              </a:rPr>
              <a:t>Budidaya Perairan: </a:t>
            </a:r>
            <a:r>
              <a:rPr>
                <a:solidFill>
                  <a:srgbClr val="424242"/>
                </a:solidFill>
              </a:rPr>
              <a:t>Kuota dibuka 160 kursi, tapi mahasiswa daftar ulang selalu stagnan di angka 90 mhs -&gt; 70 Kursi Kosong!</a:t>
            </a:r>
          </a:p>
          <a:p>
            <a:pPr>
              <a:spcAft>
                <a:spcPts val="1000"/>
              </a:spcAft>
              <a:defRPr sz="1300"/>
            </a:pPr>
            <a:r>
              <a:rPr b="1">
                <a:solidFill>
                  <a:srgbClr val="212121"/>
                </a:solidFill>
              </a:rPr>
              <a:t>Teknologi Hasil Pertanian: </a:t>
            </a:r>
            <a:r>
              <a:rPr>
                <a:solidFill>
                  <a:srgbClr val="424242"/>
                </a:solidFill>
              </a:rPr>
              <a:t>Kuota dinaikkan 2x lipat (80 ke 160 kursi), pendaftar ulang hanya 102 mhs -&gt; 58 Kursi Kosong!</a:t>
            </a:r>
          </a:p>
          <a:p>
            <a:pPr>
              <a:spcAft>
                <a:spcPts val="1000"/>
              </a:spcAft>
              <a:defRPr sz="1300"/>
            </a:pPr>
            <a:r>
              <a:rPr b="1">
                <a:solidFill>
                  <a:srgbClr val="212121"/>
                </a:solidFill>
              </a:rPr>
              <a:t>Pendidikan Ekonomi: </a:t>
            </a:r>
            <a:r>
              <a:rPr>
                <a:solidFill>
                  <a:srgbClr val="424242"/>
                </a:solidFill>
              </a:rPr>
              <a:t>Kuota dinaikkan ke 160 kursi, pendaftar ulang hanya 103 mhs -&gt; 57 Kursi Kosong!</a:t>
            </a:r>
          </a:p>
          <a:p>
            <a:pPr>
              <a:spcAft>
                <a:spcPts val="1000"/>
              </a:spcAft>
              <a:defRPr sz="1300"/>
            </a:pPr>
            <a:r>
              <a:rPr b="1">
                <a:solidFill>
                  <a:srgbClr val="212121"/>
                </a:solidFill>
              </a:rPr>
              <a:t>Teknik Kimia: </a:t>
            </a:r>
            <a:r>
              <a:rPr>
                <a:solidFill>
                  <a:srgbClr val="424242"/>
                </a:solidFill>
              </a:rPr>
              <a:t>Kuota dinaikkan ke 180 kursi, pendaftar ulang hanya 120 mhs -&gt; 60 Kursi Kosong!</a:t>
            </a:r>
          </a:p>
          <a:p>
            <a:pPr>
              <a:spcAft>
                <a:spcPts val="1000"/>
              </a:spcAft>
              <a:defRPr sz="1300"/>
            </a:pPr>
            <a:r>
              <a:rPr b="1">
                <a:solidFill>
                  <a:srgbClr val="212121"/>
                </a:solidFill>
              </a:rPr>
              <a:t>Rekomendasi Kebijakan: </a:t>
            </a:r>
            <a:r>
              <a:rPr>
                <a:solidFill>
                  <a:srgbClr val="424242"/>
                </a:solidFill>
              </a:rPr>
              <a:t>Pangkas kuota ke angka riil 90–120 untuk menghapus ~245 kursi kosong semu.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Dinamika Jalur Masuk &amp; Titik Kebocoran Calon Mahasiswa (2026)</a:t>
            </a:r>
          </a:p>
        </p:txBody>
      </p:sp>
      <p:pic>
        <p:nvPicPr>
          <p:cNvPr id="3" name="Picture 2" descr="06_dinamika_jalur_masuk_dan_kebocoran_2026.png"/>
          <p:cNvPicPr>
            <a:picLocks noChangeAspect="1"/>
          </p:cNvPicPr>
          <p:nvPr/>
        </p:nvPicPr>
        <p:blipFill>
          <a:blip r:embed="rId2"/>
          <a:stretch>
            <a:fillRect/>
          </a:stretch>
        </p:blipFill>
        <p:spPr>
          <a:xfrm>
            <a:off x="731520" y="1463040"/>
            <a:ext cx="7498079" cy="3046095"/>
          </a:xfrm>
          <a:prstGeom prst="rect">
            <a:avLst/>
          </a:prstGeom>
        </p:spPr>
      </p:pic>
      <p:sp>
        <p:nvSpPr>
          <p:cNvPr id="4" name="TextBox 3"/>
          <p:cNvSpPr txBox="1"/>
          <p:nvPr/>
        </p:nvSpPr>
        <p:spPr>
          <a:xfrm>
            <a:off x="8412480" y="1463040"/>
            <a:ext cx="3200400" cy="4754880"/>
          </a:xfrm>
          <a:prstGeom prst="rect">
            <a:avLst/>
          </a:prstGeom>
          <a:noFill/>
        </p:spPr>
        <p:txBody>
          <a:bodyPr wrap="square">
            <a:spAutoFit/>
          </a:bodyPr>
          <a:lstStyle/>
          <a:p>
            <a:pPr>
              <a:spcAft>
                <a:spcPts val="1000"/>
              </a:spcAft>
              <a:defRPr b="1" sz="1400">
                <a:solidFill>
                  <a:srgbClr val="1B3B6F"/>
                </a:solidFill>
              </a:defRPr>
            </a:pPr>
            <a:r>
              <a:t>KONTRIBUSI &amp; KEBOCORAN:</a:t>
            </a:r>
          </a:p>
          <a:p>
            <a:pPr>
              <a:spcAft>
                <a:spcPts val="1000"/>
              </a:spcAft>
              <a:defRPr sz="1300"/>
            </a:pPr>
            <a:r>
              <a:rPr b="1">
                <a:solidFill>
                  <a:srgbClr val="212121"/>
                </a:solidFill>
              </a:rPr>
              <a:t>SNBT (38,9%): </a:t>
            </a:r>
            <a:r>
              <a:rPr>
                <a:solidFill>
                  <a:srgbClr val="424242"/>
                </a:solidFill>
              </a:rPr>
              <a:t>Kontributor terbesar (3.260 mhs). Bocor 626 calon karena diterima di kedinasan/PTN Jawa.</a:t>
            </a:r>
          </a:p>
          <a:p>
            <a:pPr>
              <a:spcAft>
                <a:spcPts val="1000"/>
              </a:spcAft>
              <a:defRPr sz="1300"/>
            </a:pPr>
            <a:r>
              <a:rPr b="1">
                <a:solidFill>
                  <a:srgbClr val="212121"/>
                </a:solidFill>
              </a:rPr>
              <a:t>SNBP (32,9%): </a:t>
            </a:r>
            <a:r>
              <a:rPr>
                <a:solidFill>
                  <a:srgbClr val="424242"/>
                </a:solidFill>
              </a:rPr>
              <a:t>Jalur paling loyal (2.754 mhs). Yield 94,8%, hanya 151 orang gugur berkat sanksi blacklist nasional.</a:t>
            </a:r>
          </a:p>
          <a:p>
            <a:pPr>
              <a:spcAft>
                <a:spcPts val="1000"/>
              </a:spcAft>
              <a:defRPr sz="1300"/>
            </a:pPr>
            <a:r>
              <a:rPr b="1">
                <a:solidFill>
                  <a:srgbClr val="212121"/>
                </a:solidFill>
              </a:rPr>
              <a:t>SMMPTN Mandiri (21,6%): </a:t>
            </a:r>
            <a:r>
              <a:rPr>
                <a:solidFill>
                  <a:srgbClr val="424242"/>
                </a:solidFill>
              </a:rPr>
              <a:t>1.814 mhs masuk, tapi 604 orang (25%) gugur akibat shock tagihan IPI belasan juta dalam tempo 5 hari.</a:t>
            </a:r>
          </a:p>
          <a:p>
            <a:pPr>
              <a:spcAft>
                <a:spcPts val="1000"/>
              </a:spcAft>
              <a:defRPr sz="1300"/>
            </a:pPr>
            <a:r>
              <a:rPr b="1">
                <a:solidFill>
                  <a:srgbClr val="212121"/>
                </a:solidFill>
              </a:rPr>
              <a:t>TALENTA (Bocor Terparah): </a:t>
            </a:r>
            <a:r>
              <a:rPr>
                <a:solidFill>
                  <a:srgbClr val="424242"/>
                </a:solidFill>
              </a:rPr>
              <a:t>930 calon gugur (Yield hanya 24,9%). 3 dari 4 orang menjadikan USK cadangan gratis.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Evaluasi Kinerja 12 Fakultas: Keterisian Kuota 2022 vs 2026</a:t>
            </a:r>
          </a:p>
        </p:txBody>
      </p:sp>
      <p:pic>
        <p:nvPicPr>
          <p:cNvPr id="3" name="Picture 2" descr="07_analisa_peminatan_dan_keterisian_fakultas.png"/>
          <p:cNvPicPr>
            <a:picLocks noChangeAspect="1"/>
          </p:cNvPicPr>
          <p:nvPr/>
        </p:nvPicPr>
        <p:blipFill>
          <a:blip r:embed="rId2"/>
          <a:stretch>
            <a:fillRect/>
          </a:stretch>
        </p:blipFill>
        <p:spPr>
          <a:xfrm>
            <a:off x="731520" y="1463040"/>
            <a:ext cx="7132320" cy="4160520"/>
          </a:xfrm>
          <a:prstGeom prst="rect">
            <a:avLst/>
          </a:prstGeom>
        </p:spPr>
      </p:pic>
      <p:sp>
        <p:nvSpPr>
          <p:cNvPr id="4" name="TextBox 3"/>
          <p:cNvSpPr txBox="1"/>
          <p:nvPr/>
        </p:nvSpPr>
        <p:spPr>
          <a:xfrm>
            <a:off x="8138160" y="1463040"/>
            <a:ext cx="3474720" cy="4754880"/>
          </a:xfrm>
          <a:prstGeom prst="rect">
            <a:avLst/>
          </a:prstGeom>
          <a:noFill/>
        </p:spPr>
        <p:txBody>
          <a:bodyPr wrap="square">
            <a:spAutoFit/>
          </a:bodyPr>
          <a:lstStyle/>
          <a:p>
            <a:pPr>
              <a:spcAft>
                <a:spcPts val="1000"/>
              </a:spcAft>
              <a:defRPr b="1" sz="1400">
                <a:solidFill>
                  <a:srgbClr val="1B3B6F"/>
                </a:solidFill>
              </a:defRPr>
            </a:pPr>
            <a:r>
              <a:t>ZONASI KINERJA FAKULTAS:</a:t>
            </a:r>
          </a:p>
          <a:p>
            <a:pPr>
              <a:spcAft>
                <a:spcPts val="1000"/>
              </a:spcAft>
              <a:defRPr sz="1300"/>
            </a:pPr>
            <a:r>
              <a:rPr b="1">
                <a:solidFill>
                  <a:srgbClr val="212121"/>
                </a:solidFill>
              </a:rPr>
              <a:t>Zona Prima (98-100%): </a:t>
            </a:r>
            <a:r>
              <a:rPr>
                <a:solidFill>
                  <a:srgbClr val="424242"/>
                </a:solidFill>
              </a:rPr>
              <a:t>FKG (100%), Fakultas Hukum (99,6%), dan Fakultas Kedokteran (98,8%). Kursi selalu terisi penuh sempurna.</a:t>
            </a:r>
          </a:p>
          <a:p>
            <a:pPr>
              <a:spcAft>
                <a:spcPts val="1000"/>
              </a:spcAft>
              <a:defRPr sz="1300"/>
            </a:pPr>
            <a:r>
              <a:rPr b="1">
                <a:solidFill>
                  <a:srgbClr val="212121"/>
                </a:solidFill>
              </a:rPr>
              <a:t>Zona Sehat (&gt;80%): </a:t>
            </a:r>
            <a:r>
              <a:rPr>
                <a:solidFill>
                  <a:srgbClr val="424242"/>
                </a:solidFill>
              </a:rPr>
              <a:t>FISIP (89,6%), FKH (88,5%), Keperawatan (81,9%), FMIPA (81,9%), FKIP (81,5%), FT (81,4%).</a:t>
            </a:r>
          </a:p>
          <a:p>
            <a:pPr>
              <a:spcAft>
                <a:spcPts val="1000"/>
              </a:spcAft>
              <a:defRPr sz="1300"/>
            </a:pPr>
            <a:r>
              <a:rPr b="1">
                <a:solidFill>
                  <a:srgbClr val="212121"/>
                </a:solidFill>
              </a:rPr>
              <a:t>Zona Rentan &amp; Kritis (&lt;80%): </a:t>
            </a:r>
            <a:r>
              <a:rPr>
                <a:solidFill>
                  <a:srgbClr val="424242"/>
                </a:solidFill>
              </a:rPr>
              <a:t>FEB (77,2%), FPK (62,4%), dan Fakultas Pertanian (62,1%). Perlu intervensi rasionalisasi kuota segera.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Evaluasi Klaster Khusus: Krisis Vokasi D3 &amp; Outlier PSDKU Gayo Lues</a:t>
            </a:r>
          </a:p>
        </p:txBody>
      </p:sp>
      <p:pic>
        <p:nvPicPr>
          <p:cNvPr id="3" name="Picture 2" descr="08_evaluasi_multi_tahun_d3_vokasi.png"/>
          <p:cNvPicPr>
            <a:picLocks noChangeAspect="1"/>
          </p:cNvPicPr>
          <p:nvPr/>
        </p:nvPicPr>
        <p:blipFill>
          <a:blip r:embed="rId2"/>
          <a:stretch>
            <a:fillRect/>
          </a:stretch>
        </p:blipFill>
        <p:spPr>
          <a:xfrm>
            <a:off x="731520" y="1463040"/>
            <a:ext cx="5212080" cy="2842953"/>
          </a:xfrm>
          <a:prstGeom prst="rect">
            <a:avLst/>
          </a:prstGeom>
        </p:spPr>
      </p:pic>
      <p:pic>
        <p:nvPicPr>
          <p:cNvPr id="4" name="Picture 3" descr="09_subanalisis_psdku_gayo_lues.png"/>
          <p:cNvPicPr>
            <a:picLocks noChangeAspect="1"/>
          </p:cNvPicPr>
          <p:nvPr/>
        </p:nvPicPr>
        <p:blipFill>
          <a:blip r:embed="rId3"/>
          <a:stretch>
            <a:fillRect/>
          </a:stretch>
        </p:blipFill>
        <p:spPr>
          <a:xfrm>
            <a:off x="6217920" y="1463040"/>
            <a:ext cx="5212080" cy="282321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Eksplorasi Kausalitas Lapangan: Membedah Fakta Data vs Hipotesis</a:t>
            </a:r>
          </a:p>
        </p:txBody>
      </p:sp>
      <p:sp>
        <p:nvSpPr>
          <p:cNvPr id="3" name="Rounded Rectangle 2"/>
          <p:cNvSpPr/>
          <p:nvPr/>
        </p:nvSpPr>
        <p:spPr>
          <a:xfrm>
            <a:off x="731520" y="1463040"/>
            <a:ext cx="5120640" cy="4846320"/>
          </a:xfrm>
          <a:prstGeom prst="roundRect">
            <a:avLst/>
          </a:prstGeom>
          <a:solidFill>
            <a:srgbClr val="F0F4F8"/>
          </a:solidFill>
          <a:ln>
            <a:solidFill>
              <a:srgbClr val="1B3B6F"/>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spcAft>
                <a:spcPts val="1200"/>
              </a:spcAft>
              <a:defRPr b="1" sz="1500">
                <a:solidFill>
                  <a:srgbClr val="1B3B6F"/>
                </a:solidFill>
              </a:defRPr>
            </a:pPr>
            <a:r>
              <a:t>[FAKTA DATA EMPIRIS RESMI]</a:t>
            </a:r>
          </a:p>
          <a:p>
            <a:pPr>
              <a:spcAft>
                <a:spcPts val="1000"/>
              </a:spcAft>
              <a:defRPr sz="1300"/>
            </a:pPr>
            <a:r>
              <a:rPr b="1">
                <a:solidFill>
                  <a:srgbClr val="212121"/>
                </a:solidFill>
              </a:rPr>
              <a:t>Fakta 1: </a:t>
            </a:r>
            <a:r>
              <a:rPr>
                <a:solidFill>
                  <a:srgbClr val="424242"/>
                </a:solidFill>
              </a:rPr>
              <a:t>PGSD naik +106% (105 ke 217 mhs) dan Keperawatan naik +132% (127 ke 295 mhs).</a:t>
            </a:r>
          </a:p>
          <a:p>
            <a:pPr>
              <a:spcAft>
                <a:spcPts val="1000"/>
              </a:spcAft>
              <a:defRPr sz="1300"/>
            </a:pPr>
            <a:r>
              <a:rPr b="1">
                <a:solidFill>
                  <a:srgbClr val="212121"/>
                </a:solidFill>
              </a:rPr>
              <a:t>Fakta 2: </a:t>
            </a:r>
            <a:r>
              <a:rPr>
                <a:solidFill>
                  <a:srgbClr val="424242"/>
                </a:solidFill>
              </a:rPr>
              <a:t>Manajemen merosot 3 tahun beruntun (-25%), bertepatan dengan dibukanya prodi Bisnis Digital di tahun 2024.</a:t>
            </a:r>
          </a:p>
          <a:p>
            <a:pPr>
              <a:spcAft>
                <a:spcPts val="1000"/>
              </a:spcAft>
              <a:defRPr sz="1300"/>
            </a:pPr>
            <a:r>
              <a:rPr b="1">
                <a:solidFill>
                  <a:srgbClr val="212121"/>
                </a:solidFill>
              </a:rPr>
              <a:t>Fakta 3: </a:t>
            </a:r>
            <a:r>
              <a:rPr>
                <a:solidFill>
                  <a:srgbClr val="424242"/>
                </a:solidFill>
              </a:rPr>
              <a:t>Budidaya Perairan memiliki peminat 145 orang untuk 160 kursi (keketatan &lt; 1:1) dan 70 kursi kosong di 2026.</a:t>
            </a:r>
          </a:p>
          <a:p>
            <a:pPr>
              <a:spcAft>
                <a:spcPts val="1000"/>
              </a:spcAft>
              <a:defRPr sz="1300"/>
            </a:pPr>
            <a:r>
              <a:rPr b="1">
                <a:solidFill>
                  <a:srgbClr val="212121"/>
                </a:solidFill>
              </a:rPr>
              <a:t>Fakta 4: </a:t>
            </a:r>
            <a:r>
              <a:rPr>
                <a:solidFill>
                  <a:srgbClr val="424242"/>
                </a:solidFill>
              </a:rPr>
              <a:t>25% calon lulus Jalur Mandiri (604 orang) dan 75% Jalur Talenta (930 orang) mengundurkan diri.</a:t>
            </a:r>
          </a:p>
          <a:p>
            <a:pPr>
              <a:spcAft>
                <a:spcPts val="1000"/>
              </a:spcAft>
              <a:defRPr sz="1300"/>
            </a:pPr>
            <a:r>
              <a:rPr b="1">
                <a:solidFill>
                  <a:srgbClr val="212121"/>
                </a:solidFill>
              </a:rPr>
              <a:t>Fakta 5: </a:t>
            </a:r>
            <a:r>
              <a:rPr>
                <a:solidFill>
                  <a:srgbClr val="424242"/>
                </a:solidFill>
              </a:rPr>
              <a:t>4 prodi PSDKU Gayo Lues hanya terisi 41 mahasiswa dari 220 kursi (81,4% kosong).</a:t>
            </a:r>
          </a:p>
        </p:txBody>
      </p:sp>
      <p:sp>
        <p:nvSpPr>
          <p:cNvPr id="4" name="Rounded Rectangle 3"/>
          <p:cNvSpPr/>
          <p:nvPr/>
        </p:nvSpPr>
        <p:spPr>
          <a:xfrm>
            <a:off x="6217920" y="1463040"/>
            <a:ext cx="5212080" cy="4846320"/>
          </a:xfrm>
          <a:prstGeom prst="roundRect">
            <a:avLst/>
          </a:prstGeom>
          <a:solidFill>
            <a:srgbClr val="FEF9E7"/>
          </a:solidFill>
          <a:ln>
            <a:solidFill>
              <a:srgbClr val="E651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spcAft>
                <a:spcPts val="1200"/>
              </a:spcAft>
              <a:defRPr b="1" sz="1500">
                <a:solidFill>
                  <a:srgbClr val="B7791F"/>
                </a:solidFill>
              </a:defRPr>
            </a:pPr>
            <a:r>
              <a:t>[TEMUAN DESK RESEARCH &amp; PENYEBAB]</a:t>
            </a:r>
          </a:p>
          <a:p>
            <a:pPr>
              <a:spcAft>
                <a:spcPts val="1000"/>
              </a:spcAft>
              <a:defRPr sz="1300"/>
            </a:pPr>
            <a:r>
              <a:rPr b="1">
                <a:solidFill>
                  <a:srgbClr val="212121"/>
                </a:solidFill>
              </a:rPr>
              <a:t>Faktor PPPK &amp; Ners Luar Negeri: </a:t>
            </a:r>
            <a:r>
              <a:rPr>
                <a:solidFill>
                  <a:srgbClr val="424242"/>
                </a:solidFill>
              </a:rPr>
              <a:t>Formasi ASN PPPK Guru SD di Aceh dan program G-to-G perawat ke Jepang &amp; Jerman memberikan jaminan karir instan.</a:t>
            </a:r>
          </a:p>
          <a:p>
            <a:pPr>
              <a:spcAft>
                <a:spcPts val="1000"/>
              </a:spcAft>
              <a:defRPr sz="1300"/>
            </a:pPr>
            <a:r>
              <a:rPr b="1">
                <a:solidFill>
                  <a:srgbClr val="212121"/>
                </a:solidFill>
              </a:rPr>
              <a:t>Faktor Kanibalisasi Internal: </a:t>
            </a:r>
            <a:r>
              <a:rPr>
                <a:solidFill>
                  <a:srgbClr val="424242"/>
                </a:solidFill>
              </a:rPr>
              <a:t>Bisnis Digital menyedot segmen pendaftar Manajemen yang menginginkan gelar kekinian di era ekonomi digital.</a:t>
            </a:r>
          </a:p>
          <a:p>
            <a:pPr>
              <a:spcAft>
                <a:spcPts val="1000"/>
              </a:spcAft>
              <a:defRPr sz="1300"/>
            </a:pPr>
            <a:r>
              <a:rPr b="1">
                <a:solidFill>
                  <a:srgbClr val="212121"/>
                </a:solidFill>
              </a:rPr>
              <a:t>Faktor Persepsi Karir Agromaritim: </a:t>
            </a:r>
            <a:r>
              <a:rPr>
                <a:solidFill>
                  <a:srgbClr val="424242"/>
                </a:solidFill>
              </a:rPr>
              <a:t>Gen-Z menghindari prodi perikanan/sains murni karena dipersepsikan minim lowongan kerja korporasi di daerah.</a:t>
            </a:r>
          </a:p>
          <a:p>
            <a:pPr>
              <a:spcAft>
                <a:spcPts val="1000"/>
              </a:spcAft>
              <a:defRPr sz="1300"/>
            </a:pPr>
            <a:r>
              <a:rPr b="1">
                <a:solidFill>
                  <a:srgbClr val="212121"/>
                </a:solidFill>
              </a:rPr>
              <a:t>Beban Finansial IPI Mandiri: </a:t>
            </a:r>
            <a:r>
              <a:rPr>
                <a:solidFill>
                  <a:srgbClr val="424242"/>
                </a:solidFill>
              </a:rPr>
              <a:t>Kewajiban melunasi IPI belasan hingga puluhan juta dalam 5 hari (SK Rektor 1162/2026) memicu liquidity shock keluarga.</a:t>
            </a:r>
          </a:p>
          <a:p>
            <a:pPr>
              <a:spcAft>
                <a:spcPts val="1000"/>
              </a:spcAft>
              <a:defRPr sz="1300"/>
            </a:pPr>
            <a:r>
              <a:rPr b="1">
                <a:solidFill>
                  <a:srgbClr val="212121"/>
                </a:solidFill>
              </a:rPr>
              <a:t>Faktor Isolasi Geografis: </a:t>
            </a:r>
            <a:r>
              <a:rPr>
                <a:solidFill>
                  <a:srgbClr val="424242"/>
                </a:solidFill>
              </a:rPr>
              <a:t>Akses darat 10-12 jam ke Gayo Lues membatasi pendaftar hanya pada lulusan SMA setempat.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Integrasi Jalur Internasional &amp; Rekomendasi Media Promosi Flyer PMB</a:t>
            </a:r>
          </a:p>
        </p:txBody>
      </p:sp>
      <p:sp>
        <p:nvSpPr>
          <p:cNvPr id="3" name="TextBox 2"/>
          <p:cNvSpPr txBox="1"/>
          <p:nvPr/>
        </p:nvSpPr>
        <p:spPr>
          <a:xfrm>
            <a:off x="731520" y="1463040"/>
            <a:ext cx="10698480" cy="4754880"/>
          </a:xfrm>
          <a:prstGeom prst="rect">
            <a:avLst/>
          </a:prstGeom>
          <a:noFill/>
        </p:spPr>
        <p:txBody>
          <a:bodyPr wrap="square">
            <a:spAutoFit/>
          </a:bodyPr>
          <a:lstStyle/>
          <a:p>
            <a:pPr>
              <a:spcAft>
                <a:spcPts val="1500"/>
              </a:spcAft>
              <a:defRPr b="1" sz="1500">
                <a:solidFill>
                  <a:srgbClr val="1B3B6F"/>
                </a:solidFill>
              </a:defRPr>
            </a:pPr>
            <a:r>
              <a:t>PEMUTAKHIRAN INFORMASI SESUAI BUTIR 17 PANDUAN MAGANG:</a:t>
            </a:r>
          </a:p>
          <a:p>
            <a:pPr>
              <a:spcAft>
                <a:spcPts val="1000"/>
              </a:spcAft>
              <a:defRPr sz="1300"/>
            </a:pPr>
            <a:r>
              <a:rPr b="1">
                <a:solidFill>
                  <a:srgbClr val="212121"/>
                </a:solidFill>
              </a:rPr>
              <a:t>1. Peluang Mahasiswa Internasional (International Student Admissions): </a:t>
            </a:r>
            <a:r>
              <a:rPr>
                <a:solidFill>
                  <a:srgbClr val="424242"/>
                </a:solidFill>
              </a:rPr>
              <a:t>USK memiliki daya tarik kuat bagi mahasiswa asal Malaysia, Thailand Selatan, dan Timur Tengah pada prodi Kedokteran, Kedokteran Hewan, dan Kebencanaan (TDMRC). Kuota internasional dapat dimanfaatkan untuk mengisi kelas unggulan dengan standar UKT internasional.</a:t>
            </a:r>
          </a:p>
          <a:p>
            <a:pPr>
              <a:spcAft>
                <a:spcPts val="1000"/>
              </a:spcAft>
              <a:defRPr sz="1300"/>
            </a:pPr>
            <a:r>
              <a:rPr b="1">
                <a:solidFill>
                  <a:srgbClr val="212121"/>
                </a:solidFill>
              </a:rPr>
              <a:t>2. Pembaruan Materi Promosi (Flyer PMB 2027): </a:t>
            </a:r>
            <a:r>
              <a:rPr>
                <a:solidFill>
                  <a:srgbClr val="424242"/>
                </a:solidFill>
              </a:rPr>
              <a:t>Materi promosi tidak boleh lagi bersifat umum satu brosur untuk semua. Perlu dibuat Flyer Tersegmentasi: (a) Flyer Vokasi Unggulan menonjolkan sertifikasi kompetensi, (b) Flyer Beasiswa Ikatan Dinas Pemda untuk PSDKU Gayo Lues, dan (c) Flyer Program Ners Global untuk Keperawatan.</a:t>
            </a:r>
          </a:p>
          <a:p>
            <a:pPr>
              <a:spcAft>
                <a:spcPts val="1000"/>
              </a:spcAft>
              <a:defRPr sz="1300"/>
            </a:pPr>
            <a:r>
              <a:rPr b="1">
                <a:solidFill>
                  <a:srgbClr val="212121"/>
                </a:solidFill>
              </a:rPr>
              <a:t>3. Transparansi Simulasi Biaya UKT &amp; IPI: </a:t>
            </a:r>
            <a:r>
              <a:rPr>
                <a:solidFill>
                  <a:srgbClr val="424242"/>
                </a:solidFill>
              </a:rPr>
              <a:t>Flyer resmi PMB wajib menyertakan simulasi tabel IPI dan fasilitas cicilan secara transparan agar orang tua calon mahasiswa tidak mengalami shock saat pengumuman kelulusan mandiri.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000" b="1">
                <a:solidFill>
                  <a:srgbClr val="E65100"/>
                </a:solidFill>
              </a:defRPr>
            </a:pPr>
            <a:r>
              <a:t>UNIVERSITAS SYIAH KUALA | LAPORAN STRATEGIS PMB</a:t>
            </a:r>
          </a:p>
          <a:p>
            <a:pPr>
              <a:defRPr sz="2200" b="1">
                <a:solidFill>
                  <a:srgbClr val="1B3B6F"/>
                </a:solidFill>
              </a:defRPr>
            </a:pPr>
            <a:r>
              <a:t>Rekomendasi Preskriptif PMB 2027: Rasionalisasi Kuota Menuju Efisiensi PTN-BH</a:t>
            </a:r>
          </a:p>
        </p:txBody>
      </p:sp>
      <p:sp>
        <p:nvSpPr>
          <p:cNvPr id="3" name="Rounded Rectangle 2"/>
          <p:cNvSpPr/>
          <p:nvPr/>
        </p:nvSpPr>
        <p:spPr>
          <a:xfrm>
            <a:off x="731520" y="1463040"/>
            <a:ext cx="2468880" cy="4754880"/>
          </a:xfrm>
          <a:prstGeom prst="roundRect">
            <a:avLst/>
          </a:prstGeom>
          <a:solidFill>
            <a:srgbClr val="FFFFFF"/>
          </a:solidFill>
          <a:ln>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b="1" sz="1400">
                <a:solidFill>
                  <a:srgbClr val="C0392B"/>
                </a:solidFill>
              </a:defRPr>
            </a:pPr>
            <a:r>
              <a:t>AKSI 1:</a:t>
            </a:r>
            <a:br/>
            <a:r>
              <a:t>PANGKAS KUOTA</a:t>
            </a:r>
          </a:p>
          <a:p>
            <a:pPr>
              <a:spcAft>
                <a:spcPts val="1000"/>
              </a:spcAft>
              <a:defRPr sz="1300"/>
            </a:pPr>
            <a:r>
              <a:rPr b="1">
                <a:solidFill>
                  <a:srgbClr val="212121"/>
                </a:solidFill>
              </a:rPr>
              <a:t>7 Prodi Kritis: </a:t>
            </a:r>
            <a:r>
              <a:rPr>
                <a:solidFill>
                  <a:srgbClr val="424242"/>
                </a:solidFill>
              </a:rPr>
              <a:t>Pangkas kuota 20-40% pada: Budidaya Perairan (160 -&gt; 90), THP (160 -&gt; 100), Pend. Ekonomi (160 -&gt; 100), Teknik Kimia (180 -&gt; 120), Fisika (80 -&gt; 50), dan PSP (120 -&gt; 70).</a:t>
            </a:r>
          </a:p>
          <a:p>
            <a:pPr>
              <a:spcAft>
                <a:spcPts val="1000"/>
              </a:spcAft>
              <a:defRPr sz="1300"/>
            </a:pPr>
            <a:r>
              <a:rPr b="1">
                <a:solidFill>
                  <a:srgbClr val="212121"/>
                </a:solidFill>
              </a:rPr>
              <a:t>Dampak Langsung: </a:t>
            </a:r>
            <a:r>
              <a:rPr>
                <a:solidFill>
                  <a:srgbClr val="424242"/>
                </a:solidFill>
              </a:rPr>
              <a:t>Menghapus ~400 kursi kosong semu dan mendongkrak rasio pemenuhan USK di atas 85%.</a:t>
            </a:r>
          </a:p>
        </p:txBody>
      </p:sp>
      <p:sp>
        <p:nvSpPr>
          <p:cNvPr id="4" name="Rounded Rectangle 3"/>
          <p:cNvSpPr/>
          <p:nvPr/>
        </p:nvSpPr>
        <p:spPr>
          <a:xfrm>
            <a:off x="3474720" y="1463040"/>
            <a:ext cx="2468880" cy="4754880"/>
          </a:xfrm>
          <a:prstGeom prst="roundRect">
            <a:avLst/>
          </a:prstGeom>
          <a:solidFill>
            <a:srgbClr val="FFFFFF"/>
          </a:solidFill>
          <a:ln>
            <a:solidFill>
              <a:srgbClr val="E651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b="1" sz="1400">
                <a:solidFill>
                  <a:srgbClr val="E65100"/>
                </a:solidFill>
              </a:defRPr>
            </a:pPr>
            <a:r>
              <a:t>AKSI 2:</a:t>
            </a:r>
            <a:br/>
            <a:r>
              <a:t>REFORMASI JALUR</a:t>
            </a:r>
          </a:p>
          <a:p>
            <a:pPr>
              <a:spcAft>
                <a:spcPts val="1000"/>
              </a:spcAft>
              <a:defRPr sz="1300"/>
            </a:pPr>
            <a:r>
              <a:rPr b="1">
                <a:solidFill>
                  <a:srgbClr val="212121"/>
                </a:solidFill>
              </a:rPr>
              <a:t>Kunci Jalur Talenta: </a:t>
            </a:r>
            <a:r>
              <a:rPr>
                <a:solidFill>
                  <a:srgbClr val="424242"/>
                </a:solidFill>
              </a:rPr>
              <a:t>Terapkan uang komitmen registrasi Rp1.000.000 (memotong UKT jika masuk, hangus jika kabur) agar tidak jadi cadangan gratis.</a:t>
            </a:r>
          </a:p>
          <a:p>
            <a:pPr>
              <a:spcAft>
                <a:spcPts val="1000"/>
              </a:spcAft>
              <a:defRPr sz="1300"/>
            </a:pPr>
            <a:r>
              <a:rPr b="1">
                <a:solidFill>
                  <a:srgbClr val="212121"/>
                </a:solidFill>
              </a:rPr>
              <a:t>Cicilan IPI Mandiri: </a:t>
            </a:r>
            <a:r>
              <a:rPr>
                <a:solidFill>
                  <a:srgbClr val="424242"/>
                </a:solidFill>
              </a:rPr>
              <a:t>Buka skema cicilan 3 tahap sepanjang semester 1 &amp; 2 untuk menyelamatkan 600+ calon mahasiswa yang terkendala biaya mendadak.</a:t>
            </a:r>
          </a:p>
        </p:txBody>
      </p:sp>
      <p:sp>
        <p:nvSpPr>
          <p:cNvPr id="5" name="Rounded Rectangle 4"/>
          <p:cNvSpPr/>
          <p:nvPr/>
        </p:nvSpPr>
        <p:spPr>
          <a:xfrm>
            <a:off x="6217920" y="1463040"/>
            <a:ext cx="2468880" cy="4754880"/>
          </a:xfrm>
          <a:prstGeom prst="roundRect">
            <a:avLst/>
          </a:prstGeom>
          <a:solidFill>
            <a:srgbClr val="FFFFFF"/>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b="1" sz="1400">
                <a:solidFill>
                  <a:srgbClr val="2980B9"/>
                </a:solidFill>
              </a:defRPr>
            </a:pPr>
            <a:r>
              <a:t>AKSI 3:</a:t>
            </a:r>
            <a:br/>
            <a:r>
              <a:t>UPGRADE VOKASI</a:t>
            </a:r>
          </a:p>
          <a:p>
            <a:pPr>
              <a:spcAft>
                <a:spcPts val="1000"/>
              </a:spcAft>
              <a:defRPr sz="1300"/>
            </a:pPr>
            <a:r>
              <a:rPr b="1">
                <a:solidFill>
                  <a:srgbClr val="212121"/>
                </a:solidFill>
              </a:rPr>
              <a:t>Migrasi ke D4: </a:t>
            </a:r>
            <a:r>
              <a:rPr>
                <a:solidFill>
                  <a:srgbClr val="424242"/>
                </a:solidFill>
              </a:rPr>
              <a:t>Konversi D3 favorit ke Sarjana Terapan (D4): D3 Manajemen Informatika -&gt; D4 Sains Data Terapan; D3 Sipil -&gt; D4 Manajemen Konstruksi.</a:t>
            </a:r>
          </a:p>
          <a:p>
            <a:pPr>
              <a:spcAft>
                <a:spcPts val="1000"/>
              </a:spcAft>
              <a:defRPr sz="1300"/>
            </a:pPr>
            <a:r>
              <a:rPr b="1">
                <a:solidFill>
                  <a:srgbClr val="212121"/>
                </a:solidFill>
              </a:rPr>
              <a:t>Daya Tarik ASN: </a:t>
            </a:r>
            <a:r>
              <a:rPr>
                <a:solidFill>
                  <a:srgbClr val="424242"/>
                </a:solidFill>
              </a:rPr>
              <a:t>Ijazah D4 setara S1 berhak atas golongan III/a ASN, menyelesaikan krisis peminat D3.</a:t>
            </a:r>
          </a:p>
        </p:txBody>
      </p:sp>
      <p:sp>
        <p:nvSpPr>
          <p:cNvPr id="6" name="Rounded Rectangle 5"/>
          <p:cNvSpPr/>
          <p:nvPr/>
        </p:nvSpPr>
        <p:spPr>
          <a:xfrm>
            <a:off x="8961120" y="1463040"/>
            <a:ext cx="2468880" cy="4754880"/>
          </a:xfrm>
          <a:prstGeom prst="roundRect">
            <a:avLst/>
          </a:prstGeom>
          <a:solidFill>
            <a:srgbClr val="FFFFFF"/>
          </a:solidFill>
          <a:ln>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b="1" sz="1400">
                <a:solidFill>
                  <a:srgbClr val="27AE60"/>
                </a:solidFill>
              </a:defRPr>
            </a:pPr>
            <a:r>
              <a:t>AKSI 4:</a:t>
            </a:r>
            <a:br/>
            <a:r>
              <a:t>SOLUSI PSDKU</a:t>
            </a:r>
          </a:p>
          <a:p>
            <a:pPr>
              <a:spcAft>
                <a:spcPts val="1000"/>
              </a:spcAft>
              <a:defRPr sz="1300"/>
            </a:pPr>
            <a:r>
              <a:rPr b="1">
                <a:solidFill>
                  <a:srgbClr val="212121"/>
                </a:solidFill>
              </a:rPr>
              <a:t>MoU Beasiswa Pemkab: </a:t>
            </a:r>
            <a:r>
              <a:rPr>
                <a:solidFill>
                  <a:srgbClr val="424242"/>
                </a:solidFill>
              </a:rPr>
              <a:t>Ikat 220 kuota Gayo Lues dengan beasiswa penuh APBD Pemkab Gayo Lues &amp; Aceh Tenggara.</a:t>
            </a:r>
          </a:p>
          <a:p>
            <a:pPr>
              <a:spcAft>
                <a:spcPts val="1000"/>
              </a:spcAft>
              <a:defRPr sz="1300"/>
            </a:pPr>
            <a:r>
              <a:rPr b="1">
                <a:solidFill>
                  <a:srgbClr val="212121"/>
                </a:solidFill>
              </a:rPr>
              <a:t>Rampingkan Operasional: </a:t>
            </a:r>
            <a:r>
              <a:rPr>
                <a:solidFill>
                  <a:srgbClr val="424242"/>
                </a:solidFill>
              </a:rPr>
              <a:t>Jika beasiswa tidak terwujud, konsolidasi 4 prodi menjadi 2 prodi unggulan lokal: Agribisnis Kopi Gayo dan Keguruan.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B6F"/>
          </a:solidFill>
          <a:ln>
            <a:solidFill>
              <a:srgbClr val="1B3B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011680"/>
            <a:ext cx="9418320" cy="3200400"/>
          </a:xfrm>
          <a:prstGeom prst="rect">
            <a:avLst/>
          </a:prstGeom>
          <a:noFill/>
        </p:spPr>
        <p:txBody>
          <a:bodyPr wrap="square">
            <a:spAutoFit/>
          </a:bodyPr>
          <a:lstStyle/>
          <a:p>
            <a:pPr algn="ctr">
              <a:spcAft>
                <a:spcPts val="2000"/>
              </a:spcAft>
              <a:defRPr b="1" sz="3600">
                <a:solidFill>
                  <a:srgbClr val="FFFFFF"/>
                </a:solidFill>
              </a:defRPr>
            </a:pPr>
            <a:r>
              <a:t>TERIMA KASIH</a:t>
            </a:r>
          </a:p>
          <a:p>
            <a:pPr algn="ctr">
              <a:spcAft>
                <a:spcPts val="2500"/>
              </a:spcAft>
              <a:defRPr sz="1600" i="1">
                <a:solidFill>
                  <a:srgbClr val="E6E6E6"/>
                </a:solidFill>
              </a:defRPr>
            </a:pPr>
            <a:r>
              <a:t>"Keberhasilan PMB PTN-BH diukur dari berapa banyak mahasiswa yang secara nyata duduk di ruang kuliah, membayar UKT, dan menyelesaikan studinya secara tepat waktu, bukan dari angka kelulusan semu di atas kertas."</a:t>
            </a:r>
          </a:p>
          <a:p>
            <a:pPr algn="ctr">
              <a:defRPr sz="1300">
                <a:solidFill>
                  <a:srgbClr val="E65100"/>
                </a:solidFill>
              </a:defRPr>
            </a:pPr>
            <a:r>
              <a:t>Universitas Syiah Kuala | Kampus Jantong Hate Rakyat Aceh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