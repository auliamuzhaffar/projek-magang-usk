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ight Triangle 2"/>
          <p:cNvSpPr/>
          <p:nvPr/>
        </p:nvSpPr>
        <p:spPr>
          <a:xfrm>
            <a:off x="9601200" y="0"/>
            <a:ext cx="2590495" cy="2286000"/>
          </a:xfrm>
          <a:prstGeom prst="rtTriangle">
            <a:avLst/>
          </a:prstGeom>
          <a:solidFill>
            <a:srgbClr val="142A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914400"/>
            <a:ext cx="9601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100" b="1">
                <a:solidFill>
                  <a:srgbClr val="C9A84C"/>
                </a:solidFill>
              </a:defRPr>
            </a:pPr>
            <a:r>
              <a:t>TUGAS 05 — MAGANG (KHUSUS)  |  AUDIT-GRADE DECISION ANALYTICS</a:t>
            </a:r>
          </a:p>
          <a:p>
            <a:pPr>
              <a:spcAft>
                <a:spcPts val="1000"/>
              </a:spcAft>
              <a:defRPr sz="3200" b="1">
                <a:solidFill>
                  <a:srgbClr val="FFFFFF"/>
                </a:solidFill>
              </a:defRPr>
            </a:pPr>
            <a:r>
              <a:t>ANALISA PEMINATAN DAN</a:t>
            </a:r>
            <a:br/>
            <a:r>
              <a:t>DAYA TAMPUNG PROGRAM STUDI</a:t>
            </a:r>
            <a:br/>
            <a:r>
              <a:t>UNIVERSITAS SYIAH KUALA</a:t>
            </a:r>
          </a:p>
          <a:p>
            <a:pPr>
              <a:spcAft>
                <a:spcPts val="800"/>
              </a:spcAft>
              <a:defRPr sz="1300">
                <a:solidFill>
                  <a:srgbClr val="B4BED2"/>
                </a:solidFill>
              </a:defRPr>
            </a:pPr>
            <a:r>
              <a:t>Evaluasi Tren Multi-Tahun (2022–2026), Rasio Keketatan Seleksi, Matriks Portofolio</a:t>
            </a:r>
            <a:br/>
            <a:r>
              <a:t>Kuadran, Dekonstruksi Kebocoran Desil KIP-Kuliah, dan Rekomendasi Kebijakan PTN-BH</a:t>
            </a:r>
          </a:p>
        </p:txBody>
      </p:sp>
      <p:sp>
        <p:nvSpPr>
          <p:cNvPr id="6" name="Rectangle 5"/>
          <p:cNvSpPr/>
          <p:nvPr/>
        </p:nvSpPr>
        <p:spPr>
          <a:xfrm>
            <a:off x="1097280" y="4206240"/>
            <a:ext cx="5486400" cy="190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97280" y="4572000"/>
            <a:ext cx="9601200" cy="1645920"/>
          </a:xfrm>
          <a:prstGeom prst="roundRect">
            <a:avLst/>
          </a:prstGeom>
          <a:solidFill>
            <a:srgbClr val="142A50"/>
          </a:solidFill>
          <a:ln w="12700">
            <a:solidFill>
              <a:srgbClr val="3C50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37160" bIns="137160"/>
          <a:lstStyle/>
          <a:p>
            <a:pPr algn="ctr">
              <a:spcAft>
                <a:spcPts val="800"/>
              </a:spcAft>
              <a:defRPr b="1" sz="1100">
                <a:solidFill>
                  <a:srgbClr val="C9A84C"/>
                </a:solidFill>
              </a:defRPr>
            </a:pPr>
            <a:r>
              <a:t>INFORMASI EKSEKUTIF PENUGASAN</a:t>
            </a:r>
          </a:p>
          <a:p>
            <a:pPr>
              <a:spcAft>
                <a:spcPts val="300"/>
              </a:spcAft>
              <a:defRPr sz="1000"/>
            </a:pPr>
            <a:r>
              <a:rPr b="1" sz="1000">
                <a:solidFill>
                  <a:srgbClr val="F5F0E8"/>
                </a:solidFill>
              </a:rPr>
              <a:t>Target Peserta Rapat: </a:t>
            </a:r>
            <a:r>
              <a:rPr sz="1000">
                <a:solidFill>
                  <a:srgbClr val="B4BED2"/>
                </a:solidFill>
              </a:rPr>
              <a:t>Rektor, Para Wakil Rektor, Ketua Senat Akademik, dan Para Dekan Fakultas</a:t>
            </a:r>
          </a:p>
          <a:p>
            <a:pPr>
              <a:spcAft>
                <a:spcPts val="300"/>
              </a:spcAft>
              <a:defRPr sz="1000"/>
            </a:pPr>
            <a:r>
              <a:rPr b="1" sz="1000">
                <a:solidFill>
                  <a:srgbClr val="F5F0E8"/>
                </a:solidFill>
              </a:rPr>
              <a:t>Dasar Dataset: </a:t>
            </a:r>
            <a:r>
              <a:rPr sz="1000">
                <a:solidFill>
                  <a:srgbClr val="B4BED2"/>
                </a:solidFill>
              </a:rPr>
              <a:t>Data Empiris PMB USK 2022–2026, Dataset Jalur Masuk &amp; Kebocoran, Data Induk KIP-Kuliah 2025–2026</a:t>
            </a:r>
          </a:p>
          <a:p>
            <a:pPr>
              <a:spcAft>
                <a:spcPts val="200"/>
              </a:spcAft>
              <a:defRPr sz="1000"/>
            </a:pPr>
            <a:r>
              <a:rPr b="1" sz="1000">
                <a:solidFill>
                  <a:srgbClr val="F5F0E8"/>
                </a:solidFill>
              </a:rPr>
              <a:t>Penyusun &amp; Tujuan: </a:t>
            </a:r>
            <a:r>
              <a:rPr sz="1000">
                <a:solidFill>
                  <a:srgbClr val="B4BED2"/>
                </a:solidFill>
              </a:rPr>
              <a:t>Data Analyst PMB — Tim Magang USK | Pengambilan Keputusan Strategis Rasionalisasi Kuota &amp; Efisiensi Finansial PTN-BH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6588760"/>
            <a:ext cx="7315200" cy="218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800" b="1">
                <a:solidFill>
                  <a:srgbClr val="C9A84C"/>
                </a:solidFill>
              </a:defRPr>
            </a:pPr>
            <a:r>
              <a:t>UNIVERSITAS SYIAH KUALA  |  RAPAT PIMPINAN PMB  |  ANALISA PEMINATAN &amp; DAYA TAMPUNG 2022–2026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588760"/>
            <a:ext cx="1371600" cy="218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 b="1">
                <a:solidFill>
                  <a:srgbClr val="F5F0E8"/>
                </a:solidFill>
              </a:defRPr>
            </a:pPr>
            <a:r>
              <a:t>1 / 24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C9A84C"/>
                </a:solidFill>
              </a:defRPr>
            </a:pPr>
            <a:r>
              <a:t>UNIVERSITAS SYIAH KUALA  |  RAPAT PIMPINAN PMB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D1F3C"/>
                </a:solidFill>
              </a:defRPr>
            </a:pPr>
            <a:r>
              <a:t>Ringkasan Eksekutif: Tiga Dimensi Evaluasi PMB USK Pasca Transformasi PTN-BH</a:t>
            </a:r>
          </a:p>
          <a:p>
            <a:pPr>
              <a:spcBef>
                <a:spcPts val="200"/>
              </a:spcBef>
              <a:defRPr sz="1100">
                <a:solidFill>
                  <a:srgbClr val="64748B"/>
                </a:solidFill>
              </a:defRPr>
            </a:pPr>
            <a:r>
              <a:t>Sintesis Temuan Kunci Permintaan Pasar, Kapasitas Kuota, dan Resolusi Kausalitas Kebocoran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0728655" cy="190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3328416" cy="47091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37160" bIns="137160"/>
          <a:lstStyle/>
          <a:p>
            <a:pPr algn="ctr">
              <a:spcAft>
                <a:spcPts val="800"/>
              </a:spcAft>
              <a:defRPr b="1" sz="1200">
                <a:solidFill>
                  <a:srgbClr val="1B3B6F"/>
                </a:solidFill>
              </a:defRPr>
            </a:pPr>
            <a:r>
              <a:t>1. PERMINTAAN PASAR (DEMAND)</a:t>
            </a:r>
          </a:p>
          <a:p>
            <a:pPr>
              <a:spcAft>
                <a:spcPts val="400"/>
              </a:spcAft>
              <a:defRPr sz="950"/>
            </a:pPr>
            <a:r>
              <a:rPr b="1" sz="950">
                <a:solidFill>
                  <a:srgbClr val="1B3B6F"/>
                </a:solidFill>
              </a:rPr>
              <a:t>Lonjakan Peminat: </a:t>
            </a:r>
            <a:r>
              <a:rPr sz="950">
                <a:solidFill>
                  <a:srgbClr val="374151"/>
                </a:solidFill>
              </a:rPr>
              <a:t>Total peminat USK naik +39,5% dalam 5 tahun dari 48.769 (2022) ke 68.010 (2026), rekor 70.945 di 2025.</a:t>
            </a:r>
          </a:p>
          <a:p>
            <a:pPr>
              <a:spcAft>
                <a:spcPts val="400"/>
              </a:spcAft>
              <a:defRPr sz="950"/>
            </a:pPr>
            <a:r>
              <a:rPr b="1" sz="950">
                <a:solidFill>
                  <a:srgbClr val="1B3B6F"/>
                </a:solidFill>
              </a:rPr>
              <a:t>Polarisasi Ekstrem: </a:t>
            </a:r>
            <a:r>
              <a:rPr sz="950">
                <a:solidFill>
                  <a:srgbClr val="374151"/>
                </a:solidFill>
              </a:rPr>
              <a:t>Farmasi capai rasio 39,2:1, sebaliknya Budidaya Perairan hanya 0,91:1 (defisit pendaftar di bawah kuota).</a:t>
            </a:r>
          </a:p>
          <a:p>
            <a:pPr>
              <a:spcAft>
                <a:spcPts val="400"/>
              </a:spcAft>
              <a:defRPr sz="950"/>
            </a:pPr>
            <a:r>
              <a:rPr b="1" sz="950">
                <a:solidFill>
                  <a:srgbClr val="1B3B6F"/>
                </a:solidFill>
              </a:rPr>
              <a:t>Pergeseran Minat Gen Z: </a:t>
            </a:r>
            <a:r>
              <a:rPr sz="950">
                <a:solidFill>
                  <a:srgbClr val="374151"/>
                </a:solidFill>
              </a:rPr>
              <a:t>Permintaan terkonsentrasi ke kesehatan, teknologi digital, dan prodi dengan kepastian formasi ASN/PPPK daerah.</a:t>
            </a:r>
          </a:p>
          <a:p>
            <a:pPr>
              <a:spcAft>
                <a:spcPts val="800"/>
              </a:spcAft>
              <a:defRPr sz="950"/>
            </a:pPr>
            <a:r>
              <a:rPr b="1" sz="950">
                <a:solidFill>
                  <a:srgbClr val="1B3B6F"/>
                </a:solidFill>
              </a:rPr>
              <a:t>Disparitas Klaster: </a:t>
            </a:r>
            <a:r>
              <a:rPr sz="950">
                <a:solidFill>
                  <a:srgbClr val="374151"/>
                </a:solidFill>
              </a:rPr>
              <a:t>Rumpun teknik &amp; sains murni konvensional mengalami stagnasi minat yang persisten selama setengah dekade.</a:t>
            </a:r>
          </a:p>
          <a:p>
            <a:pPr>
              <a:spcAft>
                <a:spcPts val="200"/>
              </a:spcAft>
              <a:defRPr sz="950"/>
            </a:pPr>
            <a:r>
              <a:rPr b="1" sz="950">
                <a:solidFill>
                  <a:srgbClr val="1B3B6F"/>
                </a:solidFill>
              </a:rPr>
              <a:t>📌 IMPERATIF STRATEGIS: </a:t>
            </a:r>
            <a:r>
              <a:rPr sz="950">
                <a:solidFill>
                  <a:srgbClr val="1B3B6F"/>
                </a:solidFill>
              </a:rPr>
              <a:t>Re-alokasi kuota ke prodi berdaya serap tinggi; stop pemborosan kapasitas di sains dasar.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25696" y="1508760"/>
            <a:ext cx="3328416" cy="4709160"/>
          </a:xfrm>
          <a:prstGeom prst="roundRect">
            <a:avLst/>
          </a:prstGeom>
          <a:solidFill>
            <a:srgbClr val="FFF7ED"/>
          </a:solidFill>
          <a:ln w="12700">
            <a:solidFill>
              <a:srgbClr val="FED7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37160" bIns="137160"/>
          <a:lstStyle/>
          <a:p>
            <a:pPr algn="ctr">
              <a:spcAft>
                <a:spcPts val="800"/>
              </a:spcAft>
              <a:defRPr b="1" sz="1200">
                <a:solidFill>
                  <a:srgbClr val="E65100"/>
                </a:solidFill>
              </a:defRPr>
            </a:pPr>
            <a:r>
              <a:t>2. KAPASITAS &amp; EFISIENSI (SUPPLY)</a:t>
            </a:r>
          </a:p>
          <a:p>
            <a:pPr>
              <a:spcAft>
                <a:spcPts val="400"/>
              </a:spcAft>
              <a:defRPr sz="950"/>
            </a:pPr>
            <a:r>
              <a:rPr b="1" sz="950">
                <a:solidFill>
                  <a:srgbClr val="1B3B6F"/>
                </a:solidFill>
              </a:rPr>
              <a:t>Ekspansi Agresif PTN-BH: </a:t>
            </a:r>
            <a:r>
              <a:rPr sz="950">
                <a:solidFill>
                  <a:srgbClr val="374151"/>
                </a:solidFill>
              </a:rPr>
              <a:t>Daya tampung dinaikkan +32,7% (7.863 → 10.435 kursi), namun tidak diimbangi kenaikan daftar ulang proporsional.</a:t>
            </a:r>
          </a:p>
          <a:p>
            <a:pPr>
              <a:spcAft>
                <a:spcPts val="400"/>
              </a:spcAft>
              <a:defRPr sz="950"/>
            </a:pPr>
            <a:r>
              <a:rPr b="1" sz="950">
                <a:solidFill>
                  <a:srgbClr val="1B3B6F"/>
                </a:solidFill>
              </a:rPr>
              <a:t>Akumulasi 10.984 Kursi Kosong: </a:t>
            </a:r>
            <a:r>
              <a:rPr sz="950">
                <a:solidFill>
                  <a:srgbClr val="374151"/>
                </a:solidFill>
              </a:rPr>
              <a:t>Persisten ~2.000 bangku kosong/tahun (23,0% dari 47.738 total kuota 5 tahun berujung mubazir).</a:t>
            </a:r>
          </a:p>
          <a:p>
            <a:pPr>
              <a:spcAft>
                <a:spcPts val="400"/>
              </a:spcAft>
              <a:defRPr sz="950"/>
            </a:pPr>
            <a:r>
              <a:rPr b="1" sz="950">
                <a:solidFill>
                  <a:srgbClr val="1B3B6F"/>
                </a:solidFill>
              </a:rPr>
              <a:t>Krisis Segmen Vokasi &amp; PSDKU: </a:t>
            </a:r>
            <a:r>
              <a:rPr sz="950">
                <a:solidFill>
                  <a:srgbClr val="374151"/>
                </a:solidFill>
              </a:rPr>
              <a:t>D3 Vokasi hanya terisi 51,3% (1.320 kursi terbuang), PSDKU Gayo Lues krisis ekstrem 18,6% (783 kursi terbuang).</a:t>
            </a:r>
          </a:p>
          <a:p>
            <a:pPr>
              <a:spcAft>
                <a:spcPts val="800"/>
              </a:spcAft>
              <a:defRPr sz="950"/>
            </a:pPr>
            <a:r>
              <a:rPr b="1" sz="950">
                <a:solidFill>
                  <a:srgbClr val="1B3B6F"/>
                </a:solidFill>
              </a:rPr>
              <a:t>Konsentrasi Episentrum: </a:t>
            </a:r>
            <a:r>
              <a:rPr sz="950">
                <a:solidFill>
                  <a:srgbClr val="374151"/>
                </a:solidFill>
              </a:rPr>
              <a:t>3 Fakultas (FKIP, FT, Pertanian) menyumbang 65,1% seluruh kursi kosong S1 kampus utama.</a:t>
            </a:r>
          </a:p>
          <a:p>
            <a:pPr>
              <a:spcAft>
                <a:spcPts val="200"/>
              </a:spcAft>
              <a:defRPr sz="950"/>
            </a:pPr>
            <a:r>
              <a:rPr b="1" sz="950">
                <a:solidFill>
                  <a:srgbClr val="B91C1C"/>
                </a:solidFill>
              </a:rPr>
              <a:t>📌 IMPERATIF STRATEGIS: </a:t>
            </a:r>
            <a:r>
              <a:rPr sz="950">
                <a:solidFill>
                  <a:srgbClr val="B91C1C"/>
                </a:solidFill>
              </a:rPr>
              <a:t>Rasionalisasi kuota 20–40% pada 22 prodi Kuadran III untuk menghapus 450 bangku kosong semu.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19872" y="1508760"/>
            <a:ext cx="3328416" cy="470916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37160" bIns="137160"/>
          <a:lstStyle/>
          <a:p>
            <a:pPr algn="ctr">
              <a:spcAft>
                <a:spcPts val="800"/>
              </a:spcAft>
              <a:defRPr b="1" sz="1200">
                <a:solidFill>
                  <a:srgbClr val="C0392B"/>
                </a:solidFill>
              </a:defRPr>
            </a:pPr>
            <a:r>
              <a:t>3. RESOLUSI "PLOT TWIST" KEBOCORAN</a:t>
            </a:r>
          </a:p>
          <a:p>
            <a:pPr>
              <a:spcAft>
                <a:spcPts val="400"/>
              </a:spcAft>
              <a:defRPr sz="950"/>
            </a:pPr>
            <a:r>
              <a:rPr b="1" sz="950">
                <a:solidFill>
                  <a:srgbClr val="1B3B6F"/>
                </a:solidFill>
              </a:rPr>
              <a:t>Kausalitas 97,60% Terbukti: </a:t>
            </a:r>
            <a:r>
              <a:rPr sz="950">
                <a:solidFill>
                  <a:srgbClr val="374151"/>
                </a:solidFill>
              </a:rPr>
              <a:t>626 kursi kosong SNBT 2026 secara empiris hampir identik 1-to-1 dengan 611 calon KIP yang ditolak beasiswanya.</a:t>
            </a:r>
          </a:p>
          <a:p>
            <a:pPr>
              <a:spcAft>
                <a:spcPts val="400"/>
              </a:spcAft>
              <a:defRPr sz="950"/>
            </a:pPr>
            <a:r>
              <a:rPr b="1" sz="950">
                <a:solidFill>
                  <a:srgbClr val="1B3B6F"/>
                </a:solidFill>
              </a:rPr>
              <a:t>Cliff-Edge Desil 5 &amp; 6: </a:t>
            </a:r>
            <a:r>
              <a:rPr sz="950">
                <a:solidFill>
                  <a:srgbClr val="374151"/>
                </a:solidFill>
              </a:rPr>
              <a:t>Pemangkasan kuota KIP (-11,2%) membantai Desil 5 &amp; 6 (&gt;98% ditolak). 526 calon mahasiswa berprestasi terhempas.</a:t>
            </a:r>
          </a:p>
          <a:p>
            <a:pPr>
              <a:spcAft>
                <a:spcPts val="400"/>
              </a:spcAft>
              <a:defRPr sz="950"/>
            </a:pPr>
            <a:r>
              <a:rPr b="1" sz="950">
                <a:solidFill>
                  <a:srgbClr val="1B3B6F"/>
                </a:solidFill>
              </a:rPr>
              <a:t>Economic Forced Drop-Out: </a:t>
            </a:r>
            <a:r>
              <a:rPr sz="950">
                <a:solidFill>
                  <a:srgbClr val="374151"/>
                </a:solidFill>
              </a:rPr>
              <a:t>Bukan siswa kabur ke PTS, melainkan shock biaya saat dialihkan ke UKT Kel. III–V (Rp2,5–5 jt/semester).</a:t>
            </a:r>
          </a:p>
          <a:p>
            <a:pPr>
              <a:spcAft>
                <a:spcPts val="800"/>
              </a:spcAft>
              <a:defRPr sz="950"/>
            </a:pPr>
            <a:r>
              <a:rPr b="1" sz="950">
                <a:solidFill>
                  <a:srgbClr val="1B3B6F"/>
                </a:solidFill>
              </a:rPr>
              <a:t>Beban Kuadran III: </a:t>
            </a:r>
            <a:r>
              <a:rPr sz="950">
                <a:solidFill>
                  <a:srgbClr val="374151"/>
                </a:solidFill>
              </a:rPr>
              <a:t>Prodi rentan menanggung beban sosial KIP tertinggi (31,1%), sehingga paling rapuh terhadap guncangan beasiswa.</a:t>
            </a:r>
          </a:p>
          <a:p>
            <a:pPr>
              <a:spcAft>
                <a:spcPts val="200"/>
              </a:spcAft>
              <a:defRPr sz="950"/>
            </a:pPr>
            <a:r>
              <a:rPr b="1" sz="950">
                <a:solidFill>
                  <a:srgbClr val="C0392B"/>
                </a:solidFill>
              </a:rPr>
              <a:t>📌 IMPERATIF STRATEGIS: </a:t>
            </a:r>
            <a:r>
              <a:rPr sz="950">
                <a:solidFill>
                  <a:srgbClr val="C0392B"/>
                </a:solidFill>
              </a:rPr>
              <a:t>SK Rektor UKT Penyelamat Rp500rb–1jt + Subsidi Silang 5% IPI Mandiri untuk selamatkan pendaftaran.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6588760"/>
            <a:ext cx="7315200" cy="218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800" b="1">
                <a:solidFill>
                  <a:srgbClr val="C9A84C"/>
                </a:solidFill>
              </a:defRPr>
            </a:pPr>
            <a:r>
              <a:t>UNIVERSITAS SYIAH KUALA  |  RAPAT PIMPINAN PMB  |  ANALISA PEMINATAN &amp; DAYA TAMPUNG 2022–2026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588760"/>
            <a:ext cx="1371600" cy="218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 b="1">
                <a:solidFill>
                  <a:srgbClr val="F5F0E8"/>
                </a:solidFill>
              </a:defRPr>
            </a:pPr>
            <a:r>
              <a:t>2 / 24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0" y="1645920"/>
            <a:ext cx="393192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600" b="1">
                <a:solidFill>
                  <a:srgbClr val="C9A84C"/>
                </a:solidFill>
              </a:defRPr>
            </a:pPr>
            <a:r>
              <a:t>01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0" y="3611880"/>
            <a:ext cx="3931920" cy="190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286000" y="3840480"/>
            <a:ext cx="75895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F5F0E8"/>
                </a:solidFill>
              </a:defRPr>
            </a:pPr>
            <a:r>
              <a:t>ANALISIS TREN &amp; PORTOFOLIO PROGRAM STUDI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588760"/>
            <a:ext cx="7315200" cy="218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800" b="1">
                <a:solidFill>
                  <a:srgbClr val="C9A84C"/>
                </a:solidFill>
              </a:defRPr>
            </a:pPr>
            <a:r>
              <a:t>UNIVERSITAS SYIAH KUALA  |  RAPAT PIMPINAN PMB  |  ANALISA PEMINATAN &amp; DAYA TAMPUNG 2022–2026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88760"/>
            <a:ext cx="1371600" cy="218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 b="1">
                <a:solidFill>
                  <a:srgbClr val="F5F0E8"/>
                </a:solidFill>
              </a:defRPr>
            </a:pPr>
            <a:r>
              <a:t>3 / 24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C9A84C"/>
                </a:solidFill>
              </a:defRPr>
            </a:pPr>
            <a:r>
              <a:t>UNIVERSITAS SYIAH KUALA  |  RAPAT PIMPINAN PMB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D1F3C"/>
                </a:solidFill>
              </a:defRPr>
            </a:pPr>
            <a:r>
              <a:t>Evaluasi Tren Makro 5 Tahun USK (2022–2026)</a:t>
            </a:r>
          </a:p>
          <a:p>
            <a:pPr>
              <a:spcBef>
                <a:spcPts val="200"/>
              </a:spcBef>
              <a:defRPr sz="1100">
                <a:solidFill>
                  <a:srgbClr val="64748B"/>
                </a:solidFill>
              </a:defRPr>
            </a:pPr>
            <a:r>
              <a:t>Kapasitas Melompat ke 10.435 Kursi, Beban ~2.000 Bangku Kosong Tetap Berulang Setiap Tahun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0728655" cy="190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1_tren_makro_peminat_dt_du_us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08760"/>
            <a:ext cx="7315200" cy="3204754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4800600"/>
            <a:ext cx="7315200" cy="14630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37160" bIns="137160"/>
          <a:lstStyle/>
          <a:p>
            <a:pPr algn="ctr">
              <a:spcAft>
                <a:spcPts val="300"/>
              </a:spcAft>
              <a:defRPr b="1" sz="1050">
                <a:solidFill>
                  <a:srgbClr val="C0392B"/>
                </a:solidFill>
              </a:defRPr>
            </a:pPr>
            <a:r>
              <a:t>AKUMULASI 5 TAHUN: 10.984 KURSI KOSONG (23,0% KUOTA TERBUANG)</a:t>
            </a:r>
          </a:p>
          <a:p>
            <a:pPr>
              <a:defRPr sz="900">
                <a:solidFill>
                  <a:srgbClr val="374151"/>
                </a:solidFill>
              </a:defRPr>
            </a:pPr>
            <a:r>
              <a:t>• Peminat tumbuh pesat +39,5% (48.769 → 68.010), Daya Tampung melonjak +32,7% (5.485 → 7.280 S1).</a:t>
            </a:r>
            <a:br/>
            <a:r>
              <a:t>• Peningkatan kuota tidak diimbangi daya serap riil mahasiswa yang mendaftar ulang.</a:t>
            </a:r>
            <a:br/>
            <a:r>
              <a:t>• Implikasi: Terjadi structural capacity mismatch persisten ~2.000 bangku kosong setiap tahun akademik.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75320" y="1508760"/>
            <a:ext cx="3182112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37160" bIns="137160"/>
          <a:lstStyle/>
          <a:p>
            <a:pPr algn="ctr">
              <a:spcAft>
                <a:spcPts val="800"/>
              </a:spcAft>
              <a:defRPr b="1" sz="1300">
                <a:solidFill>
                  <a:srgbClr val="1B3B6F"/>
                </a:solidFill>
              </a:defRPr>
            </a:pPr>
            <a:r>
              <a:t>EVOLUSI METRIK 5 TAHUN:</a:t>
            </a:r>
          </a:p>
          <a:p>
            <a:pPr>
              <a:spcAft>
                <a:spcPts val="400"/>
              </a:spcAft>
              <a:defRPr sz="1000"/>
            </a:pPr>
            <a:r>
              <a:rPr b="1" sz="1000">
                <a:solidFill>
                  <a:srgbClr val="1B3B6F"/>
                </a:solidFill>
              </a:rPr>
              <a:t>2022: </a:t>
            </a:r>
            <a:r>
              <a:rPr sz="1000">
                <a:solidFill>
                  <a:srgbClr val="374151"/>
                </a:solidFill>
              </a:rPr>
              <a:t>48.769 Peminat | 7.863 Kuota | 6.197 DU | 1.666 Kosong (Fill 78,8%)</a:t>
            </a:r>
          </a:p>
          <a:p>
            <a:pPr>
              <a:spcAft>
                <a:spcPts val="400"/>
              </a:spcAft>
              <a:defRPr sz="1000"/>
            </a:pPr>
            <a:r>
              <a:rPr b="1" sz="1000">
                <a:solidFill>
                  <a:srgbClr val="1B3B6F"/>
                </a:solidFill>
              </a:rPr>
              <a:t>2023: </a:t>
            </a:r>
            <a:r>
              <a:rPr sz="1000">
                <a:solidFill>
                  <a:srgbClr val="374151"/>
                </a:solidFill>
              </a:rPr>
              <a:t>44.653 Peminat | 8.780 Kuota | 6.299 DU | 2.481 Kosong (Fill 71,7%)</a:t>
            </a:r>
          </a:p>
          <a:p>
            <a:pPr>
              <a:spcAft>
                <a:spcPts val="400"/>
              </a:spcAft>
              <a:defRPr sz="1000"/>
            </a:pPr>
            <a:r>
              <a:rPr b="1" sz="1000">
                <a:solidFill>
                  <a:srgbClr val="1B3B6F"/>
                </a:solidFill>
              </a:rPr>
              <a:t>2024: </a:t>
            </a:r>
            <a:r>
              <a:rPr sz="1000">
                <a:solidFill>
                  <a:srgbClr val="374151"/>
                </a:solidFill>
              </a:rPr>
              <a:t>65.495 Peminat | 10.240 Kuota | 7.791 DU | 2.449 Kosong (Fill 76,1%)</a:t>
            </a:r>
          </a:p>
          <a:p>
            <a:pPr>
              <a:spcAft>
                <a:spcPts val="400"/>
              </a:spcAft>
              <a:defRPr sz="1000"/>
            </a:pPr>
            <a:r>
              <a:rPr b="1" sz="1000">
                <a:solidFill>
                  <a:srgbClr val="1B3B6F"/>
                </a:solidFill>
              </a:rPr>
              <a:t>2025: </a:t>
            </a:r>
            <a:r>
              <a:rPr sz="1000">
                <a:solidFill>
                  <a:srgbClr val="374151"/>
                </a:solidFill>
              </a:rPr>
              <a:t>70.945 Peminat | 10.420 Kuota | 8.027 DU | 2.393 Kosong (Fill 77,0%)</a:t>
            </a:r>
          </a:p>
          <a:p>
            <a:pPr>
              <a:spcAft>
                <a:spcPts val="600"/>
              </a:spcAft>
              <a:defRPr sz="1000"/>
            </a:pPr>
            <a:r>
              <a:rPr b="1" sz="1000">
                <a:solidFill>
                  <a:srgbClr val="1B3B6F"/>
                </a:solidFill>
              </a:rPr>
              <a:t>2026: </a:t>
            </a:r>
            <a:r>
              <a:rPr sz="1000">
                <a:solidFill>
                  <a:srgbClr val="374151"/>
                </a:solidFill>
              </a:rPr>
              <a:t>68.010 Peminat | 10.435 Kuota | 8.440 DU | 1.995 Kosong (Fill 80,9%)</a:t>
            </a:r>
          </a:p>
          <a:p>
            <a:pPr>
              <a:spcAft>
                <a:spcPts val="300"/>
              </a:spcAft>
              <a:defRPr sz="1000"/>
            </a:pPr>
            <a:r>
              <a:rPr b="1" sz="1000">
                <a:solidFill>
                  <a:srgbClr val="B91C1C"/>
                </a:solidFill>
              </a:rPr>
              <a:t>Kesimpulan Audit: </a:t>
            </a:r>
            <a:r>
              <a:rPr sz="1000">
                <a:solidFill>
                  <a:srgbClr val="374151"/>
                </a:solidFill>
              </a:rPr>
              <a:t>USK tidak kekurangan peminat, melainkan over-ekspansi kuota pada program studi yang salah.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6588760"/>
            <a:ext cx="7315200" cy="218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800" b="1">
                <a:solidFill>
                  <a:srgbClr val="C9A84C"/>
                </a:solidFill>
              </a:defRPr>
            </a:pPr>
            <a:r>
              <a:t>UNIVERSITAS SYIAH KUALA  |  RAPAT PIMPINAN PMB  |  ANALISA PEMINATAN &amp; DAYA TAMPUNG 2022–2026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588760"/>
            <a:ext cx="1371600" cy="218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 b="1">
                <a:solidFill>
                  <a:srgbClr val="F5F0E8"/>
                </a:solidFill>
              </a:defRPr>
            </a:pPr>
            <a:r>
              <a:t>4 / 24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C9A84C"/>
                </a:solidFill>
              </a:defRPr>
            </a:pPr>
            <a:r>
              <a:t>UNIVERSITAS SYIAH KUALA  |  RAPAT PIMPINAN PMB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D1F3C"/>
                </a:solidFill>
              </a:defRPr>
            </a:pPr>
            <a:r>
              <a:t>Peta Keketatan Seleksi 2026: Disparitas Rasio 39:1 vs Peminat di Bawah Kuota</a:t>
            </a:r>
          </a:p>
          <a:p>
            <a:pPr>
              <a:spcBef>
                <a:spcPts val="200"/>
              </a:spcBef>
              <a:defRPr sz="1100">
                <a:solidFill>
                  <a:srgbClr val="64748B"/>
                </a:solidFill>
              </a:defRPr>
            </a:pPr>
            <a:r>
              <a:t>Polarisasi Ekstrem Antara Program Studi Favorit Industri vs Rumpun Ilmu Dasar &amp; Maritim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0728655" cy="190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4_rasio_keketatan_peminatan_vs_daya_tampu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08760"/>
            <a:ext cx="7315200" cy="3388093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4983480"/>
            <a:ext cx="7315200" cy="12801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37160" bIns="137160"/>
          <a:lstStyle/>
          <a:p>
            <a:pPr algn="ctr">
              <a:spcAft>
                <a:spcPts val="300"/>
              </a:spcAft>
              <a:defRPr b="1" sz="1050">
                <a:solidFill>
                  <a:srgbClr val="E65100"/>
                </a:solidFill>
              </a:defRPr>
            </a:pPr>
            <a:r>
              <a:t>DISPARITAS PASAR EKSTREM: JURANG SELEKSI HINGGA 43× LIPAT</a:t>
            </a:r>
          </a:p>
          <a:p>
            <a:pPr>
              <a:defRPr sz="900">
                <a:solidFill>
                  <a:srgbClr val="374151"/>
                </a:solidFill>
              </a:defRPr>
            </a:pPr>
            <a:r>
              <a:t>• Top Favorit (Farmasi 39,2:1, Akuntansi Pajak 22,4:1, Informatika 18,1:1) menghadapi persaingan sangat ketat.</a:t>
            </a:r>
            <a:br/>
            <a:r>
              <a:t>• Rumpun Rentan (Budidaya Perairan 0,91:1) justru mengalami defisit pendaftar — kuota lebih banyak dari peminat!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75320" y="1508760"/>
            <a:ext cx="3182112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37160" bIns="137160"/>
          <a:lstStyle/>
          <a:p>
            <a:pPr algn="ctr">
              <a:spcAft>
                <a:spcPts val="800"/>
              </a:spcAft>
              <a:defRPr b="1" sz="1300">
                <a:solidFill>
                  <a:srgbClr val="166534"/>
                </a:solidFill>
              </a:defRPr>
            </a:pPr>
            <a:r>
              <a:t>TOP 8 PALING FAVORIT:</a:t>
            </a:r>
          </a:p>
          <a:p>
            <a:pPr>
              <a:spcAft>
                <a:spcPts val="800"/>
              </a:spcAft>
              <a:defRPr sz="950"/>
            </a:pPr>
            <a:r>
              <a:rPr sz="950">
                <a:solidFill>
                  <a:srgbClr val="374151"/>
                </a:solidFill>
              </a:rPr>
              <a:t>1. Farmasi (39,18:1)
2. D4 Akuntansi Pajak (22,43:1)
3. Informatika (18,12:1)
4. Psikologi (17,31:1)
5. T. Perminyakan (15,50:1)
6. T. Pertambangan (14,46:1)
7. Manajemen (14,12:1)
8. Bisnis Digital (12,79:1)</a:t>
            </a:r>
          </a:p>
          <a:p>
            <a:pPr algn="ctr">
              <a:spcAft>
                <a:spcPts val="500"/>
              </a:spcAft>
              <a:defRPr sz="800">
                <a:solidFill>
                  <a:srgbClr val="C9A84C"/>
                </a:solidFill>
              </a:defRPr>
            </a:pPr>
            <a:r>
              <a:t>─────── vs ───────</a:t>
            </a:r>
          </a:p>
          <a:p>
            <a:pPr>
              <a:spcAft>
                <a:spcPts val="500"/>
              </a:spcAft>
              <a:defRPr b="1" sz="1200">
                <a:solidFill>
                  <a:srgbClr val="C0392B"/>
                </a:solidFill>
              </a:defRPr>
            </a:pPr>
            <a:r>
              <a:t>TOP 8 PALING RENTAN:</a:t>
            </a:r>
          </a:p>
          <a:p>
            <a:pPr>
              <a:spcAft>
                <a:spcPts val="300"/>
              </a:spcAft>
              <a:defRPr sz="950"/>
            </a:pPr>
            <a:r>
              <a:rPr sz="950">
                <a:solidFill>
                  <a:srgbClr val="374151"/>
                </a:solidFill>
              </a:rPr>
              <a:t>1. Budidaya Perairan (0,91:1 — MINUS!)
2. PSP Perikanan (1,08:1)
3. Fisika (1,18:1)
4. Pend. Fisika (1,29:1)
5. Proteksi Tanaman (1,31:1)
6. Ilmu Tanah (1,35:1)
7. Pend. Kimia (1,52:1)
8. Pend. Geografi (1,56:1)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6588760"/>
            <a:ext cx="7315200" cy="218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800" b="1">
                <a:solidFill>
                  <a:srgbClr val="C9A84C"/>
                </a:solidFill>
              </a:defRPr>
            </a:pPr>
            <a:r>
              <a:t>UNIVERSITAS SYIAH KUALA  |  RAPAT PIMPINAN PMB  |  ANALISA PEMINATAN &amp; DAYA TAMPUNG 2022–2026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588760"/>
            <a:ext cx="1371600" cy="218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 b="1">
                <a:solidFill>
                  <a:srgbClr val="F5F0E8"/>
                </a:solidFill>
              </a:defRPr>
            </a:pPr>
            <a:r>
              <a:t>5 / 24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C9A84C"/>
                </a:solidFill>
              </a:defRPr>
            </a:pPr>
            <a:r>
              <a:t>UNIVERSITAS SYIAH KUALA  |  RAPAT PIMPINAN PMB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D1F3C"/>
                </a:solidFill>
              </a:defRPr>
            </a:pPr>
            <a:r>
              <a:t>Benchmark Keketatan 5 Tahun (2022–2026): Eliminasi Bias Anomali Tahunan</a:t>
            </a:r>
          </a:p>
          <a:p>
            <a:pPr>
              <a:spcBef>
                <a:spcPts val="200"/>
              </a:spcBef>
              <a:defRPr sz="1100">
                <a:solidFill>
                  <a:srgbClr val="64748B"/>
                </a:solidFill>
              </a:defRPr>
            </a:pPr>
            <a:r>
              <a:t>Polarisasi minat bukan fenomena insidental — ini ketimpangan preferensi struktural selama setengah dekade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0728655" cy="190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12_tren_keketatan_seleksi_5_tahun_2022_20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08760"/>
            <a:ext cx="7315200" cy="36576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5257800"/>
            <a:ext cx="7315200" cy="10058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37160" bIns="137160"/>
          <a:lstStyle/>
          <a:p>
            <a:pPr algn="ctr">
              <a:spcAft>
                <a:spcPts val="300"/>
              </a:spcAft>
              <a:defRPr b="1" sz="1050">
                <a:solidFill>
                  <a:srgbClr val="B91C1C"/>
                </a:solidFill>
              </a:defRPr>
            </a:pPr>
            <a:r>
              <a:t>TEMUAN BENCHMARK 5 TAHUN: KEGAGALAN PASAR KRONIS PERMANEN</a:t>
            </a:r>
          </a:p>
          <a:p>
            <a:pPr>
              <a:defRPr sz="900">
                <a:solidFill>
                  <a:srgbClr val="374151"/>
                </a:solidFill>
              </a:defRPr>
            </a:pPr>
            <a:r>
              <a:t>• Fisika (0,85:1) &amp; Budidaya Perairan (1,01:1) selama 5 tahun berturut-turut mencatat rasio di bawah atau setara 1:1.</a:t>
            </a:r>
            <a:br/>
            <a:r>
              <a:t>• Tanpa seleksi pun pendaftar tidak mencukupi kuota. Kebijakan menambah daya tampung di prodi ini terbukti kontra-produktif.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75320" y="1508760"/>
            <a:ext cx="3182112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37160" bIns="137160"/>
          <a:lstStyle/>
          <a:p>
            <a:pPr algn="ctr">
              <a:spcAft>
                <a:spcPts val="800"/>
              </a:spcAft>
              <a:defRPr b="1" sz="1300">
                <a:solidFill>
                  <a:srgbClr val="1B3B6F"/>
                </a:solidFill>
              </a:defRPr>
            </a:pPr>
            <a:r>
              <a:t>RATA-RATA 5 TAHUN:</a:t>
            </a:r>
          </a:p>
          <a:p>
            <a:pPr>
              <a:spcAft>
                <a:spcPts val="800"/>
              </a:spcAft>
              <a:defRPr sz="1000"/>
            </a:pPr>
            <a:r>
              <a:rPr b="1" sz="1000">
                <a:solidFill>
                  <a:srgbClr val="166534"/>
                </a:solidFill>
              </a:rPr>
              <a:t>Top 5 Favorit: </a:t>
            </a:r>
            <a:r>
              <a:rPr sz="1000">
                <a:solidFill>
                  <a:srgbClr val="374151"/>
                </a:solidFill>
              </a:rPr>
              <a:t>Farmasi (44,1:1), Informatika (21,5:1), Psikologi (17,3:1), P. Dokter Gigi (17,2:1), Akuntansi Pajak (14,2:1)</a:t>
            </a:r>
          </a:p>
          <a:p>
            <a:pPr>
              <a:spcAft>
                <a:spcPts val="800"/>
              </a:spcAft>
              <a:defRPr sz="1000"/>
            </a:pPr>
            <a:r>
              <a:rPr b="1" sz="1000">
                <a:solidFill>
                  <a:srgbClr val="C0392B"/>
                </a:solidFill>
              </a:rPr>
              <a:t>Bottom 5 Sepi: </a:t>
            </a:r>
            <a:r>
              <a:rPr sz="1000">
                <a:solidFill>
                  <a:srgbClr val="374151"/>
                </a:solidFill>
              </a:rPr>
              <a:t>Fisika (0,85:1), Budidaya Perairan (1,01:1), PSP Perikanan (1,13:1), Pend. Fisika (1,31:1), Proteksi Tanaman (1,40:1)</a:t>
            </a:r>
          </a:p>
          <a:p>
            <a:pPr>
              <a:spcAft>
                <a:spcPts val="300"/>
              </a:spcAft>
              <a:defRPr sz="1000"/>
            </a:pPr>
            <a:r>
              <a:rPr b="1" sz="1000">
                <a:solidFill>
                  <a:srgbClr val="E65100"/>
                </a:solidFill>
              </a:rPr>
              <a:t>Aksi Rekomendasi: </a:t>
            </a:r>
            <a:r>
              <a:rPr sz="1000">
                <a:solidFill>
                  <a:srgbClr val="374151"/>
                </a:solidFill>
              </a:rPr>
              <a:t>Hentikan alokasi kuota berbasis kebiasaan historis; pangkas kuota Fisika &amp; BDP minimal 35–40%.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6588760"/>
            <a:ext cx="7315200" cy="218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800" b="1">
                <a:solidFill>
                  <a:srgbClr val="C9A84C"/>
                </a:solidFill>
              </a:defRPr>
            </a:pPr>
            <a:r>
              <a:t>UNIVERSITAS SYIAH KUALA  |  RAPAT PIMPINAN PMB  |  ANALISA PEMINATAN &amp; DAYA TAMPUNG 2022–2026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588760"/>
            <a:ext cx="1371600" cy="218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 b="1">
                <a:solidFill>
                  <a:srgbClr val="F5F0E8"/>
                </a:solidFill>
              </a:defRPr>
            </a:pPr>
            <a:r>
              <a:t>6 / 24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C9A84C"/>
                </a:solidFill>
              </a:defRPr>
            </a:pPr>
            <a:r>
              <a:t>UNIVERSITAS SYIAH KUALA  |  RAPAT PIMPINAN PMB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D1F3C"/>
                </a:solidFill>
              </a:defRPr>
            </a:pPr>
            <a:r>
              <a:t>Bintang Pertumbuhan vs Sinyal Waspada: Analisis Slope OLS &amp; CAGR Multi-Tahun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0728655" cy="190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2_top_tren_peningkatan_pendaftar_dan_pemin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08760"/>
            <a:ext cx="5257800" cy="3023235"/>
          </a:xfrm>
          <a:prstGeom prst="rect">
            <a:avLst/>
          </a:prstGeom>
        </p:spPr>
      </p:pic>
      <p:pic>
        <p:nvPicPr>
          <p:cNvPr id="6" name="Picture 5" descr="03_top_tren_penurunan_pendaftar_dan_pemina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9632" y="1508760"/>
            <a:ext cx="5257800" cy="3023235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4617720"/>
            <a:ext cx="5257800" cy="1874519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37160" bIns="137160"/>
          <a:lstStyle/>
          <a:p>
            <a:pPr algn="ctr">
              <a:spcAft>
                <a:spcPts val="800"/>
              </a:spcAft>
              <a:defRPr b="1" sz="1050">
                <a:solidFill>
                  <a:srgbClr val="166534"/>
                </a:solidFill>
              </a:defRPr>
            </a:pPr>
            <a:r>
              <a:t>🟢 BINTANG PERTUMBUHAN (OLS POSITIF)</a:t>
            </a:r>
          </a:p>
          <a:p>
            <a:pPr>
              <a:spcAft>
                <a:spcPts val="200"/>
              </a:spcAft>
              <a:defRPr sz="950"/>
            </a:pPr>
            <a:r>
              <a:rPr b="1" sz="950">
                <a:solidFill>
                  <a:srgbClr val="1B3B6F"/>
                </a:solidFill>
              </a:rPr>
              <a:t>1. Keperawatan: </a:t>
            </a:r>
            <a:r>
              <a:rPr sz="950">
                <a:solidFill>
                  <a:srgbClr val="374151"/>
                </a:solidFill>
              </a:rPr>
              <a:t>+38,4 mhs/thn (CAGR +23,5%). Pasar ners global Jepang/Jerman.</a:t>
            </a:r>
          </a:p>
          <a:p>
            <a:pPr>
              <a:spcAft>
                <a:spcPts val="200"/>
              </a:spcAft>
              <a:defRPr sz="950"/>
            </a:pPr>
            <a:r>
              <a:rPr b="1" sz="950">
                <a:solidFill>
                  <a:srgbClr val="1B3B6F"/>
                </a:solidFill>
              </a:rPr>
              <a:t>2. PGSD: </a:t>
            </a:r>
            <a:r>
              <a:rPr sz="950">
                <a:solidFill>
                  <a:srgbClr val="374151"/>
                </a:solidFill>
              </a:rPr>
              <a:t>+27,4 mhs/thn (CAGR +19,9%). 4 thn beruntun naik! Formasi PPPK daerah.</a:t>
            </a:r>
          </a:p>
          <a:p>
            <a:pPr>
              <a:spcAft>
                <a:spcPts val="100"/>
              </a:spcAft>
              <a:defRPr sz="950"/>
            </a:pPr>
            <a:r>
              <a:rPr b="1" sz="950">
                <a:solidFill>
                  <a:srgbClr val="E65100"/>
                </a:solidFill>
              </a:rPr>
              <a:t>Rekor R² Sempurna: </a:t>
            </a:r>
            <a:r>
              <a:rPr sz="950">
                <a:solidFill>
                  <a:srgbClr val="374151"/>
                </a:solidFill>
              </a:rPr>
              <a:t>PGSD, Kehutanan, Pend. Geografi, PPKn — 4 thn berturut naik tanpa pernah turun.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9632" y="4617720"/>
            <a:ext cx="5257800" cy="1874519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37160" bIns="137160"/>
          <a:lstStyle/>
          <a:p>
            <a:pPr algn="ctr">
              <a:spcAft>
                <a:spcPts val="800"/>
              </a:spcAft>
              <a:defRPr b="1" sz="1050">
                <a:solidFill>
                  <a:srgbClr val="B91C1C"/>
                </a:solidFill>
              </a:defRPr>
            </a:pPr>
            <a:r>
              <a:t>🔴 SINYAL WASPADA (OLS NEGATIF / ZERO REBOUND)</a:t>
            </a:r>
          </a:p>
          <a:p>
            <a:pPr>
              <a:spcAft>
                <a:spcPts val="200"/>
              </a:spcAft>
              <a:defRPr sz="950"/>
            </a:pPr>
            <a:r>
              <a:rPr b="1" sz="950">
                <a:solidFill>
                  <a:srgbClr val="1B3B6F"/>
                </a:solidFill>
              </a:rPr>
              <a:t>1. Manajemen FEB: </a:t>
            </a:r>
            <a:r>
              <a:rPr sz="950">
                <a:solidFill>
                  <a:srgbClr val="374151"/>
                </a:solidFill>
              </a:rPr>
              <a:t>-16,2 mhs/thn. Zero rebound! Terkanibalisasi Bisnis Digital.</a:t>
            </a:r>
          </a:p>
          <a:p>
            <a:pPr>
              <a:spcAft>
                <a:spcPts val="200"/>
              </a:spcAft>
              <a:defRPr sz="950"/>
            </a:pPr>
            <a:r>
              <a:rPr b="1" sz="950">
                <a:solidFill>
                  <a:srgbClr val="1B3B6F"/>
                </a:solidFill>
              </a:rPr>
              <a:t>2. Ekonomi Islam &amp; Pembangunan: </a:t>
            </a:r>
            <a:r>
              <a:rPr sz="950">
                <a:solidFill>
                  <a:srgbClr val="374151"/>
                </a:solidFill>
              </a:rPr>
              <a:t>-9,3 dan -6,4 mhs/thn. Anomali di daerah bersyariat.</a:t>
            </a:r>
          </a:p>
          <a:p>
            <a:pPr>
              <a:spcAft>
                <a:spcPts val="100"/>
              </a:spcAft>
              <a:defRPr sz="950"/>
            </a:pPr>
            <a:r>
              <a:rPr b="1" sz="950">
                <a:solidFill>
                  <a:srgbClr val="B91C1C"/>
                </a:solidFill>
              </a:rPr>
              <a:t>Aksi Strategis: </a:t>
            </a:r>
            <a:r>
              <a:rPr sz="950">
                <a:solidFill>
                  <a:srgbClr val="374151"/>
                </a:solidFill>
              </a:rPr>
              <a:t>Restrukturisasi kurikulum FEB ke arah Fintech &amp; Business Analytics.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588760"/>
            <a:ext cx="7315200" cy="218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800" b="1">
                <a:solidFill>
                  <a:srgbClr val="C9A84C"/>
                </a:solidFill>
              </a:defRPr>
            </a:pPr>
            <a:r>
              <a:t>UNIVERSITAS SYIAH KUALA  |  RAPAT PIMPINAN PMB  |  ANALISA PEMINATAN &amp; DAYA TAMPUNG 2022–2026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588760"/>
            <a:ext cx="1371600" cy="218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 b="1">
                <a:solidFill>
                  <a:srgbClr val="F5F0E8"/>
                </a:solidFill>
              </a:defRPr>
            </a:pPr>
            <a:r>
              <a:t>7 / 24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C9A84C"/>
                </a:solidFill>
              </a:defRPr>
            </a:pPr>
            <a:r>
              <a:t>UNIVERSITAS SYIAH KUALA  |  RAPAT PIMPINAN PMB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D1F3C"/>
                </a:solidFill>
              </a:defRPr>
            </a:pPr>
            <a:r>
              <a:t>Eksplorasi Kausalitas Lapangan: Fakta Data Empiris vs Temuan Desk Research</a:t>
            </a:r>
          </a:p>
          <a:p>
            <a:pPr>
              <a:spcBef>
                <a:spcPts val="200"/>
              </a:spcBef>
              <a:defRPr sz="1100">
                <a:solidFill>
                  <a:srgbClr val="64748B"/>
                </a:solidFill>
              </a:defRPr>
            </a:pPr>
            <a:r>
              <a:t>Memisahkan bukti terukur dari analisis penyebab kontekstual (pasar kerja, regulasi, biaya)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0728655" cy="190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5257800" cy="470916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37160" bIns="137160"/>
          <a:lstStyle/>
          <a:p>
            <a:pPr algn="ctr">
              <a:spcAft>
                <a:spcPts val="800"/>
              </a:spcAft>
              <a:defRPr b="1" sz="1100">
                <a:solidFill>
                  <a:srgbClr val="166534"/>
                </a:solidFill>
              </a:defRPr>
            </a:pPr>
            <a:r>
              <a:t>FAKTOR PENDORONG PRODI TUMBUH TINGGI (DEMAND SURGE)</a:t>
            </a:r>
          </a:p>
          <a:p>
            <a:pPr>
              <a:spcAft>
                <a:spcPts val="300"/>
              </a:spcAft>
              <a:defRPr sz="919"/>
            </a:pPr>
            <a:r>
              <a:rPr b="1" sz="919">
                <a:solidFill>
                  <a:srgbClr val="1B3B6F"/>
                </a:solidFill>
              </a:rPr>
              <a:t>Keperawatan (+132%, 127→295 mhs): </a:t>
            </a:r>
            <a:r>
              <a:rPr sz="919">
                <a:solidFill>
                  <a:srgbClr val="374151"/>
                </a:solidFill>
              </a:rPr>
              <a:t>Program G-to-G ners ke Jepang &amp; Jerman dengan gaji tinggi. Kuota dinaikkan karena pasar menyerap habis 100%.</a:t>
            </a:r>
          </a:p>
          <a:p>
            <a:pPr>
              <a:spcAft>
                <a:spcPts val="300"/>
              </a:spcAft>
              <a:defRPr sz="919"/>
            </a:pPr>
            <a:r>
              <a:rPr b="1" sz="919">
                <a:solidFill>
                  <a:srgbClr val="1B3B6F"/>
                </a:solidFill>
              </a:rPr>
              <a:t>PGSD (+106%, 105→217 mhs): </a:t>
            </a:r>
            <a:r>
              <a:rPr sz="919">
                <a:solidFill>
                  <a:srgbClr val="374151"/>
                </a:solidFill>
              </a:rPr>
              <a:t>Formasi PPPK guru SD daerah di Aceh mencapai ribuan; kepastian karir langsung mendorong lonjakan minat 4 tahun beruntun.</a:t>
            </a:r>
          </a:p>
          <a:p>
            <a:pPr>
              <a:spcAft>
                <a:spcPts val="300"/>
              </a:spcAft>
              <a:defRPr sz="919"/>
            </a:pPr>
            <a:r>
              <a:rPr b="1" sz="919">
                <a:solidFill>
                  <a:srgbClr val="1B3B6F"/>
                </a:solidFill>
              </a:rPr>
              <a:t>Teknik Komputer (+71%, 85→145 mhs): </a:t>
            </a:r>
            <a:r>
              <a:rPr sz="919">
                <a:solidFill>
                  <a:srgbClr val="374151"/>
                </a:solidFill>
              </a:rPr>
              <a:t>Megatren kecerdasan buatan (AI), IoT, cloud engineering, &amp; otomatisasi industri menarik minat pelamar saintek.</a:t>
            </a:r>
          </a:p>
          <a:p>
            <a:pPr>
              <a:spcAft>
                <a:spcPts val="300"/>
              </a:spcAft>
              <a:defRPr sz="919"/>
            </a:pPr>
            <a:r>
              <a:rPr b="1" sz="919">
                <a:solidFill>
                  <a:srgbClr val="1B3B6F"/>
                </a:solidFill>
              </a:rPr>
              <a:t>Kehutanan (+92%, 103→198 mhs): </a:t>
            </a:r>
            <a:r>
              <a:rPr sz="919">
                <a:solidFill>
                  <a:srgbClr val="374151"/>
                </a:solidFill>
              </a:rPr>
              <a:t>Peluang karir baru di sektor ESG, sertifikasi bursa karbon Ekosistem Leuser, dan valuasi jasa lingkungan global.</a:t>
            </a:r>
          </a:p>
          <a:p>
            <a:pPr>
              <a:spcAft>
                <a:spcPts val="500"/>
              </a:spcAft>
              <a:defRPr sz="919"/>
            </a:pPr>
            <a:r>
              <a:rPr b="1" sz="919">
                <a:solidFill>
                  <a:srgbClr val="1B3B6F"/>
                </a:solidFill>
              </a:rPr>
              <a:t>Teknik Sipil (+64%, 154→252 mhs): </a:t>
            </a:r>
            <a:r>
              <a:rPr sz="919">
                <a:solidFill>
                  <a:srgbClr val="374151"/>
                </a:solidFill>
              </a:rPr>
              <a:t>Penyerapan masif proyek infrastruktur strategis Aceh, konektivitas tol, dan rehabilitasi pasca-PON XXI.</a:t>
            </a:r>
          </a:p>
          <a:p>
            <a:pPr>
              <a:spcAft>
                <a:spcPts val="100"/>
              </a:spcAft>
              <a:defRPr sz="919"/>
            </a:pPr>
            <a:r>
              <a:rPr b="1" sz="919">
                <a:solidFill>
                  <a:srgbClr val="166534"/>
                </a:solidFill>
              </a:rPr>
              <a:t>📌 KESIMPULAN: </a:t>
            </a:r>
            <a:r>
              <a:rPr sz="919">
                <a:solidFill>
                  <a:srgbClr val="166534"/>
                </a:solidFill>
              </a:rPr>
              <a:t>Prodi tumbuh karena relevansi langsung dengan kebutuhan pasar kerja, regulasi formasi ASN, &amp; standar global.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99632" y="1508760"/>
            <a:ext cx="5257800" cy="470916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37160" bIns="137160"/>
          <a:lstStyle/>
          <a:p>
            <a:pPr algn="ctr">
              <a:spcAft>
                <a:spcPts val="800"/>
              </a:spcAft>
              <a:defRPr b="1" sz="1100">
                <a:solidFill>
                  <a:srgbClr val="B91C1C"/>
                </a:solidFill>
              </a:defRPr>
            </a:pPr>
            <a:r>
              <a:t>AKAR PENYEBAB PRODI MENURUN / BOCOR (DEFICIT DRIVERS)</a:t>
            </a:r>
          </a:p>
          <a:p>
            <a:pPr>
              <a:spcAft>
                <a:spcPts val="300"/>
              </a:spcAft>
              <a:defRPr sz="919"/>
            </a:pPr>
            <a:r>
              <a:rPr b="1" sz="919">
                <a:solidFill>
                  <a:srgbClr val="1B3B6F"/>
                </a:solidFill>
              </a:rPr>
              <a:t>Manajemen FEB (-25%, 266→199 mhs): </a:t>
            </a:r>
            <a:r>
              <a:rPr sz="919">
                <a:solidFill>
                  <a:srgbClr val="374151"/>
                </a:solidFill>
              </a:rPr>
              <a:t>Kanibalisasi internal masif oleh S1 Bisnis Digital (baru 2024, sedot 800+ peminat) ditambah saturasi lulusan PTS.</a:t>
            </a:r>
          </a:p>
          <a:p>
            <a:pPr>
              <a:spcAft>
                <a:spcPts val="300"/>
              </a:spcAft>
              <a:defRPr sz="919"/>
            </a:pPr>
            <a:r>
              <a:rPr b="1" sz="919">
                <a:solidFill>
                  <a:srgbClr val="1B3B6F"/>
                </a:solidFill>
              </a:rPr>
              <a:t>Ekonomi Pembangunan &amp; Islam (-20% s.d. -26%): </a:t>
            </a:r>
            <a:r>
              <a:rPr sz="919">
                <a:solidFill>
                  <a:srgbClr val="374151"/>
                </a:solidFill>
              </a:rPr>
              <a:t>Kurikulum teori konvensional belum adaptif terhadap revolusi Fintech, Islamic Digital Banking, &amp; data analytics.</a:t>
            </a:r>
          </a:p>
          <a:p>
            <a:pPr>
              <a:spcAft>
                <a:spcPts val="300"/>
              </a:spcAft>
              <a:defRPr sz="919"/>
            </a:pPr>
            <a:r>
              <a:rPr b="1" sz="919">
                <a:solidFill>
                  <a:srgbClr val="1B3B6F"/>
                </a:solidFill>
              </a:rPr>
              <a:t>Budidaya Perairan &amp; Fisika (Krisis Peminat): </a:t>
            </a:r>
            <a:r>
              <a:rPr sz="919">
                <a:solidFill>
                  <a:srgbClr val="374151"/>
                </a:solidFill>
              </a:rPr>
              <a:t>Persepsi minimnya lapangan kerja formal. Generasi Z menghindari sains murni teoritis tanpa applied skills.</a:t>
            </a:r>
          </a:p>
          <a:p>
            <a:pPr>
              <a:spcAft>
                <a:spcPts val="300"/>
              </a:spcAft>
              <a:defRPr sz="919"/>
            </a:pPr>
            <a:r>
              <a:rPr b="1" sz="919">
                <a:solidFill>
                  <a:srgbClr val="1B3B6F"/>
                </a:solidFill>
              </a:rPr>
              <a:t>Jalur Mandiri SMMPTN (25% Gugur): </a:t>
            </a:r>
            <a:r>
              <a:rPr sz="919">
                <a:solidFill>
                  <a:srgbClr val="374151"/>
                </a:solidFill>
              </a:rPr>
              <a:t>SK Rektor 1162/2026 mewajibkan IPI Rp10–35 jt lunas dalam 5 hari kerja, memicu liquidity shock bagi orang tua.</a:t>
            </a:r>
          </a:p>
          <a:p>
            <a:pPr>
              <a:spcAft>
                <a:spcPts val="500"/>
              </a:spcAft>
              <a:defRPr sz="919"/>
            </a:pPr>
            <a:r>
              <a:rPr b="1" sz="919">
                <a:solidFill>
                  <a:srgbClr val="1B3B6F"/>
                </a:solidFill>
              </a:rPr>
              <a:t>Jalur TALENTA (75% Kabur / 935 Gugur): </a:t>
            </a:r>
            <a:r>
              <a:rPr sz="919">
                <a:solidFill>
                  <a:srgbClr val="374151"/>
                </a:solidFill>
              </a:rPr>
              <a:t>Pendaftaran gratis tanpa commitment fee; dijadikan cadangan spekulatif sebelum siswa kabur ke pengumuman UTBK.</a:t>
            </a:r>
          </a:p>
          <a:p>
            <a:pPr>
              <a:spcAft>
                <a:spcPts val="100"/>
              </a:spcAft>
              <a:defRPr sz="919"/>
            </a:pPr>
            <a:r>
              <a:rPr b="1" sz="919">
                <a:solidFill>
                  <a:srgbClr val="B91C1C"/>
                </a:solidFill>
              </a:rPr>
              <a:t>📌 KESIMPULAN: </a:t>
            </a:r>
            <a:r>
              <a:rPr sz="919">
                <a:solidFill>
                  <a:srgbClr val="B91C1C"/>
                </a:solidFill>
              </a:rPr>
              <a:t>Penurunan dipicu kanibalisasi internal tanpa penyesuaian kuota, kurikulum usang, &amp; friksi skema pembayaran IPI.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588760"/>
            <a:ext cx="7315200" cy="218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800" b="1">
                <a:solidFill>
                  <a:srgbClr val="C9A84C"/>
                </a:solidFill>
              </a:defRPr>
            </a:pPr>
            <a:r>
              <a:t>UNIVERSITAS SYIAH KUALA  |  RAPAT PIMPINAN PMB  |  ANALISA PEMINATAN &amp; DAYA TAMPUNG 2022–2026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588760"/>
            <a:ext cx="1371600" cy="218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 b="1">
                <a:solidFill>
                  <a:srgbClr val="F5F0E8"/>
                </a:solidFill>
              </a:defRPr>
            </a:pPr>
            <a:r>
              <a:t>8 / 24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C9A84C"/>
                </a:solidFill>
              </a:defRPr>
            </a:pPr>
            <a:r>
              <a:t>UNIVERSITAS SYIAH KUALA  |  RAPAT PIMPINAN PMB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D1F3C"/>
                </a:solidFill>
              </a:defRPr>
            </a:pPr>
            <a:r>
              <a:t>Fenomena Over-Ekspansi Kuota &amp; Marginal Fill Rate (MFR)</a:t>
            </a:r>
          </a:p>
          <a:p>
            <a:pPr>
              <a:spcBef>
                <a:spcPts val="200"/>
              </a:spcBef>
              <a:defRPr sz="1100">
                <a:solidFill>
                  <a:srgbClr val="64748B"/>
                </a:solidFill>
              </a:defRPr>
            </a:pPr>
            <a:r>
              <a:t>Menambah daya tampung TIDAK otomatis menambah mahasiswa — bukti inefisiensi alokasi kuota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0728655" cy="190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5_over_ekspansi_kuota_vs_daftar_ulang_ri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08760"/>
            <a:ext cx="7132320" cy="43179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092440" y="1508760"/>
            <a:ext cx="3364992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37160" bIns="137160"/>
          <a:lstStyle/>
          <a:p>
            <a:pPr algn="ctr">
              <a:spcAft>
                <a:spcPts val="800"/>
              </a:spcAft>
              <a:defRPr b="1" sz="1300">
                <a:solidFill>
                  <a:srgbClr val="1B3B6F"/>
                </a:solidFill>
              </a:defRPr>
            </a:pPr>
            <a:r>
              <a:t>"THE BIG FOUR" OVER-EKSPANSI:</a:t>
            </a:r>
          </a:p>
          <a:p>
            <a:pPr>
              <a:spcAft>
                <a:spcPts val="800"/>
              </a:spcAft>
              <a:defRPr sz="1000"/>
            </a:pPr>
            <a:r>
              <a:rPr b="1" sz="1000">
                <a:solidFill>
                  <a:srgbClr val="1B3B6F"/>
                </a:solidFill>
              </a:rPr>
              <a:t>Formulasi: </a:t>
            </a:r>
            <a:r>
              <a:rPr sz="1000">
                <a:solidFill>
                  <a:srgbClr val="374151"/>
                </a:solidFill>
              </a:rPr>
              <a:t>MFR = ΔDaftar Ulang / ΔDaya Tampung
(Benchmark: MFR ≥ 0,80 = sehat)</a:t>
            </a:r>
          </a:p>
          <a:p>
            <a:pPr>
              <a:spcAft>
                <a:spcPts val="500"/>
              </a:spcAft>
              <a:defRPr sz="1000"/>
            </a:pPr>
            <a:r>
              <a:rPr b="1" sz="1000">
                <a:solidFill>
                  <a:srgbClr val="1B3B6F"/>
                </a:solidFill>
              </a:rPr>
              <a:t>Budidaya Perairan: </a:t>
            </a:r>
            <a:r>
              <a:rPr sz="1000">
                <a:solidFill>
                  <a:srgbClr val="374151"/>
                </a:solidFill>
              </a:rPr>
              <a:t>Kuota 160, DU macet 90 → MFR 0,00 (GAGAL TOTAL). 70 Kursi Kosong.</a:t>
            </a:r>
          </a:p>
          <a:p>
            <a:pPr>
              <a:spcAft>
                <a:spcPts val="500"/>
              </a:spcAft>
              <a:defRPr sz="1000"/>
            </a:pPr>
            <a:r>
              <a:rPr b="1" sz="1000">
                <a:solidFill>
                  <a:srgbClr val="1B3B6F"/>
                </a:solidFill>
              </a:rPr>
              <a:t>THP Pertanian: </a:t>
            </a:r>
            <a:r>
              <a:rPr sz="1000">
                <a:solidFill>
                  <a:srgbClr val="374151"/>
                </a:solidFill>
              </a:rPr>
              <a:t>Kuota 2x lipat (80→160), DU +50 → MFR 0,62. 58 Kursi Kosong.</a:t>
            </a:r>
          </a:p>
          <a:p>
            <a:pPr>
              <a:spcAft>
                <a:spcPts val="500"/>
              </a:spcAft>
              <a:defRPr sz="1000"/>
            </a:pPr>
            <a:r>
              <a:rPr b="1" sz="1000">
                <a:solidFill>
                  <a:srgbClr val="1B3B6F"/>
                </a:solidFill>
              </a:rPr>
              <a:t>Pend. Ekonomi: </a:t>
            </a:r>
            <a:r>
              <a:rPr sz="1000">
                <a:solidFill>
                  <a:srgbClr val="374151"/>
                </a:solidFill>
              </a:rPr>
              <a:t>Kuota +60 kursi, DU hanya +24 → MFR 0,40. 57 Kursi Kosong.</a:t>
            </a:r>
          </a:p>
          <a:p>
            <a:pPr>
              <a:spcAft>
                <a:spcPts val="800"/>
              </a:spcAft>
              <a:defRPr sz="1000"/>
            </a:pPr>
            <a:r>
              <a:rPr b="1" sz="1000">
                <a:solidFill>
                  <a:srgbClr val="1B3B6F"/>
                </a:solidFill>
              </a:rPr>
              <a:t>Teknik Kimia: </a:t>
            </a:r>
            <a:r>
              <a:rPr sz="1000">
                <a:solidFill>
                  <a:srgbClr val="374151"/>
                </a:solidFill>
              </a:rPr>
              <a:t>Kuota +40, DU +24 → MFR 0,60. 60 Kursi Kosong.</a:t>
            </a:r>
          </a:p>
          <a:p>
            <a:pPr>
              <a:spcAft>
                <a:spcPts val="400"/>
              </a:spcAft>
              <a:defRPr sz="1000"/>
            </a:pPr>
            <a:r>
              <a:rPr b="1" sz="1000">
                <a:solidFill>
                  <a:srgbClr val="E65100"/>
                </a:solidFill>
              </a:rPr>
              <a:t>Dampak Rasionalisasi: </a:t>
            </a:r>
            <a:r>
              <a:rPr sz="1000">
                <a:solidFill>
                  <a:srgbClr val="374151"/>
                </a:solidFill>
              </a:rPr>
              <a:t>Merasionalkan 4 prodi ini = hapus 245 bangku kosong semu (25% masalah kursi kosong seluruh USK)!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588760"/>
            <a:ext cx="7315200" cy="218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800" b="1">
                <a:solidFill>
                  <a:srgbClr val="C9A84C"/>
                </a:solidFill>
              </a:defRPr>
            </a:pPr>
            <a:r>
              <a:t>UNIVERSITAS SYIAH KUALA  |  RAPAT PIMPINAN PMB  |  ANALISA PEMINATAN &amp; DAYA TAMPUNG 2022–2026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588760"/>
            <a:ext cx="1371600" cy="218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 b="1">
                <a:solidFill>
                  <a:srgbClr val="F5F0E8"/>
                </a:solidFill>
              </a:defRPr>
            </a:pPr>
            <a:r>
              <a:t>9 / 24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C9A84C"/>
                </a:solidFill>
              </a:defRPr>
            </a:pPr>
            <a:r>
              <a:t>UNIVERSITAS SYIAH KUALA  |  RAPAT PIMPINAN PMB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D1F3C"/>
                </a:solidFill>
              </a:defRPr>
            </a:pPr>
            <a:r>
              <a:t>Matriks 4 Kuadran Portofolio: Snapshot 2026 vs Longitudinal 5 Tahun</a:t>
            </a:r>
          </a:p>
          <a:p>
            <a:pPr>
              <a:spcBef>
                <a:spcPts val="200"/>
              </a:spcBef>
              <a:defRPr sz="1100">
                <a:solidFill>
                  <a:srgbClr val="64748B"/>
                </a:solidFill>
              </a:defRPr>
            </a:pPr>
            <a:r>
              <a:t>Evaluasi Posisi Program Studi Berdasarkan Tingkat Keketatan Seleksi vs Daya Serap Pendaftaran Ulang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0728655" cy="190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10_matriks_4_kuadran_prodi_us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08760"/>
            <a:ext cx="5257800" cy="2519362"/>
          </a:xfrm>
          <a:prstGeom prst="rect">
            <a:avLst/>
          </a:prstGeom>
        </p:spPr>
      </p:pic>
      <p:pic>
        <p:nvPicPr>
          <p:cNvPr id="6" name="Picture 5" descr="13_matriks_4_kuadran_5_tahun_2022_202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9632" y="1508760"/>
            <a:ext cx="5257800" cy="2519362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4114800"/>
            <a:ext cx="2542032" cy="214884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37160" bIns="137160"/>
          <a:lstStyle/>
          <a:p>
            <a:pPr algn="ctr">
              <a:spcAft>
                <a:spcPts val="800"/>
              </a:spcAft>
              <a:defRPr b="1" sz="1100">
                <a:solidFill>
                  <a:srgbClr val="166534"/>
                </a:solidFill>
              </a:defRPr>
            </a:pPr>
            <a:r>
              <a:t>KUADRAN I (31 PRODI)</a:t>
            </a:r>
          </a:p>
          <a:p>
            <a:pPr>
              <a:spcAft>
                <a:spcPts val="300"/>
              </a:spcAft>
              <a:defRPr sz="900"/>
            </a:pPr>
            <a:r>
              <a:rPr b="1" sz="900">
                <a:solidFill>
                  <a:srgbClr val="1B3B6F"/>
                </a:solidFill>
              </a:rPr>
              <a:t>Prima: </a:t>
            </a:r>
            <a:r>
              <a:rPr sz="900">
                <a:solidFill>
                  <a:srgbClr val="374151"/>
                </a:solidFill>
              </a:rPr>
              <a:t>Keketatan ≥ 4,0 &amp; Fill ≥ 80%. Farmasi, Informatika, PGSD, Kedokteran, Hukum.</a:t>
            </a:r>
          </a:p>
          <a:p>
            <a:pPr>
              <a:spcAft>
                <a:spcPts val="200"/>
              </a:spcAft>
              <a:defRPr sz="900"/>
            </a:pPr>
            <a:r>
              <a:rPr b="1" sz="900">
                <a:solidFill>
                  <a:srgbClr val="166534"/>
                </a:solidFill>
              </a:rPr>
              <a:t>Aksi: </a:t>
            </a:r>
            <a:r>
              <a:rPr sz="900">
                <a:solidFill>
                  <a:srgbClr val="374151"/>
                </a:solidFill>
              </a:rPr>
              <a:t>MAINTAIN &amp; INVEST. Buka Kelas Internasional &amp; Fast Track S1-S2.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56432" y="4114800"/>
            <a:ext cx="2542032" cy="214884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37160" bIns="137160"/>
          <a:lstStyle/>
          <a:p>
            <a:pPr algn="ctr">
              <a:spcAft>
                <a:spcPts val="800"/>
              </a:spcAft>
              <a:defRPr b="1" sz="1100">
                <a:solidFill>
                  <a:srgbClr val="1B3B6F"/>
                </a:solidFill>
              </a:defRPr>
            </a:pPr>
            <a:r>
              <a:t>KUADRAN II (6 PRODI)</a:t>
            </a:r>
          </a:p>
          <a:p>
            <a:pPr>
              <a:spcAft>
                <a:spcPts val="300"/>
              </a:spcAft>
              <a:defRPr sz="900"/>
            </a:pPr>
            <a:r>
              <a:rPr b="1" sz="900">
                <a:solidFill>
                  <a:srgbClr val="1B3B6F"/>
                </a:solidFill>
              </a:rPr>
              <a:t>Stabil: </a:t>
            </a:r>
            <a:r>
              <a:rPr sz="900">
                <a:solidFill>
                  <a:srgbClr val="374151"/>
                </a:solidFill>
              </a:rPr>
              <a:t>Keketatan &lt; 4,0 &amp; Fill ≥ 80%. Arsitektur, HI, Pend. Dokter Hewan.</a:t>
            </a:r>
          </a:p>
          <a:p>
            <a:pPr>
              <a:spcAft>
                <a:spcPts val="200"/>
              </a:spcAft>
              <a:defRPr sz="900"/>
            </a:pPr>
            <a:r>
              <a:rPr b="1" sz="900">
                <a:solidFill>
                  <a:srgbClr val="1B3B6F"/>
                </a:solidFill>
              </a:rPr>
              <a:t>Aksi: </a:t>
            </a:r>
            <a:r>
              <a:rPr sz="900">
                <a:solidFill>
                  <a:srgbClr val="374151"/>
                </a:solidFill>
              </a:rPr>
              <a:t>PROTECT &amp; CONTROL. Pertahankan kuota, cegah kanibalisasi peminat.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1344" y="4114800"/>
            <a:ext cx="2542032" cy="214884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37160" bIns="137160"/>
          <a:lstStyle/>
          <a:p>
            <a:pPr algn="ctr">
              <a:spcAft>
                <a:spcPts val="800"/>
              </a:spcAft>
              <a:defRPr b="1" sz="1100">
                <a:solidFill>
                  <a:srgbClr val="C0392B"/>
                </a:solidFill>
              </a:defRPr>
            </a:pPr>
            <a:r>
              <a:t>KUADRAN III (22→26 PRODI)</a:t>
            </a:r>
          </a:p>
          <a:p>
            <a:pPr>
              <a:spcAft>
                <a:spcPts val="300"/>
              </a:spcAft>
              <a:defRPr sz="900"/>
            </a:pPr>
            <a:r>
              <a:rPr b="1" sz="900">
                <a:solidFill>
                  <a:srgbClr val="1B3B6F"/>
                </a:solidFill>
              </a:rPr>
              <a:t>Defisit Kronis: </a:t>
            </a:r>
            <a:r>
              <a:rPr sz="900">
                <a:solidFill>
                  <a:srgbClr val="374151"/>
                </a:solidFill>
              </a:rPr>
              <a:t>Keketatan &lt; 4,0 &amp; Fill &lt; 80%. Budidaya Perairan, Fisika, PSP, THP.</a:t>
            </a:r>
          </a:p>
          <a:p>
            <a:pPr>
              <a:spcAft>
                <a:spcPts val="200"/>
              </a:spcAft>
              <a:defRPr sz="900"/>
            </a:pPr>
            <a:r>
              <a:rPr b="1" sz="900">
                <a:solidFill>
                  <a:srgbClr val="C0392B"/>
                </a:solidFill>
              </a:rPr>
              <a:t>Aksi: </a:t>
            </a:r>
            <a:r>
              <a:rPr sz="900">
                <a:solidFill>
                  <a:srgbClr val="374151"/>
                </a:solidFill>
              </a:rPr>
              <a:t>PANGKAS KUOTA 20%–40%! 5 tahun membuktikan 26 prodi defisit akut.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06256" y="4114800"/>
            <a:ext cx="2542032" cy="2148840"/>
          </a:xfrm>
          <a:prstGeom prst="roundRect">
            <a:avLst/>
          </a:prstGeom>
          <a:solidFill>
            <a:srgbClr val="FFF7ED"/>
          </a:solidFill>
          <a:ln w="12700">
            <a:solidFill>
              <a:srgbClr val="FED7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37160" bIns="137160"/>
          <a:lstStyle/>
          <a:p>
            <a:pPr algn="ctr">
              <a:spcAft>
                <a:spcPts val="800"/>
              </a:spcAft>
              <a:defRPr b="1" sz="1100">
                <a:solidFill>
                  <a:srgbClr val="E65100"/>
                </a:solidFill>
              </a:defRPr>
            </a:pPr>
            <a:r>
              <a:t>KUADRAN IV (7 PRODI)</a:t>
            </a:r>
          </a:p>
          <a:p>
            <a:pPr>
              <a:spcAft>
                <a:spcPts val="300"/>
              </a:spcAft>
              <a:defRPr sz="900"/>
            </a:pPr>
            <a:r>
              <a:rPr b="1" sz="900">
                <a:solidFill>
                  <a:srgbClr val="1B3B6F"/>
                </a:solidFill>
              </a:rPr>
              <a:t>Bocor Finansial: </a:t>
            </a:r>
            <a:r>
              <a:rPr sz="900">
                <a:solidFill>
                  <a:srgbClr val="374151"/>
                </a:solidFill>
              </a:rPr>
              <a:t>Keketatan ≥ 4,0 &amp; Fill &lt; 80%. Akuntansi Pajak (22,4x tapi FR 73,8%), PWK.</a:t>
            </a:r>
          </a:p>
          <a:p>
            <a:pPr>
              <a:spcAft>
                <a:spcPts val="200"/>
              </a:spcAft>
              <a:defRPr sz="900"/>
            </a:pPr>
            <a:r>
              <a:rPr b="1" sz="900">
                <a:solidFill>
                  <a:srgbClr val="E65100"/>
                </a:solidFill>
              </a:rPr>
              <a:t>Aksi: </a:t>
            </a:r>
            <a:r>
              <a:rPr sz="900">
                <a:solidFill>
                  <a:srgbClr val="374151"/>
                </a:solidFill>
              </a:rPr>
              <a:t>RETAIN &amp; CONVERT. Cicilan IPI 3 tahap &amp; fast-track auto-call cadangan.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588760"/>
            <a:ext cx="7315200" cy="218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800" b="1">
                <a:solidFill>
                  <a:srgbClr val="C9A84C"/>
                </a:solidFill>
              </a:defRPr>
            </a:pPr>
            <a:r>
              <a:t>UNIVERSITAS SYIAH KUALA  |  RAPAT PIMPINAN PMB  |  ANALISA PEMINATAN &amp; DAYA TAMPUNG 2022–2026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0" y="6588760"/>
            <a:ext cx="1371600" cy="218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 b="1">
                <a:solidFill>
                  <a:srgbClr val="F5F0E8"/>
                </a:solidFill>
              </a:defRPr>
            </a:pPr>
            <a:r>
              <a:t>10 / 24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C9A84C"/>
                </a:solidFill>
              </a:defRPr>
            </a:pPr>
            <a:r>
              <a:t>UNIVERSITAS SYIAH KUALA  |  RAPAT PIMPINAN PMB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D1F3C"/>
                </a:solidFill>
              </a:defRPr>
            </a:pPr>
            <a:r>
              <a:t>Sintesis Lintas Dimensi: Menyilangkan Dinamika Tren dengan Posisi Kuadran</a:t>
            </a:r>
          </a:p>
          <a:p>
            <a:pPr>
              <a:spcBef>
                <a:spcPts val="200"/>
              </a:spcBef>
              <a:defRPr sz="1100">
                <a:solidFill>
                  <a:srgbClr val="64748B"/>
                </a:solidFill>
              </a:defRPr>
            </a:pPr>
            <a:r>
              <a:t>Menggabungkan Klasifikasi Tren (Velocity) dengan Matriks Kuadran (Position) untuk diagnosa manajerial tajam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0728655" cy="190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5257800" cy="224028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37160" bIns="137160"/>
          <a:lstStyle/>
          <a:p>
            <a:pPr algn="ctr">
              <a:spcAft>
                <a:spcPts val="800"/>
              </a:spcAft>
              <a:defRPr b="1" sz="1100">
                <a:solidFill>
                  <a:srgbClr val="166534"/>
                </a:solidFill>
              </a:defRPr>
            </a:pPr>
            <a:r>
              <a:t>TREN MENINGKAT × KUADRAN I (GROWTH CHAMPIONS)</a:t>
            </a:r>
          </a:p>
          <a:p>
            <a:pPr>
              <a:spcAft>
                <a:spcPts val="200"/>
              </a:spcAft>
              <a:defRPr sz="919"/>
            </a:pPr>
            <a:r>
              <a:rPr b="1" sz="919">
                <a:solidFill>
                  <a:srgbClr val="1B3B6F"/>
                </a:solidFill>
              </a:rPr>
              <a:t>Prodi Kunci: </a:t>
            </a:r>
            <a:r>
              <a:rPr sz="919">
                <a:solidFill>
                  <a:srgbClr val="374151"/>
                </a:solidFill>
              </a:rPr>
              <a:t>PGSD, Keperawatan, Teknik Sipil, Teknik Komputer, Ilmu Hukum.</a:t>
            </a:r>
          </a:p>
          <a:p>
            <a:pPr>
              <a:spcAft>
                <a:spcPts val="200"/>
              </a:spcAft>
              <a:defRPr sz="919"/>
            </a:pPr>
            <a:r>
              <a:rPr b="1" sz="919">
                <a:solidFill>
                  <a:srgbClr val="1B3B6F"/>
                </a:solidFill>
              </a:rPr>
              <a:t>Karakteristik: </a:t>
            </a:r>
            <a:r>
              <a:rPr sz="919">
                <a:solidFill>
                  <a:srgbClr val="374151"/>
                </a:solidFill>
              </a:rPr>
              <a:t>Rasio keketatan tinggi (&gt;4,0), keterisian prima (&gt;80%), dan slope OLS positif (+15 s.d. +38 mhs/thn).</a:t>
            </a:r>
          </a:p>
          <a:p>
            <a:pPr>
              <a:spcAft>
                <a:spcPts val="200"/>
              </a:spcAft>
              <a:defRPr sz="919"/>
            </a:pPr>
            <a:r>
              <a:rPr b="1" sz="919">
                <a:solidFill>
                  <a:srgbClr val="166534"/>
                </a:solidFill>
              </a:rPr>
              <a:t>Aksi Strategis: </a:t>
            </a:r>
            <a:r>
              <a:rPr sz="919">
                <a:solidFill>
                  <a:srgbClr val="374151"/>
                </a:solidFill>
              </a:rPr>
              <a:t>AGGRESSIVE EXPANSION — Tambah kuota selektif +5–10%, rintis Kelas Internasional, dan Fast Track S1-S2.</a:t>
            </a:r>
          </a:p>
          <a:p>
            <a:pPr>
              <a:spcAft>
                <a:spcPts val="100"/>
              </a:spcAft>
              <a:defRPr sz="919"/>
            </a:pPr>
            <a:r>
              <a:rPr b="1" sz="919">
                <a:solidFill>
                  <a:srgbClr val="1B3B6F"/>
                </a:solidFill>
              </a:rPr>
              <a:t>Target 2027: </a:t>
            </a:r>
            <a:r>
              <a:rPr sz="919">
                <a:solidFill>
                  <a:srgbClr val="374151"/>
                </a:solidFill>
              </a:rPr>
              <a:t>Pertahankan Fill Rate 100% dan tingkatkan penerimaan IPI Mandiri non-subsidi.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99632" y="1508760"/>
            <a:ext cx="5257800" cy="224028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37160" bIns="137160"/>
          <a:lstStyle/>
          <a:p>
            <a:pPr algn="ctr">
              <a:spcAft>
                <a:spcPts val="800"/>
              </a:spcAft>
              <a:defRPr b="1" sz="1100">
                <a:solidFill>
                  <a:srgbClr val="B91C1C"/>
                </a:solidFill>
              </a:defRPr>
            </a:pPr>
            <a:r>
              <a:t>TREN MENURUN × KUADRAN I (MATURE / THREATENED)</a:t>
            </a:r>
          </a:p>
          <a:p>
            <a:pPr>
              <a:spcAft>
                <a:spcPts val="200"/>
              </a:spcAft>
              <a:defRPr sz="919"/>
            </a:pPr>
            <a:r>
              <a:rPr b="1" sz="919">
                <a:solidFill>
                  <a:srgbClr val="1B3B6F"/>
                </a:solidFill>
              </a:rPr>
              <a:t>Prodi Kunci: </a:t>
            </a:r>
            <a:r>
              <a:rPr sz="919">
                <a:solidFill>
                  <a:srgbClr val="374151"/>
                </a:solidFill>
              </a:rPr>
              <a:t>Manajemen FEB, Ekonomi Pembangunan, Ekonomi Islam.</a:t>
            </a:r>
          </a:p>
          <a:p>
            <a:pPr>
              <a:spcAft>
                <a:spcPts val="200"/>
              </a:spcAft>
              <a:defRPr sz="919"/>
            </a:pPr>
            <a:r>
              <a:rPr b="1" sz="919">
                <a:solidFill>
                  <a:srgbClr val="1B3B6F"/>
                </a:solidFill>
              </a:rPr>
              <a:t>Karakteristik: </a:t>
            </a:r>
            <a:r>
              <a:rPr sz="919">
                <a:solidFill>
                  <a:srgbClr val="374151"/>
                </a:solidFill>
              </a:rPr>
              <a:t>Kapasitas saat ini masih terisi (&gt;80%) karena reputasi lama, namun tren peminat merosot kontinu (Zero Rebound).</a:t>
            </a:r>
          </a:p>
          <a:p>
            <a:pPr>
              <a:spcAft>
                <a:spcPts val="200"/>
              </a:spcAft>
              <a:defRPr sz="919"/>
            </a:pPr>
            <a:r>
              <a:rPr b="1" sz="919">
                <a:solidFill>
                  <a:srgbClr val="B91C1C"/>
                </a:solidFill>
              </a:rPr>
              <a:t>Aksi Strategis: </a:t>
            </a:r>
            <a:r>
              <a:rPr sz="919">
                <a:solidFill>
                  <a:srgbClr val="374151"/>
                </a:solidFill>
              </a:rPr>
              <a:t>CONTROLLED DOWNSIZING — Moratorium penambahan kuota; rampingkan kapasitas agar kelas tetap padat 100%.</a:t>
            </a:r>
          </a:p>
          <a:p>
            <a:pPr>
              <a:spcAft>
                <a:spcPts val="100"/>
              </a:spcAft>
              <a:defRPr sz="919"/>
            </a:pPr>
            <a:r>
              <a:rPr b="1" sz="919">
                <a:solidFill>
                  <a:srgbClr val="C0392B"/>
                </a:solidFill>
              </a:rPr>
              <a:t>Target 2027: </a:t>
            </a:r>
            <a:r>
              <a:rPr sz="919">
                <a:solidFill>
                  <a:srgbClr val="374151"/>
                </a:solidFill>
              </a:rPr>
              <a:t>Re-engineering kurikulum ke Digital Business Analytics; hentikan kanibalisasi internal Bisnis Digital.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886200"/>
            <a:ext cx="5257800" cy="2240280"/>
          </a:xfrm>
          <a:prstGeom prst="roundRect">
            <a:avLst/>
          </a:prstGeom>
          <a:solidFill>
            <a:srgbClr val="FFF7ED"/>
          </a:solidFill>
          <a:ln w="12700">
            <a:solidFill>
              <a:srgbClr val="FDE6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37160" bIns="137160"/>
          <a:lstStyle/>
          <a:p>
            <a:pPr algn="ctr">
              <a:spcAft>
                <a:spcPts val="800"/>
              </a:spcAft>
              <a:defRPr b="1" sz="1100">
                <a:solidFill>
                  <a:srgbClr val="E65100"/>
                </a:solidFill>
              </a:defRPr>
            </a:pPr>
            <a:r>
              <a:t>TREN FLUKTUATIF × KUADRAN IV (HIGH-RISK CASH COWS)</a:t>
            </a:r>
          </a:p>
          <a:p>
            <a:pPr>
              <a:spcAft>
                <a:spcPts val="200"/>
              </a:spcAft>
              <a:defRPr sz="919"/>
            </a:pPr>
            <a:r>
              <a:rPr b="1" sz="919">
                <a:solidFill>
                  <a:srgbClr val="1B3B6F"/>
                </a:solidFill>
              </a:rPr>
              <a:t>Prodi Kunci: </a:t>
            </a:r>
            <a:r>
              <a:rPr sz="919">
                <a:solidFill>
                  <a:srgbClr val="374151"/>
                </a:solidFill>
              </a:rPr>
              <a:t>D4 Akuntansi Perpajakan (Keketatan 22,4x tapi Fill 73,8%), Teknik Perminyakan, PWK, PAUD.</a:t>
            </a:r>
          </a:p>
          <a:p>
            <a:pPr>
              <a:spcAft>
                <a:spcPts val="200"/>
              </a:spcAft>
              <a:defRPr sz="919"/>
            </a:pPr>
            <a:r>
              <a:rPr b="1" sz="919">
                <a:solidFill>
                  <a:srgbClr val="1B3B6F"/>
                </a:solidFill>
              </a:rPr>
              <a:t>Karakteristik: </a:t>
            </a:r>
            <a:r>
              <a:rPr sz="919">
                <a:solidFill>
                  <a:srgbClr val="374151"/>
                </a:solidFill>
              </a:rPr>
              <a:t>Peminat sangat banyak, namun yield pendaftaran ulang anjlok akibat seleksi Mandiri yang bocor parah.</a:t>
            </a:r>
          </a:p>
          <a:p>
            <a:pPr>
              <a:spcAft>
                <a:spcPts val="200"/>
              </a:spcAft>
              <a:defRPr sz="919"/>
            </a:pPr>
            <a:r>
              <a:rPr b="1" sz="919">
                <a:solidFill>
                  <a:srgbClr val="E65100"/>
                </a:solidFill>
              </a:rPr>
              <a:t>Aksi Strategis: </a:t>
            </a:r>
            <a:r>
              <a:rPr sz="919">
                <a:solidFill>
                  <a:srgbClr val="374151"/>
                </a:solidFill>
              </a:rPr>
              <a:t>FINANCIAL &amp; YIELD OPTIMIZATION — Terapkan cicilan IPI 3 tahap dan sistem fast-track auto-call cadangan 48 jam.</a:t>
            </a:r>
          </a:p>
          <a:p>
            <a:pPr>
              <a:spcAft>
                <a:spcPts val="100"/>
              </a:spcAft>
              <a:defRPr sz="919"/>
            </a:pPr>
            <a:r>
              <a:rPr b="1" sz="919">
                <a:solidFill>
                  <a:srgbClr val="1B3B6F"/>
                </a:solidFill>
              </a:rPr>
              <a:t>Target 2027: </a:t>
            </a:r>
            <a:r>
              <a:rPr sz="919">
                <a:solidFill>
                  <a:srgbClr val="374151"/>
                </a:solidFill>
              </a:rPr>
              <a:t>Naikkan Fill Rate dari 73% ke ≥90%; selamatkan potensi penerimaan IPI Rp4,5–6 Miliar yang hilang.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9632" y="3886200"/>
            <a:ext cx="5257800" cy="2240280"/>
          </a:xfrm>
          <a:prstGeom prst="roundRect">
            <a:avLst/>
          </a:prstGeom>
          <a:solidFill>
            <a:srgbClr val="FEE2E2"/>
          </a:solidFill>
          <a:ln w="12700">
            <a:solidFill>
              <a:srgbClr val="FCA5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37160" bIns="137160"/>
          <a:lstStyle/>
          <a:p>
            <a:pPr algn="ctr">
              <a:spcAft>
                <a:spcPts val="800"/>
              </a:spcAft>
              <a:defRPr b="1" sz="1100">
                <a:solidFill>
                  <a:srgbClr val="C0392B"/>
                </a:solidFill>
              </a:defRPr>
            </a:pPr>
            <a:r>
              <a:t>PEMINATAN RENDAH × KUADRAN III (CHRONIC DEFICIT)</a:t>
            </a:r>
          </a:p>
          <a:p>
            <a:pPr>
              <a:spcAft>
                <a:spcPts val="200"/>
              </a:spcAft>
              <a:defRPr sz="919"/>
            </a:pPr>
            <a:r>
              <a:rPr b="1" sz="919">
                <a:solidFill>
                  <a:srgbClr val="1B3B6F"/>
                </a:solidFill>
              </a:rPr>
              <a:t>Prodi Kunci: </a:t>
            </a:r>
            <a:r>
              <a:rPr sz="919">
                <a:solidFill>
                  <a:srgbClr val="374151"/>
                </a:solidFill>
              </a:rPr>
              <a:t>Budidaya Perairan (56%), Fisika (65%), Teknik Kimia (67%), THP (64%), Pend. Kimia, Pend. Fisika.</a:t>
            </a:r>
          </a:p>
          <a:p>
            <a:pPr>
              <a:spcAft>
                <a:spcPts val="200"/>
              </a:spcAft>
              <a:defRPr sz="919"/>
            </a:pPr>
            <a:r>
              <a:rPr b="1" sz="919">
                <a:solidFill>
                  <a:srgbClr val="1B3B6F"/>
                </a:solidFill>
              </a:rPr>
              <a:t>Karakteristik: </a:t>
            </a:r>
            <a:r>
              <a:rPr sz="919">
                <a:solidFill>
                  <a:srgbClr val="374151"/>
                </a:solidFill>
              </a:rPr>
              <a:t>Keketatan &lt;4,0 dan keterisian &lt;80% persisten 5 tahun; menyumbang 48,4% seluruh bangku kosong universitas.</a:t>
            </a:r>
          </a:p>
          <a:p>
            <a:pPr>
              <a:spcAft>
                <a:spcPts val="200"/>
              </a:spcAft>
              <a:defRPr sz="919"/>
            </a:pPr>
            <a:r>
              <a:rPr b="1" sz="919">
                <a:solidFill>
                  <a:srgbClr val="C0392B"/>
                </a:solidFill>
              </a:rPr>
              <a:t>Aksi Strategis: </a:t>
            </a:r>
            <a:r>
              <a:rPr sz="919">
                <a:solidFill>
                  <a:srgbClr val="374151"/>
                </a:solidFill>
              </a:rPr>
              <a:t>RADICAL CAPACITY RATIONALIZATION — Pangkas kuota 20%–40% segera; hapus 400+ kursi kosong semu.</a:t>
            </a:r>
          </a:p>
          <a:p>
            <a:pPr>
              <a:spcAft>
                <a:spcPts val="100"/>
              </a:spcAft>
              <a:defRPr sz="919"/>
            </a:pPr>
            <a:r>
              <a:rPr b="1" sz="919">
                <a:solidFill>
                  <a:srgbClr val="B91C1C"/>
                </a:solidFill>
              </a:rPr>
              <a:t>Target 2027: </a:t>
            </a:r>
            <a:r>
              <a:rPr sz="919">
                <a:solidFill>
                  <a:srgbClr val="374151"/>
                </a:solidFill>
              </a:rPr>
              <a:t>Sehatkan rasio dosen-mahasiswa nasional &amp; internasional demi menyelamatkan akreditasi unggul.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588760"/>
            <a:ext cx="7315200" cy="218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800" b="1">
                <a:solidFill>
                  <a:srgbClr val="C9A84C"/>
                </a:solidFill>
              </a:defRPr>
            </a:pPr>
            <a:r>
              <a:t>UNIVERSITAS SYIAH KUALA  |  RAPAT PIMPINAN PMB  |  ANALISA PEMINATAN &amp; DAYA TAMPUNG 2022–2026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588760"/>
            <a:ext cx="1371600" cy="218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 b="1">
                <a:solidFill>
                  <a:srgbClr val="F5F0E8"/>
                </a:solidFill>
              </a:defRPr>
            </a:pPr>
            <a:r>
              <a:t>11 / 24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0" y="1645920"/>
            <a:ext cx="393192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600" b="1">
                <a:solidFill>
                  <a:srgbClr val="C9A84C"/>
                </a:solidFill>
              </a:defRPr>
            </a:pPr>
            <a:r>
              <a:t>02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0" y="3611880"/>
            <a:ext cx="3931920" cy="190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286000" y="3840480"/>
            <a:ext cx="75895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F5F0E8"/>
                </a:solidFill>
              </a:defRPr>
            </a:pPr>
            <a:r>
              <a:t>DEKONSTRUKSI KEBOCORAN PENERIMAAN MAHASISWA BARU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588760"/>
            <a:ext cx="7315200" cy="218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800" b="1">
                <a:solidFill>
                  <a:srgbClr val="C9A84C"/>
                </a:solidFill>
              </a:defRPr>
            </a:pPr>
            <a:r>
              <a:t>UNIVERSITAS SYIAH KUALA  |  RAPAT PIMPINAN PMB  |  ANALISA PEMINATAN &amp; DAYA TAMPUNG 2022–2026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88760"/>
            <a:ext cx="1371600" cy="218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 b="1">
                <a:solidFill>
                  <a:srgbClr val="F5F0E8"/>
                </a:solidFill>
              </a:defRPr>
            </a:pPr>
            <a:r>
              <a:t>12 / 24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C9A84C"/>
                </a:solidFill>
              </a:defRPr>
            </a:pPr>
            <a:r>
              <a:t>UNIVERSITAS SYIAH KUALA  |  RAPAT PIMPINAN PMB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D1F3C"/>
                </a:solidFill>
              </a:defRPr>
            </a:pPr>
            <a:r>
              <a:t>Dinamika Jalur Masuk &amp; Corong Kebocoran: Panorama 5 Tahun (2022–2026)</a:t>
            </a:r>
          </a:p>
          <a:p>
            <a:pPr>
              <a:spcBef>
                <a:spcPts val="200"/>
              </a:spcBef>
              <a:defRPr sz="1100">
                <a:solidFill>
                  <a:srgbClr val="64748B"/>
                </a:solidFill>
              </a:defRPr>
            </a:pPr>
            <a:r>
              <a:t>Komposisi 8.440 Mahasiswa Baru 2026 dan Evaluasi Yield Rate per Jalur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0728655" cy="190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6_dinamika_jalur_masuk_dan_kebocoran_20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08760"/>
            <a:ext cx="7315200" cy="32512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4800600"/>
            <a:ext cx="7315200" cy="14630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37160" bIns="137160"/>
          <a:lstStyle/>
          <a:p>
            <a:pPr algn="ctr">
              <a:spcAft>
                <a:spcPts val="300"/>
              </a:spcAft>
              <a:defRPr b="1" sz="1050">
                <a:solidFill>
                  <a:srgbClr val="C0392B"/>
                </a:solidFill>
              </a:defRPr>
            </a:pPr>
            <a:r>
              <a:t>KEBOCORAN PMB MEMBENGKAK +94,9% DALAM 5 TAHUN (1.231 → 2.399 CALON)</a:t>
            </a:r>
          </a:p>
          <a:p>
            <a:pPr>
              <a:defRPr sz="900">
                <a:solidFill>
                  <a:srgbClr val="374151"/>
                </a:solidFill>
              </a:defRPr>
            </a:pPr>
            <a:r>
              <a:t>• SNBP (Yield 94,8%): Sangat loyal &amp; stabil karena didukung sanksi tegas sekolah/siswa.</a:t>
            </a:r>
            <a:br/>
            <a:r>
              <a:t>• TALENTA (Yield 24,9%): Keruntuhan total akibat pendaftaran tanpa commitment fee di awal (dijadikan tiket cadangan).</a:t>
            </a:r>
            <a:br/>
            <a:r>
              <a:t>• SMMPTN Mandiri (Yield 75,0%): Tenggat pembayaran IPI 5 hari menimbulkan liquidity shock bagi keluarga.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75320" y="1508760"/>
            <a:ext cx="3182112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37160" bIns="137160"/>
          <a:lstStyle/>
          <a:p>
            <a:pPr algn="ctr">
              <a:spcAft>
                <a:spcPts val="800"/>
              </a:spcAft>
              <a:defRPr b="1" sz="1200">
                <a:solidFill>
                  <a:srgbClr val="1B3B6F"/>
                </a:solidFill>
              </a:defRPr>
            </a:pPr>
            <a:r>
              <a:t>KOMPOSISI &amp; KEBOCORAN 2026:</a:t>
            </a:r>
          </a:p>
          <a:p>
            <a:pPr>
              <a:spcAft>
                <a:spcPts val="400"/>
              </a:spcAft>
              <a:defRPr sz="1000"/>
            </a:pPr>
            <a:r>
              <a:rPr b="1" sz="1000">
                <a:solidFill>
                  <a:srgbClr val="1B3B6F"/>
                </a:solidFill>
              </a:rPr>
              <a:t>SNBT (38,6%): </a:t>
            </a:r>
            <a:r>
              <a:rPr sz="1000">
                <a:solidFill>
                  <a:srgbClr val="374151"/>
                </a:solidFill>
              </a:rPr>
              <a:t>3.260 mhs. Kebocoran 626 calon (Yield 83,9%).</a:t>
            </a:r>
          </a:p>
          <a:p>
            <a:pPr>
              <a:spcAft>
                <a:spcPts val="400"/>
              </a:spcAft>
              <a:defRPr sz="1000"/>
            </a:pPr>
            <a:r>
              <a:rPr b="1" sz="1000">
                <a:solidFill>
                  <a:srgbClr val="1B3B6F"/>
                </a:solidFill>
              </a:rPr>
              <a:t>SNBP (32,6%): </a:t>
            </a:r>
            <a:r>
              <a:rPr sz="1000">
                <a:solidFill>
                  <a:srgbClr val="374151"/>
                </a:solidFill>
              </a:rPr>
              <a:t>2.754 mhs. Paling loyal (Yield 94,8%). Sanksi blacklist efektif.</a:t>
            </a:r>
          </a:p>
          <a:p>
            <a:pPr>
              <a:spcAft>
                <a:spcPts val="400"/>
              </a:spcAft>
              <a:defRPr sz="1000"/>
            </a:pPr>
            <a:r>
              <a:rPr b="1" sz="1000">
                <a:solidFill>
                  <a:srgbClr val="1B3B6F"/>
                </a:solidFill>
              </a:rPr>
              <a:t>SMMPTN (21,5%): </a:t>
            </a:r>
            <a:r>
              <a:rPr sz="1000">
                <a:solidFill>
                  <a:srgbClr val="374151"/>
                </a:solidFill>
              </a:rPr>
              <a:t>1.814 mhs. Bocor 604 calon (Yield 75,0%). IPI 5 hari terlalu mepet.</a:t>
            </a:r>
          </a:p>
          <a:p>
            <a:pPr>
              <a:spcAft>
                <a:spcPts val="400"/>
              </a:spcAft>
              <a:defRPr sz="1000"/>
            </a:pPr>
            <a:r>
              <a:rPr b="1" sz="1000">
                <a:solidFill>
                  <a:srgbClr val="C0392B"/>
                </a:solidFill>
              </a:rPr>
              <a:t>TALENTA (3,7%): </a:t>
            </a:r>
            <a:r>
              <a:rPr sz="1000">
                <a:solidFill>
                  <a:srgbClr val="374151"/>
                </a:solidFill>
              </a:rPr>
              <a:t>308 mhs. CRASH! 935 calon gugur (Yield 24,9%). Yield jatuh dari 88,3% (2024) → 24,9% (2026).</a:t>
            </a:r>
          </a:p>
          <a:p>
            <a:pPr>
              <a:spcAft>
                <a:spcPts val="300"/>
              </a:spcAft>
              <a:defRPr sz="1000"/>
            </a:pPr>
            <a:r>
              <a:rPr b="1" sz="1000">
                <a:solidFill>
                  <a:srgbClr val="E65100"/>
                </a:solidFill>
              </a:rPr>
              <a:t>Kebocoran 5 Tahun: </a:t>
            </a:r>
            <a:r>
              <a:rPr sz="1000">
                <a:solidFill>
                  <a:srgbClr val="374151"/>
                </a:solidFill>
              </a:rPr>
              <a:t>Membengkak dari 1.231 (2022) menjadi 2.399 (2026) = +94,9% dalam 5 tahun!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6588760"/>
            <a:ext cx="7315200" cy="218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800" b="1">
                <a:solidFill>
                  <a:srgbClr val="C9A84C"/>
                </a:solidFill>
              </a:defRPr>
            </a:pPr>
            <a:r>
              <a:t>UNIVERSITAS SYIAH KUALA  |  RAPAT PIMPINAN PMB  |  ANALISA PEMINATAN &amp; DAYA TAMPUNG 2022–2026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588760"/>
            <a:ext cx="1371600" cy="218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 b="1">
                <a:solidFill>
                  <a:srgbClr val="F5F0E8"/>
                </a:solidFill>
              </a:defRPr>
            </a:pPr>
            <a:r>
              <a:t>13 / 24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C9A84C"/>
                </a:solidFill>
              </a:defRPr>
            </a:pPr>
            <a:r>
              <a:t>UNIVERSITAS SYIAH KUALA  |  RAPAT PIMPINAN PMB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D1F3C"/>
                </a:solidFill>
              </a:defRPr>
            </a:pPr>
            <a:r>
              <a:t>Resolusi "Plot Twist": Kursi Kosong SNBT Bukan Siswa Kabur — Terhempas KIP!</a:t>
            </a:r>
          </a:p>
          <a:p>
            <a:pPr>
              <a:spcBef>
                <a:spcPts val="200"/>
              </a:spcBef>
              <a:defRPr sz="1100">
                <a:solidFill>
                  <a:srgbClr val="64748B"/>
                </a:solidFill>
              </a:defRPr>
            </a:pPr>
            <a:r>
              <a:t>Korelasi 97,6%: 626 Calon Gugur SNBT ≈ 611 Pelamar KIP Ditolak Beasiswa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0728655" cy="190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20_analisis_desil_dan_rejection_kip_snb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08760"/>
            <a:ext cx="7315200" cy="3272589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4800600"/>
            <a:ext cx="7315200" cy="14630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37160" bIns="137160"/>
          <a:lstStyle/>
          <a:p>
            <a:pPr algn="ctr">
              <a:spcAft>
                <a:spcPts val="300"/>
              </a:spcAft>
              <a:defRPr b="1" sz="1050">
                <a:solidFill>
                  <a:srgbClr val="B91C1C"/>
                </a:solidFill>
              </a:defRPr>
            </a:pPr>
            <a:r>
              <a:t>RESOLUSI PLOT TWIST: KORELASI ANOMALI 97,60% TERBUKTI SECARA STATISTIK</a:t>
            </a:r>
          </a:p>
          <a:p>
            <a:pPr>
              <a:defRPr sz="900">
                <a:solidFill>
                  <a:srgbClr val="374151"/>
                </a:solidFill>
              </a:defRPr>
            </a:pPr>
            <a:r>
              <a:t>• Premis 'calon mahasiswa kabur ke PTS' terbantahkan secara telak oleh data empiris.</a:t>
            </a:r>
            <a:br/>
            <a:r>
              <a:t>• 626 Kursi Kosong SNBT hampir identik 1-to-1 dengan 611 Pelamar KIP-K yang Ditolak Beasiswanya.</a:t>
            </a:r>
            <a:br/>
            <a:r>
              <a:t>• Kesimpulan: Kursi kosong SNBT bukan kegagalan daya tarik universitas, melainkan kegagalan daya beli siswa miskin.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75320" y="1508760"/>
            <a:ext cx="3182112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37160" bIns="137160"/>
          <a:lstStyle/>
          <a:p>
            <a:pPr algn="ctr">
              <a:spcAft>
                <a:spcPts val="800"/>
              </a:spcAft>
              <a:defRPr b="1" sz="1200">
                <a:solidFill>
                  <a:srgbClr val="1B3B6F"/>
                </a:solidFill>
              </a:defRPr>
            </a:pPr>
            <a:r>
              <a:t>KOMPARATIF KIP 2025 VS 2026:</a:t>
            </a:r>
          </a:p>
          <a:p>
            <a:pPr>
              <a:spcAft>
                <a:spcPts val="400"/>
              </a:spcAft>
              <a:defRPr sz="1000"/>
            </a:pPr>
            <a:r>
              <a:rPr b="1" sz="1000">
                <a:solidFill>
                  <a:srgbClr val="1B3B6F"/>
                </a:solidFill>
              </a:rPr>
              <a:t>Kuota KIP 2025: </a:t>
            </a:r>
            <a:r>
              <a:rPr sz="1000">
                <a:solidFill>
                  <a:srgbClr val="374151"/>
                </a:solidFill>
              </a:rPr>
              <a:t>1.846 kursi. Penolakan SNBT hanya 370 orang (29,0%).</a:t>
            </a:r>
          </a:p>
          <a:p>
            <a:pPr>
              <a:spcAft>
                <a:spcPts val="400"/>
              </a:spcAft>
              <a:defRPr sz="1000"/>
            </a:pPr>
            <a:r>
              <a:rPr b="1" sz="1000">
                <a:solidFill>
                  <a:srgbClr val="C0392B"/>
                </a:solidFill>
              </a:rPr>
              <a:t>Kuota KIP 2026: </a:t>
            </a:r>
            <a:r>
              <a:rPr sz="1000">
                <a:solidFill>
                  <a:srgbClr val="374151"/>
                </a:solidFill>
              </a:rPr>
              <a:t>DIPANGKAS -207 kursi (-11,2%) menjadi 1.639. Pendaftar KIP SNBT justru naik ke 1.361 orang.</a:t>
            </a:r>
          </a:p>
          <a:p>
            <a:pPr>
              <a:spcAft>
                <a:spcPts val="400"/>
              </a:spcAft>
              <a:defRPr sz="1000"/>
            </a:pPr>
            <a:r>
              <a:rPr b="1" sz="1000">
                <a:solidFill>
                  <a:srgbClr val="1B3B6F"/>
                </a:solidFill>
              </a:rPr>
              <a:t>Efek Penyerapan SNBP: </a:t>
            </a:r>
            <a:r>
              <a:rPr sz="1000">
                <a:solidFill>
                  <a:srgbClr val="374151"/>
                </a:solidFill>
              </a:rPr>
              <a:t>893 kursi KIP terserap SNBP di awal → sisa KIP untuk SNBT hanya 746 kursi.</a:t>
            </a:r>
          </a:p>
          <a:p>
            <a:pPr>
              <a:spcAft>
                <a:spcPts val="400"/>
              </a:spcAft>
              <a:defRPr sz="1000"/>
            </a:pPr>
            <a:r>
              <a:rPr b="1" sz="1000">
                <a:solidFill>
                  <a:srgbClr val="B91C1C"/>
                </a:solidFill>
              </a:rPr>
              <a:t>Ledakan Penolakan: </a:t>
            </a:r>
            <a:r>
              <a:rPr sz="1000">
                <a:solidFill>
                  <a:srgbClr val="374151"/>
                </a:solidFill>
              </a:rPr>
              <a:t>611 siswa KIP SNBT ditolak (+65,1% dari 2025!). Kesesuaian dengan 626 kursi kosong = 97,60%.</a:t>
            </a:r>
          </a:p>
          <a:p>
            <a:pPr>
              <a:spcAft>
                <a:spcPts val="300"/>
              </a:spcAft>
              <a:defRPr sz="1000"/>
            </a:pPr>
            <a:r>
              <a:rPr b="1" sz="1000">
                <a:solidFill>
                  <a:srgbClr val="E65100"/>
                </a:solidFill>
              </a:rPr>
              <a:t>Kesimpulan: </a:t>
            </a:r>
            <a:r>
              <a:rPr sz="1000">
                <a:solidFill>
                  <a:srgbClr val="374151"/>
                </a:solidFill>
              </a:rPr>
              <a:t>Kursi kosong SNBT = kegagalan daya beli (economic forced drop-out), bukan siswa kabur ke PTS.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6588760"/>
            <a:ext cx="7315200" cy="218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800" b="1">
                <a:solidFill>
                  <a:srgbClr val="C9A84C"/>
                </a:solidFill>
              </a:defRPr>
            </a:pPr>
            <a:r>
              <a:t>UNIVERSITAS SYIAH KUALA  |  RAPAT PIMPINAN PMB  |  ANALISA PEMINATAN &amp; DAYA TAMPUNG 2022–2026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588760"/>
            <a:ext cx="1371600" cy="218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 b="1">
                <a:solidFill>
                  <a:srgbClr val="F5F0E8"/>
                </a:solidFill>
              </a:defRPr>
            </a:pPr>
            <a:r>
              <a:t>14 / 24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C9A84C"/>
                </a:solidFill>
              </a:defRPr>
            </a:pPr>
            <a:r>
              <a:t>UNIVERSITAS SYIAH KUALA  |  RAPAT PIMPINAN PMB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D1F3C"/>
                </a:solidFill>
              </a:defRPr>
            </a:pPr>
            <a:r>
              <a:t>"The Smoking Gun": Penolakan KIP Terkonsentrasi pada Desil 5 &amp; 6 (&gt;98% Ditolak!)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0728655" cy="190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548640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37160" bIns="137160"/>
          <a:lstStyle/>
          <a:p>
            <a:pPr algn="ctr">
              <a:spcAft>
                <a:spcPts val="800"/>
              </a:spcAft>
              <a:defRPr b="1" sz="1100">
                <a:solidFill>
                  <a:srgbClr val="1B3B6F"/>
                </a:solidFill>
              </a:defRPr>
            </a:pPr>
            <a:r>
              <a:t>PROFIL PENERIMAAN KIP SNBT 2026 PER DESIL DTKS:</a:t>
            </a:r>
          </a:p>
          <a:p>
            <a:pPr>
              <a:spcAft>
                <a:spcPts val="400"/>
              </a:spcAft>
              <a:defRPr sz="1050"/>
            </a:pPr>
            <a:r>
              <a:rPr b="1" sz="1050">
                <a:solidFill>
                  <a:srgbClr val="166534"/>
                </a:solidFill>
              </a:rPr>
              <a:t>Desil 1 (Sangat Miskin): </a:t>
            </a:r>
            <a:r>
              <a:rPr sz="1050">
                <a:solidFill>
                  <a:srgbClr val="374151"/>
                </a:solidFill>
              </a:rPr>
              <a:t>221 Pendaftar | 200 Diterima (90,5%) — Aman ✓</a:t>
            </a:r>
          </a:p>
          <a:p>
            <a:pPr>
              <a:spcAft>
                <a:spcPts val="400"/>
              </a:spcAft>
              <a:defRPr sz="1050"/>
            </a:pPr>
            <a:r>
              <a:rPr b="1" sz="1050">
                <a:solidFill>
                  <a:srgbClr val="166534"/>
                </a:solidFill>
              </a:rPr>
              <a:t>Desil 2 (Miskin): </a:t>
            </a:r>
            <a:r>
              <a:rPr sz="1050">
                <a:solidFill>
                  <a:srgbClr val="374151"/>
                </a:solidFill>
              </a:rPr>
              <a:t>186 Pendaftar | 162 Diterima (87,1%) — Aman ✓</a:t>
            </a:r>
          </a:p>
          <a:p>
            <a:pPr>
              <a:spcAft>
                <a:spcPts val="400"/>
              </a:spcAft>
              <a:defRPr sz="1050"/>
            </a:pPr>
            <a:r>
              <a:rPr b="1" sz="1050">
                <a:solidFill>
                  <a:srgbClr val="166534"/>
                </a:solidFill>
              </a:rPr>
              <a:t>Desil 3 (Hampir Miskin): </a:t>
            </a:r>
            <a:r>
              <a:rPr sz="1050">
                <a:solidFill>
                  <a:srgbClr val="374151"/>
                </a:solidFill>
              </a:rPr>
              <a:t>219 Pendaftar | 204 Diterima (93,2%) — Aman ✓</a:t>
            </a:r>
          </a:p>
          <a:p>
            <a:pPr>
              <a:spcAft>
                <a:spcPts val="800"/>
              </a:spcAft>
              <a:defRPr sz="1050"/>
            </a:pPr>
            <a:r>
              <a:rPr b="1" sz="1050">
                <a:solidFill>
                  <a:srgbClr val="166534"/>
                </a:solidFill>
              </a:rPr>
              <a:t>Desil 4 (Rentan Miskin): </a:t>
            </a:r>
            <a:r>
              <a:rPr sz="1050">
                <a:solidFill>
                  <a:srgbClr val="374151"/>
                </a:solidFill>
              </a:rPr>
              <a:t>176 Pendaftar | 160 Diterima (90,9%) — Aman ✓</a:t>
            </a:r>
          </a:p>
          <a:p>
            <a:pPr>
              <a:spcAft>
                <a:spcPts val="800"/>
              </a:spcAft>
              <a:defRPr sz="900" b="1">
                <a:solidFill>
                  <a:srgbClr val="C0392B"/>
                </a:solidFill>
              </a:defRPr>
            </a:pPr>
            <a:r>
              <a:t>━━━━━━━━━ GARIS CUTOFF AMBANG KUOTA KIP APBN ━━━━━━━━━</a:t>
            </a:r>
          </a:p>
          <a:p>
            <a:pPr>
              <a:spcAft>
                <a:spcPts val="400"/>
              </a:spcAft>
              <a:defRPr sz="1050"/>
            </a:pPr>
            <a:r>
              <a:rPr b="1" sz="1050">
                <a:solidFill>
                  <a:srgbClr val="B91C1C"/>
                </a:solidFill>
              </a:rPr>
              <a:t>Desil 5: </a:t>
            </a:r>
            <a:r>
              <a:rPr sz="1050">
                <a:solidFill>
                  <a:srgbClr val="374151"/>
                </a:solidFill>
              </a:rPr>
              <a:t>149 Pendaftar | HANYA 3 DITERIMA (2,0%) | 146 DITOLAK (98,0%)!</a:t>
            </a:r>
          </a:p>
          <a:p>
            <a:pPr>
              <a:spcAft>
                <a:spcPts val="600"/>
              </a:spcAft>
              <a:defRPr sz="1050"/>
            </a:pPr>
            <a:r>
              <a:rPr b="1" sz="1050">
                <a:solidFill>
                  <a:srgbClr val="B91C1C"/>
                </a:solidFill>
              </a:rPr>
              <a:t>Desil 6: </a:t>
            </a:r>
            <a:r>
              <a:rPr sz="1050">
                <a:solidFill>
                  <a:srgbClr val="374151"/>
                </a:solidFill>
              </a:rPr>
              <a:t>385 Pendaftar | HANYA 5 DITERIMA (1,3%) | 380 DITOLAK (98,7%)!</a:t>
            </a:r>
          </a:p>
          <a:p>
            <a:pPr>
              <a:spcAft>
                <a:spcPts val="300"/>
              </a:spcAft>
              <a:defRPr sz="1100"/>
            </a:pPr>
            <a:r>
              <a:rPr b="1" sz="1100">
                <a:solidFill>
                  <a:srgbClr val="B91C1C"/>
                </a:solidFill>
              </a:rPr>
              <a:t>TOTAL DESIL 5 &amp; 6: </a:t>
            </a:r>
            <a:r>
              <a:rPr sz="1100">
                <a:solidFill>
                  <a:srgbClr val="374151"/>
                </a:solidFill>
              </a:rPr>
              <a:t>526 CALON MAHASISWA BERPRESTASI UTBK DITOLAK!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46520" y="1508760"/>
            <a:ext cx="5010912" cy="475488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37160" bIns="137160"/>
          <a:lstStyle/>
          <a:p>
            <a:pPr algn="ctr">
              <a:spcAft>
                <a:spcPts val="800"/>
              </a:spcAft>
              <a:defRPr b="1" sz="1200">
                <a:solidFill>
                  <a:srgbClr val="B91C1C"/>
                </a:solidFill>
              </a:defRPr>
            </a:pPr>
            <a:r>
              <a:t>MEKANISME ECONOMIC FORCED DROP-OUT</a:t>
            </a:r>
          </a:p>
          <a:p>
            <a:pPr>
              <a:spcAft>
                <a:spcPts val="800"/>
              </a:spcAft>
              <a:defRPr sz="1050"/>
            </a:pPr>
            <a:r>
              <a:rPr b="1" sz="1050">
                <a:solidFill>
                  <a:srgbClr val="1B3B6F"/>
                </a:solidFill>
              </a:rPr>
              <a:t>1. Dialihkan ke UKT Reguler: </a:t>
            </a:r>
            <a:r>
              <a:rPr sz="1050">
                <a:solidFill>
                  <a:srgbClr val="374151"/>
                </a:solidFill>
              </a:rPr>
              <a:t>526 calon Desil 5-6 yang ditolak KIP langsung dikenakan UKT Kelompok III–V (Rp 2,5–5 Juta/semester).</a:t>
            </a:r>
          </a:p>
          <a:p>
            <a:pPr>
              <a:spcAft>
                <a:spcPts val="800"/>
              </a:spcAft>
              <a:defRPr sz="1050"/>
            </a:pPr>
            <a:r>
              <a:rPr b="1" sz="1050">
                <a:solidFill>
                  <a:srgbClr val="1B3B6F"/>
                </a:solidFill>
              </a:rPr>
              <a:t>2. Profil Prasejahtera: </a:t>
            </a:r>
            <a:r>
              <a:rPr sz="1050">
                <a:solidFill>
                  <a:srgbClr val="374151"/>
                </a:solidFill>
              </a:rPr>
              <a:t>Keluarga petani kecil, buruh harian, nelayan tradisional, pedagang mikro — tanpa bantalan tabungan darurat.</a:t>
            </a:r>
          </a:p>
          <a:p>
            <a:pPr>
              <a:spcAft>
                <a:spcPts val="800"/>
              </a:spcAft>
              <a:defRPr sz="1050"/>
            </a:pPr>
            <a:r>
              <a:rPr b="1" sz="1050">
                <a:solidFill>
                  <a:srgbClr val="1B3B6F"/>
                </a:solidFill>
              </a:rPr>
              <a:t>3. Mundur Terpaksa: </a:t>
            </a:r>
            <a:r>
              <a:rPr sz="1050">
                <a:solidFill>
                  <a:srgbClr val="374151"/>
                </a:solidFill>
              </a:rPr>
              <a:t>Tagihan UKT jutaan rupiah dalam tempo verifikasi sempit → 526 calon terpaksa tidak mendaftar ulang.</a:t>
            </a:r>
          </a:p>
          <a:p>
            <a:pPr>
              <a:spcAft>
                <a:spcPts val="300"/>
              </a:spcAft>
              <a:defRPr sz="1100"/>
            </a:pPr>
            <a:r>
              <a:rPr b="1" sz="1100">
                <a:solidFill>
                  <a:srgbClr val="B91C1C"/>
                </a:solidFill>
              </a:rPr>
              <a:t>4. Sumber 84% Kursi Kosong: </a:t>
            </a:r>
            <a:r>
              <a:rPr sz="1100">
                <a:solidFill>
                  <a:srgbClr val="374151"/>
                </a:solidFill>
              </a:rPr>
              <a:t>526 dari 626 bangku kosong SNBT (84,0%) tercipta langsung dari mekanisme ini!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588760"/>
            <a:ext cx="7315200" cy="218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800" b="1">
                <a:solidFill>
                  <a:srgbClr val="C9A84C"/>
                </a:solidFill>
              </a:defRPr>
            </a:pPr>
            <a:r>
              <a:t>UNIVERSITAS SYIAH KUALA  |  RAPAT PIMPINAN PMB  |  ANALISA PEMINATAN &amp; DAYA TAMPUNG 2022–2026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588760"/>
            <a:ext cx="1371600" cy="218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 b="1">
                <a:solidFill>
                  <a:srgbClr val="F5F0E8"/>
                </a:solidFill>
              </a:defRPr>
            </a:pPr>
            <a:r>
              <a:t>15 / 24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C9A84C"/>
                </a:solidFill>
              </a:defRPr>
            </a:pPr>
            <a:r>
              <a:t>UNIVERSITAS SYIAH KUALA  |  RAPAT PIMPINAN PMB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D1F3C"/>
                </a:solidFill>
              </a:defRPr>
            </a:pPr>
            <a:r>
              <a:t>Sinkronisasi Sektoral: Korelasi Calon Gugur vs Penolakan KIP Desil 5–6 per Prodi</a:t>
            </a:r>
          </a:p>
          <a:p>
            <a:pPr>
              <a:spcBef>
                <a:spcPts val="200"/>
              </a:spcBef>
              <a:defRPr sz="1100">
                <a:solidFill>
                  <a:srgbClr val="64748B"/>
                </a:solidFill>
              </a:defRPr>
            </a:pPr>
            <a:r>
              <a:t>Evaluasi Lintas Program Studi Membuktikan Paralelisme Sempurna Antara Penolakan Beasiswa dan Bangku Kosong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0728655" cy="190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23_korelasi_prodi_calon_gugur_vs_kip_des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08760"/>
            <a:ext cx="7315200" cy="385010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5394960"/>
            <a:ext cx="7315200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37160" bIns="137160"/>
          <a:lstStyle/>
          <a:p>
            <a:pPr algn="ctr">
              <a:spcAft>
                <a:spcPts val="300"/>
              </a:spcAft>
              <a:defRPr b="1" sz="1000">
                <a:solidFill>
                  <a:srgbClr val="1B3B6F"/>
                </a:solidFill>
              </a:defRPr>
            </a:pPr>
            <a:r>
              <a:t>BUKTI PARALELISME 100%: FAKULTAS KEPERAWATAN &amp; RUMPUN AGRO-MARITIM</a:t>
            </a:r>
          </a:p>
          <a:p>
            <a:pPr>
              <a:defRPr sz="850">
                <a:solidFill>
                  <a:srgbClr val="374151"/>
                </a:solidFill>
              </a:defRPr>
            </a:pPr>
            <a:r>
              <a:t>• Keperawatan (20 gugur ↔ 20 KIP ditolak) dan Sospol membuktikan korelasi 1-to-1 sempurna.</a:t>
            </a:r>
            <a:br/>
            <a:r>
              <a:t>• Mahasiswa di prodi-prodi ini mundur murni karena ketiadaan beasiswa pasca penetapan UKT reguler.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75320" y="1508760"/>
            <a:ext cx="3182112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37160" bIns="137160"/>
          <a:lstStyle/>
          <a:p>
            <a:pPr algn="ctr">
              <a:spcAft>
                <a:spcPts val="800"/>
              </a:spcAft>
              <a:defRPr b="1" sz="1200">
                <a:solidFill>
                  <a:srgbClr val="1B3B6F"/>
                </a:solidFill>
              </a:defRPr>
            </a:pPr>
            <a:r>
              <a:t>BUKTI PARALELISME PER PRODI:</a:t>
            </a:r>
          </a:p>
          <a:p>
            <a:pPr>
              <a:spcAft>
                <a:spcPts val="400"/>
              </a:spcAft>
              <a:defRPr sz="1000"/>
            </a:pPr>
            <a:r>
              <a:rPr b="1" sz="1000">
                <a:solidFill>
                  <a:srgbClr val="C0392B"/>
                </a:solidFill>
              </a:rPr>
              <a:t>Keperawatan: </a:t>
            </a:r>
            <a:r>
              <a:rPr sz="1000">
                <a:solidFill>
                  <a:srgbClr val="374151"/>
                </a:solidFill>
              </a:rPr>
              <a:t>20 Gugur ↔ 20 KIP Desil 5-6 Ditolak (Korelasi 100%!)</a:t>
            </a:r>
          </a:p>
          <a:p>
            <a:pPr>
              <a:spcAft>
                <a:spcPts val="400"/>
              </a:spcAft>
              <a:defRPr sz="1000"/>
            </a:pPr>
            <a:r>
              <a:rPr b="1" sz="1000">
                <a:solidFill>
                  <a:srgbClr val="1B3B6F"/>
                </a:solidFill>
              </a:rPr>
              <a:t>PGSD: </a:t>
            </a:r>
            <a:r>
              <a:rPr sz="1000">
                <a:solidFill>
                  <a:srgbClr val="374151"/>
                </a:solidFill>
              </a:rPr>
              <a:t>9 Gugur ↔ 20 KIP Desil 5-6 Ditolak</a:t>
            </a:r>
          </a:p>
          <a:p>
            <a:pPr>
              <a:spcAft>
                <a:spcPts val="400"/>
              </a:spcAft>
              <a:defRPr sz="1000"/>
            </a:pPr>
            <a:r>
              <a:rPr b="1" sz="1000">
                <a:solidFill>
                  <a:srgbClr val="1B3B6F"/>
                </a:solidFill>
              </a:rPr>
              <a:t>Akuntansi: </a:t>
            </a:r>
            <a:r>
              <a:rPr sz="1000">
                <a:solidFill>
                  <a:srgbClr val="374151"/>
                </a:solidFill>
              </a:rPr>
              <a:t>20 Gugur ↔ 14 KIP Desil 5-6 Ditolak</a:t>
            </a:r>
          </a:p>
          <a:p>
            <a:pPr>
              <a:spcAft>
                <a:spcPts val="400"/>
              </a:spcAft>
              <a:defRPr sz="1000"/>
            </a:pPr>
            <a:r>
              <a:rPr b="1" sz="1000">
                <a:solidFill>
                  <a:srgbClr val="1B3B6F"/>
                </a:solidFill>
              </a:rPr>
              <a:t>Budidaya Perairan: </a:t>
            </a:r>
            <a:r>
              <a:rPr sz="1000">
                <a:solidFill>
                  <a:srgbClr val="374151"/>
                </a:solidFill>
              </a:rPr>
              <a:t>16 Gugur ↔ 12 KIP Desil 5-6 Ditolak</a:t>
            </a:r>
          </a:p>
          <a:p>
            <a:pPr>
              <a:spcAft>
                <a:spcPts val="400"/>
              </a:spcAft>
              <a:defRPr sz="1000"/>
            </a:pPr>
            <a:r>
              <a:rPr b="1" sz="1000">
                <a:solidFill>
                  <a:srgbClr val="1B3B6F"/>
                </a:solidFill>
              </a:rPr>
              <a:t>Ilmu Hukum: </a:t>
            </a:r>
            <a:r>
              <a:rPr sz="1000">
                <a:solidFill>
                  <a:srgbClr val="374151"/>
                </a:solidFill>
              </a:rPr>
              <a:t>14 Gugur ↔ 15 KIP Desil 5-6 Ditolak</a:t>
            </a:r>
          </a:p>
          <a:p>
            <a:pPr>
              <a:spcAft>
                <a:spcPts val="400"/>
              </a:spcAft>
              <a:defRPr sz="1000"/>
            </a:pPr>
            <a:r>
              <a:rPr b="1" sz="1000">
                <a:solidFill>
                  <a:srgbClr val="C0392B"/>
                </a:solidFill>
              </a:rPr>
              <a:t>D3 Agribisnis: </a:t>
            </a:r>
            <a:r>
              <a:rPr sz="1000">
                <a:solidFill>
                  <a:srgbClr val="374151"/>
                </a:solidFill>
              </a:rPr>
              <a:t>40 Gugur dari 57 Lulus — 17 KIP ditolak. Vokasi paling parah!</a:t>
            </a:r>
          </a:p>
          <a:p>
            <a:pPr>
              <a:spcAft>
                <a:spcPts val="600"/>
              </a:spcAft>
              <a:defRPr sz="1000"/>
            </a:pPr>
            <a:r>
              <a:rPr b="1" sz="1000">
                <a:solidFill>
                  <a:srgbClr val="1B3B6F"/>
                </a:solidFill>
              </a:rPr>
              <a:t>Ilmu Pemerintahan: </a:t>
            </a:r>
            <a:r>
              <a:rPr sz="1000">
                <a:solidFill>
                  <a:srgbClr val="374151"/>
                </a:solidFill>
              </a:rPr>
              <a:t>12 Gugur ↔ 14 KIP (100% Desil 5-6)</a:t>
            </a:r>
          </a:p>
          <a:p>
            <a:pPr>
              <a:spcAft>
                <a:spcPts val="300"/>
              </a:spcAft>
              <a:defRPr sz="1000"/>
            </a:pPr>
            <a:r>
              <a:rPr b="1" sz="1000">
                <a:solidFill>
                  <a:srgbClr val="E65100"/>
                </a:solidFill>
              </a:rPr>
              <a:t>Kesimpulan: </a:t>
            </a:r>
            <a:r>
              <a:rPr sz="1000">
                <a:solidFill>
                  <a:srgbClr val="374151"/>
                </a:solidFill>
              </a:rPr>
              <a:t>Prodi rumpun keguruan, kesehatan, pertanian, &amp; sospol bocor murni karena benturan ekonomi, bukan ketiadaan peminat.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6588760"/>
            <a:ext cx="7315200" cy="218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800" b="1">
                <a:solidFill>
                  <a:srgbClr val="C9A84C"/>
                </a:solidFill>
              </a:defRPr>
            </a:pPr>
            <a:r>
              <a:t>UNIVERSITAS SYIAH KUALA  |  RAPAT PIMPINAN PMB  |  ANALISA PEMINATAN &amp; DAYA TAMPUNG 2022–2026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588760"/>
            <a:ext cx="1371600" cy="218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 b="1">
                <a:solidFill>
                  <a:srgbClr val="F5F0E8"/>
                </a:solidFill>
              </a:defRPr>
            </a:pPr>
            <a:r>
              <a:t>16 / 24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0" y="1645920"/>
            <a:ext cx="393192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600" b="1">
                <a:solidFill>
                  <a:srgbClr val="C9A84C"/>
                </a:solidFill>
              </a:defRPr>
            </a:pPr>
            <a:r>
              <a:t>03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0" y="3611880"/>
            <a:ext cx="3931920" cy="190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286000" y="3840480"/>
            <a:ext cx="75895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F5F0E8"/>
                </a:solidFill>
              </a:defRPr>
            </a:pPr>
            <a:r>
              <a:t>DIMENSI SOSIAL-EKONOMI &amp; KINERJA INSTITUSI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588760"/>
            <a:ext cx="7315200" cy="218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800" b="1">
                <a:solidFill>
                  <a:srgbClr val="C9A84C"/>
                </a:solidFill>
              </a:defRPr>
            </a:pPr>
            <a:r>
              <a:t>UNIVERSITAS SYIAH KUALA  |  RAPAT PIMPINAN PMB  |  ANALISA PEMINATAN &amp; DAYA TAMPUNG 2022–2026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88760"/>
            <a:ext cx="1371600" cy="218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 b="1">
                <a:solidFill>
                  <a:srgbClr val="F5F0E8"/>
                </a:solidFill>
              </a:defRPr>
            </a:pPr>
            <a:r>
              <a:t>17 / 24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C9A84C"/>
                </a:solidFill>
              </a:defRPr>
            </a:pPr>
            <a:r>
              <a:t>UNIVERSITAS SYIAH KUALA  |  RAPAT PIMPINAN PMB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D1F3C"/>
                </a:solidFill>
              </a:defRPr>
            </a:pPr>
            <a:r>
              <a:t>Stratifikasi Sosial-Ekonomi: Kuadran III Sebagai Jaring Pengaman Sosial USK</a:t>
            </a:r>
          </a:p>
          <a:p>
            <a:pPr>
              <a:spcBef>
                <a:spcPts val="200"/>
              </a:spcBef>
              <a:defRPr sz="1100">
                <a:solidFill>
                  <a:srgbClr val="64748B"/>
                </a:solidFill>
              </a:defRPr>
            </a:pPr>
            <a:r>
              <a:t>Distribusi Mahasiswa Prasejahtera Sangat Timpang — Kuadran III Menanggung Beban Sosial Terbesar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0728655" cy="190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21_ketergantungan_kip_antar_kuadran_dan_top_prod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08760"/>
            <a:ext cx="7315200" cy="34747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5029200"/>
            <a:ext cx="7315200" cy="1234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37160" bIns="137160"/>
          <a:lstStyle/>
          <a:p>
            <a:pPr algn="ctr">
              <a:spcAft>
                <a:spcPts val="300"/>
              </a:spcAft>
              <a:defRPr b="1" sz="1050">
                <a:solidFill>
                  <a:srgbClr val="1B3B6F"/>
                </a:solidFill>
              </a:defRPr>
            </a:pPr>
            <a:r>
              <a:t>KUADRAN III = JARING PENGAMAN SOSIAL &amp; DEMOKRATISASI KAMPUS USK</a:t>
            </a:r>
          </a:p>
          <a:p>
            <a:pPr>
              <a:defRPr sz="900">
                <a:solidFill>
                  <a:srgbClr val="374151"/>
                </a:solidFill>
              </a:defRPr>
            </a:pPr>
            <a:r>
              <a:t>• Penetrasi beasiswa Kuadran III (31,1%) mencapai 2,4× Kuadran I (13,2%). PSP Perikanan bahkan 56,7%!</a:t>
            </a:r>
            <a:br/>
            <a:r>
              <a:t>• Program studi Kuadran III menampung anak-anak keluarga nelayan, petani, dan buruh prasejahtera Aceh.</a:t>
            </a:r>
            <a:br/>
            <a:r>
              <a:t>• Alokasi beasiswa KIP harus diproteksi dan disinkronkan untuk menjaga kelangsungan program studi rentan.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75320" y="1508760"/>
            <a:ext cx="3182112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37160" bIns="137160"/>
          <a:lstStyle/>
          <a:p>
            <a:pPr algn="ctr">
              <a:spcAft>
                <a:spcPts val="800"/>
              </a:spcAft>
              <a:defRPr b="1" sz="1200">
                <a:solidFill>
                  <a:srgbClr val="1B3B6F"/>
                </a:solidFill>
              </a:defRPr>
            </a:pPr>
            <a:r>
              <a:t>PENETRASI KIP PER KUADRAN:</a:t>
            </a:r>
          </a:p>
          <a:p>
            <a:pPr>
              <a:spcAft>
                <a:spcPts val="500"/>
              </a:spcAft>
              <a:defRPr sz="1000"/>
            </a:pPr>
            <a:r>
              <a:rPr b="1" sz="1000">
                <a:solidFill>
                  <a:srgbClr val="1B3B6F"/>
                </a:solidFill>
              </a:rPr>
              <a:t>Kuadran I (Unggulan): </a:t>
            </a:r>
            <a:r>
              <a:rPr sz="1000">
                <a:solidFill>
                  <a:srgbClr val="374151"/>
                </a:solidFill>
              </a:rPr>
              <a:t>13,19% (515 KIP dari 3.905 mhs). Mandiri finansial, didominasi pembayar UKT tinggi dan IPI.</a:t>
            </a:r>
          </a:p>
          <a:p>
            <a:pPr>
              <a:spcAft>
                <a:spcPts val="500"/>
              </a:spcAft>
              <a:defRPr sz="1000"/>
            </a:pPr>
            <a:r>
              <a:rPr b="1" sz="1000">
                <a:solidFill>
                  <a:srgbClr val="1B3B6F"/>
                </a:solidFill>
              </a:rPr>
              <a:t>Kuadran II (Stabil): </a:t>
            </a:r>
            <a:r>
              <a:rPr sz="1000">
                <a:solidFill>
                  <a:srgbClr val="374151"/>
                </a:solidFill>
              </a:rPr>
              <a:t>14,63% (153 KIP dari 1.046 mhs).</a:t>
            </a:r>
          </a:p>
          <a:p>
            <a:pPr>
              <a:spcAft>
                <a:spcPts val="500"/>
              </a:spcAft>
              <a:defRPr sz="1000"/>
            </a:pPr>
            <a:r>
              <a:rPr b="1" sz="1000">
                <a:solidFill>
                  <a:srgbClr val="1B3B6F"/>
                </a:solidFill>
              </a:rPr>
              <a:t>Kuadran IV (Bocor): </a:t>
            </a:r>
            <a:r>
              <a:rPr sz="1000">
                <a:solidFill>
                  <a:srgbClr val="374151"/>
                </a:solidFill>
              </a:rPr>
              <a:t>24,47% (163 KIP dari 666 mhs).</a:t>
            </a:r>
          </a:p>
          <a:p>
            <a:pPr>
              <a:spcAft>
                <a:spcPts val="600"/>
              </a:spcAft>
              <a:defRPr sz="1000"/>
            </a:pPr>
            <a:r>
              <a:rPr b="1" sz="1000">
                <a:solidFill>
                  <a:srgbClr val="C0392B"/>
                </a:solidFill>
              </a:rPr>
              <a:t>Kuadran III (Defisit): </a:t>
            </a:r>
            <a:r>
              <a:rPr sz="1000">
                <a:solidFill>
                  <a:srgbClr val="374151"/>
                </a:solidFill>
              </a:rPr>
              <a:t>31,11% (734 KIP dari 2.359 mhs). 2,4× Kuadran I!</a:t>
            </a:r>
          </a:p>
          <a:p>
            <a:pPr>
              <a:spcAft>
                <a:spcPts val="400"/>
              </a:spcAft>
              <a:defRPr sz="950"/>
            </a:pPr>
            <a:r>
              <a:rPr b="1" sz="950">
                <a:solidFill>
                  <a:srgbClr val="1B3B6F"/>
                </a:solidFill>
              </a:rPr>
              <a:t>Top KIP Dependency: </a:t>
            </a:r>
            <a:r>
              <a:rPr sz="950">
                <a:solidFill>
                  <a:srgbClr val="374151"/>
                </a:solidFill>
              </a:rPr>
              <a:t>PSP Perikanan 56,7%, Pend. Fisika 53,9%, Budidaya Perairan 51,1%, Pend. Ekonomi 49,5%</a:t>
            </a:r>
          </a:p>
          <a:p>
            <a:pPr>
              <a:spcAft>
                <a:spcPts val="300"/>
              </a:spcAft>
              <a:defRPr sz="950"/>
            </a:pPr>
            <a:r>
              <a:rPr b="1" sz="950">
                <a:solidFill>
                  <a:srgbClr val="1B3B6F"/>
                </a:solidFill>
              </a:rPr>
              <a:t>Lowest KIP (Elite): </a:t>
            </a:r>
            <a:r>
              <a:rPr sz="950">
                <a:solidFill>
                  <a:srgbClr val="374151"/>
                </a:solidFill>
              </a:rPr>
              <a:t>P. Dokter Gigi 1,0%, P. Dokter 2,4%, Informatika 3,4%, T. Perminyakan 3,9%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6588760"/>
            <a:ext cx="7315200" cy="218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800" b="1">
                <a:solidFill>
                  <a:srgbClr val="C9A84C"/>
                </a:solidFill>
              </a:defRPr>
            </a:pPr>
            <a:r>
              <a:t>UNIVERSITAS SYIAH KUALA  |  RAPAT PIMPINAN PMB  |  ANALISA PEMINATAN &amp; DAYA TAMPUNG 2022–2026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588760"/>
            <a:ext cx="1371600" cy="218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 b="1">
                <a:solidFill>
                  <a:srgbClr val="F5F0E8"/>
                </a:solidFill>
              </a:defRPr>
            </a:pPr>
            <a:r>
              <a:t>18 / 24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C9A84C"/>
                </a:solidFill>
              </a:defRPr>
            </a:pPr>
            <a:r>
              <a:t>UNIVERSITAS SYIAH KUALA  |  RAPAT PIMPINAN PMB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D1F3C"/>
                </a:solidFill>
              </a:defRPr>
            </a:pPr>
            <a:r>
              <a:t>Demografi Penerima KIP-Kuliah &amp; Evaluasi Kinerja 12 Fakultas S1 (2026)</a:t>
            </a:r>
          </a:p>
          <a:p>
            <a:pPr>
              <a:spcBef>
                <a:spcPts val="200"/>
              </a:spcBef>
              <a:defRPr sz="1100">
                <a:solidFill>
                  <a:srgbClr val="64748B"/>
                </a:solidFill>
              </a:defRPr>
            </a:pPr>
            <a:r>
              <a:t>Profil Sebaran Mahasiswa Prasejahtera dan Diagnostik Pemenuhan Kuota di 12 Fakultas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0728655" cy="190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22_demografi_fakultas_dan_gender_kip_20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08760"/>
            <a:ext cx="5257800" cy="2522234"/>
          </a:xfrm>
          <a:prstGeom prst="rect">
            <a:avLst/>
          </a:prstGeom>
        </p:spPr>
      </p:pic>
      <p:pic>
        <p:nvPicPr>
          <p:cNvPr id="6" name="Picture 5" descr="07_analisa_peminatan_dan_keterisian_fakult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9632" y="1719072"/>
            <a:ext cx="5257800" cy="21031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4114800"/>
            <a:ext cx="3429000" cy="214884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37160" bIns="137160"/>
          <a:lstStyle/>
          <a:p>
            <a:pPr algn="ctr">
              <a:spcAft>
                <a:spcPts val="800"/>
              </a:spcAft>
              <a:defRPr b="1" sz="1100">
                <a:solidFill>
                  <a:srgbClr val="1B3B6F"/>
                </a:solidFill>
              </a:defRPr>
            </a:pPr>
            <a:r>
              <a:t>1. PROFIL DEMOGRAFI KIP</a:t>
            </a:r>
          </a:p>
          <a:p>
            <a:pPr>
              <a:spcAft>
                <a:spcPts val="300"/>
              </a:spcAft>
              <a:defRPr sz="950"/>
            </a:pPr>
            <a:r>
              <a:rPr b="1" sz="950">
                <a:solidFill>
                  <a:srgbClr val="1B3B6F"/>
                </a:solidFill>
              </a:rPr>
              <a:t>FKIP Dominan: </a:t>
            </a:r>
            <a:r>
              <a:rPr sz="950">
                <a:solidFill>
                  <a:srgbClr val="374151"/>
                </a:solidFill>
              </a:rPr>
              <a:t>651 KIP (39,7% total universitas) — hampir 40% beasiswa kampus!</a:t>
            </a:r>
          </a:p>
          <a:p>
            <a:pPr>
              <a:spcAft>
                <a:spcPts val="300"/>
              </a:spcAft>
              <a:defRPr sz="950"/>
            </a:pPr>
            <a:r>
              <a:rPr b="1" sz="950">
                <a:solidFill>
                  <a:srgbClr val="E65100"/>
                </a:solidFill>
              </a:rPr>
              <a:t>Gender 3,4:1: </a:t>
            </a:r>
            <a:r>
              <a:rPr sz="950">
                <a:solidFill>
                  <a:srgbClr val="374151"/>
                </a:solidFill>
              </a:rPr>
              <a:t>Perempuan 1.268 (77,4%) vs Pria 371 (22,6%). KIP = pilar mobilitas perempuan Aceh.</a:t>
            </a:r>
          </a:p>
          <a:p>
            <a:pPr>
              <a:spcAft>
                <a:spcPts val="200"/>
              </a:spcAft>
              <a:defRPr sz="950"/>
            </a:pPr>
            <a:r>
              <a:rPr b="1" sz="950">
                <a:solidFill>
                  <a:srgbClr val="1B3B6F"/>
                </a:solidFill>
              </a:rPr>
              <a:t>Pintu Masuk: </a:t>
            </a:r>
            <a:r>
              <a:rPr sz="950">
                <a:solidFill>
                  <a:srgbClr val="374151"/>
                </a:solidFill>
              </a:rPr>
              <a:t>SNBP menyerap 54,5% di awal, menyisakan kuota KIP ketat di SNBT.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79976" y="4114800"/>
            <a:ext cx="3429000" cy="214884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37160" bIns="137160"/>
          <a:lstStyle/>
          <a:p>
            <a:pPr algn="ctr">
              <a:spcAft>
                <a:spcPts val="800"/>
              </a:spcAft>
              <a:defRPr b="1" sz="1100">
                <a:solidFill>
                  <a:srgbClr val="166534"/>
                </a:solidFill>
              </a:defRPr>
            </a:pPr>
            <a:r>
              <a:t>2. ZONASI KINERJA 12 FAKULTAS</a:t>
            </a:r>
          </a:p>
          <a:p>
            <a:pPr>
              <a:spcAft>
                <a:spcPts val="300"/>
              </a:spcAft>
              <a:defRPr sz="950"/>
            </a:pPr>
            <a:r>
              <a:rPr b="1" sz="950">
                <a:solidFill>
                  <a:srgbClr val="166534"/>
                </a:solidFill>
              </a:rPr>
              <a:t>Prima (98–100%): </a:t>
            </a:r>
            <a:r>
              <a:rPr sz="950">
                <a:solidFill>
                  <a:srgbClr val="374151"/>
                </a:solidFill>
              </a:rPr>
              <a:t>FKG (100%), Hukum (99,6%), Kedokteran (98,8%). Sangat diminati &amp; presisi.</a:t>
            </a:r>
          </a:p>
          <a:p>
            <a:pPr>
              <a:spcAft>
                <a:spcPts val="300"/>
              </a:spcAft>
              <a:defRPr sz="950"/>
            </a:pPr>
            <a:r>
              <a:rPr b="1" sz="950">
                <a:solidFill>
                  <a:srgbClr val="1B3B6F"/>
                </a:solidFill>
              </a:rPr>
              <a:t>Sehat (&gt;80%): </a:t>
            </a:r>
            <a:r>
              <a:rPr sz="950">
                <a:solidFill>
                  <a:srgbClr val="374151"/>
                </a:solidFill>
              </a:rPr>
              <a:t>FISIP 89,6%, FKH 88,5%, FKep 81,9%, FMIPA 81,9%.</a:t>
            </a:r>
          </a:p>
          <a:p>
            <a:pPr>
              <a:spcAft>
                <a:spcPts val="200"/>
              </a:spcAft>
              <a:defRPr sz="950"/>
            </a:pPr>
            <a:r>
              <a:rPr b="1" sz="950">
                <a:solidFill>
                  <a:srgbClr val="C0392B"/>
                </a:solidFill>
              </a:rPr>
              <a:t>Kritis (&lt;80%): </a:t>
            </a:r>
            <a:r>
              <a:rPr sz="950">
                <a:solidFill>
                  <a:srgbClr val="374151"/>
                </a:solidFill>
              </a:rPr>
              <a:t>FEB 77,2%, FPK 62,4%, Pertanian 62,1%. Perlu restrukturisasi.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28432" y="4114800"/>
            <a:ext cx="3429000" cy="214884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37160" bIns="137160"/>
          <a:lstStyle/>
          <a:p>
            <a:pPr algn="ctr">
              <a:spcAft>
                <a:spcPts val="800"/>
              </a:spcAft>
              <a:defRPr b="1" sz="1100">
                <a:solidFill>
                  <a:srgbClr val="B91C1C"/>
                </a:solidFill>
              </a:defRPr>
            </a:pPr>
            <a:r>
              <a:t>3. KONSENTRASI KURSI KOSONG</a:t>
            </a:r>
          </a:p>
          <a:p>
            <a:pPr>
              <a:spcAft>
                <a:spcPts val="300"/>
              </a:spcAft>
              <a:defRPr sz="950"/>
            </a:pPr>
            <a:r>
              <a:rPr b="1" sz="950">
                <a:solidFill>
                  <a:srgbClr val="B91C1C"/>
                </a:solidFill>
              </a:rPr>
              <a:t>Tiga Episenter: </a:t>
            </a:r>
            <a:r>
              <a:rPr sz="950">
                <a:solidFill>
                  <a:srgbClr val="374151"/>
                </a:solidFill>
              </a:rPr>
              <a:t>FKIP (421 kursi) + Teknik (302) + Pertanian (299).</a:t>
            </a:r>
          </a:p>
          <a:p>
            <a:pPr>
              <a:spcAft>
                <a:spcPts val="300"/>
              </a:spcAft>
              <a:defRPr sz="950"/>
            </a:pPr>
            <a:r>
              <a:rPr b="1" sz="950">
                <a:solidFill>
                  <a:srgbClr val="1B3B6F"/>
                </a:solidFill>
              </a:rPr>
              <a:t>Porsi 65,1%: </a:t>
            </a:r>
            <a:r>
              <a:rPr sz="950">
                <a:solidFill>
                  <a:srgbClr val="374151"/>
                </a:solidFill>
              </a:rPr>
              <a:t>3 fakultas ini menyumbang hampir dua pertiga seluruh bangku kosong USK!</a:t>
            </a:r>
          </a:p>
          <a:p>
            <a:pPr>
              <a:spcAft>
                <a:spcPts val="200"/>
              </a:spcAft>
              <a:defRPr sz="950"/>
            </a:pPr>
            <a:r>
              <a:rPr b="1" sz="950">
                <a:solidFill>
                  <a:srgbClr val="B91C1C"/>
                </a:solidFill>
              </a:rPr>
              <a:t>Arah Kebijakan: </a:t>
            </a:r>
            <a:r>
              <a:rPr sz="950">
                <a:solidFill>
                  <a:srgbClr val="374151"/>
                </a:solidFill>
              </a:rPr>
              <a:t>Rasionalisasi kuota terfokus pada 3 fakultas ini akan menyelesaikan 65% masalah kampus.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588760"/>
            <a:ext cx="7315200" cy="218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800" b="1">
                <a:solidFill>
                  <a:srgbClr val="C9A84C"/>
                </a:solidFill>
              </a:defRPr>
            </a:pPr>
            <a:r>
              <a:t>UNIVERSITAS SYIAH KUALA  |  RAPAT PIMPINAN PMB  |  ANALISA PEMINATAN &amp; DAYA TAMPUNG 2022–2026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6588760"/>
            <a:ext cx="1371600" cy="218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 b="1">
                <a:solidFill>
                  <a:srgbClr val="F5F0E8"/>
                </a:solidFill>
              </a:defRPr>
            </a:pPr>
            <a:r>
              <a:t>19 / 24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C9A84C"/>
                </a:solidFill>
              </a:defRPr>
            </a:pPr>
            <a:r>
              <a:t>UNIVERSITAS SYIAH KUALA  |  RAPAT PIMPINAN PMB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D1F3C"/>
                </a:solidFill>
              </a:defRPr>
            </a:pPr>
            <a:r>
              <a:t>Prinsip Pareto: 15 Prodi = 48,4% Seluruh Kursi Kosong | Krisis D3 &amp; PSDKU</a:t>
            </a:r>
          </a:p>
          <a:p>
            <a:pPr>
              <a:spcBef>
                <a:spcPts val="200"/>
              </a:spcBef>
              <a:defRPr sz="1100">
                <a:solidFill>
                  <a:srgbClr val="64748B"/>
                </a:solidFill>
              </a:defRPr>
            </a:pPr>
            <a:r>
              <a:t>Diagnostik tingkat program studi mengungkap konsentrasi defisit yang sangat tajam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0728655" cy="190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16a_episentrum_kursi_kosong_15_prod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08760"/>
            <a:ext cx="5989320" cy="439216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949440" y="1508760"/>
            <a:ext cx="4510735" cy="224028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37160" bIns="137160"/>
          <a:lstStyle/>
          <a:p>
            <a:pPr algn="ctr">
              <a:spcAft>
                <a:spcPts val="800"/>
              </a:spcAft>
              <a:defRPr b="1" sz="1100">
                <a:solidFill>
                  <a:srgbClr val="B91C1C"/>
                </a:solidFill>
              </a:defRPr>
            </a:pPr>
            <a:r>
              <a:t>EPISENTRUM DEFISIT S1 (PARETO 80/20):</a:t>
            </a:r>
          </a:p>
          <a:p>
            <a:pPr>
              <a:spcAft>
                <a:spcPts val="300"/>
              </a:spcAft>
              <a:defRPr sz="950"/>
            </a:pPr>
            <a:r>
              <a:rPr b="1" sz="950">
                <a:solidFill>
                  <a:srgbClr val="B91C1C"/>
                </a:solidFill>
              </a:rPr>
              <a:t>15 Prodi = 759 Kursi Kosong: </a:t>
            </a:r>
            <a:r>
              <a:rPr sz="950">
                <a:solidFill>
                  <a:srgbClr val="374151"/>
                </a:solidFill>
              </a:rPr>
              <a:t>48,4% dari total 1.569 kursi kosong S1 Kampus Utama 2026.</a:t>
            </a:r>
          </a:p>
          <a:p>
            <a:pPr>
              <a:spcAft>
                <a:spcPts val="300"/>
              </a:spcAft>
              <a:defRPr sz="950"/>
            </a:pPr>
            <a:r>
              <a:rPr b="1" sz="950">
                <a:solidFill>
                  <a:srgbClr val="1B3B6F"/>
                </a:solidFill>
              </a:rPr>
              <a:t>Top 5 Defisit Terbesar: </a:t>
            </a:r>
            <a:r>
              <a:rPr sz="950">
                <a:solidFill>
                  <a:srgbClr val="374151"/>
                </a:solidFill>
              </a:rPr>
              <a:t>Budidaya Perairan (70), Keperawatan (65), T. Kimia (60), THP (58), Pend. Ekonomi (57).</a:t>
            </a:r>
          </a:p>
          <a:p>
            <a:pPr>
              <a:spcAft>
                <a:spcPts val="200"/>
              </a:spcAft>
              <a:defRPr sz="950"/>
            </a:pPr>
            <a:r>
              <a:rPr b="1" sz="950">
                <a:solidFill>
                  <a:srgbClr val="1B3B6F"/>
                </a:solidFill>
              </a:rPr>
              <a:t>Akumulasi 5 Tahun: </a:t>
            </a:r>
            <a:r>
              <a:rPr sz="950">
                <a:solidFill>
                  <a:srgbClr val="374151"/>
                </a:solidFill>
              </a:rPr>
              <a:t>3.850 kursi kosong terkonsentrasi di 15 prodi ini (43,4% dari total 8.881 defisit kampus).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0" y="3840480"/>
            <a:ext cx="4510735" cy="2423160"/>
          </a:xfrm>
          <a:prstGeom prst="roundRect">
            <a:avLst/>
          </a:prstGeom>
          <a:solidFill>
            <a:srgbClr val="FFF7ED"/>
          </a:solidFill>
          <a:ln w="12700">
            <a:solidFill>
              <a:srgbClr val="FED7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37160" bIns="137160"/>
          <a:lstStyle/>
          <a:p>
            <a:pPr algn="ctr">
              <a:spcAft>
                <a:spcPts val="800"/>
              </a:spcAft>
              <a:defRPr b="1" sz="1100">
                <a:solidFill>
                  <a:srgbClr val="E65100"/>
                </a:solidFill>
              </a:defRPr>
            </a:pPr>
            <a:r>
              <a:t>SEGMEN KHUSUS: KRISIS D3 VOKASI &amp; PSDKU:</a:t>
            </a:r>
          </a:p>
          <a:p>
            <a:pPr>
              <a:spcAft>
                <a:spcPts val="400"/>
              </a:spcAft>
              <a:defRPr sz="950"/>
            </a:pPr>
            <a:r>
              <a:rPr b="1" sz="950">
                <a:solidFill>
                  <a:srgbClr val="E65100"/>
                </a:solidFill>
              </a:rPr>
              <a:t>D3 Vokasi (Keterisian 48,5%): </a:t>
            </a:r>
            <a:r>
              <a:rPr sz="950">
                <a:solidFill>
                  <a:srgbClr val="374151"/>
                </a:solidFill>
              </a:rPr>
              <a:t>1.320 kursi terbuang dari 2.565 kuota (4 tahun). D3 Agribisnis hanya 36,8%!
→ Rekomendasi: Konversi D3→D4 Sarjana Terapan (Golongan III/a).</a:t>
            </a:r>
          </a:p>
          <a:p>
            <a:pPr>
              <a:spcAft>
                <a:spcPts val="200"/>
              </a:spcAft>
              <a:defRPr sz="950"/>
            </a:pPr>
            <a:r>
              <a:rPr b="1" sz="950">
                <a:solidFill>
                  <a:srgbClr val="C0392B"/>
                </a:solidFill>
              </a:rPr>
              <a:t>PSDKU Gayo Lues (25,4%): </a:t>
            </a:r>
            <a:r>
              <a:rPr sz="950">
                <a:solidFill>
                  <a:srgbClr val="374151"/>
                </a:solidFill>
              </a:rPr>
              <a:t>783 kursi mubazir dari 1.050 kuota (5 tahun). 74,6% bangku kosong melompong!
→ Rekomendasi: Pangkas kuota 50% + Wajibkan MoU beasiswa Pemkab.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6588760"/>
            <a:ext cx="7315200" cy="218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800" b="1">
                <a:solidFill>
                  <a:srgbClr val="C9A84C"/>
                </a:solidFill>
              </a:defRPr>
            </a:pPr>
            <a:r>
              <a:t>UNIVERSITAS SYIAH KUALA  |  RAPAT PIMPINAN PMB  |  ANALISA PEMINATAN &amp; DAYA TAMPUNG 2022–2026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588760"/>
            <a:ext cx="1371600" cy="218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 b="1">
                <a:solidFill>
                  <a:srgbClr val="F5F0E8"/>
                </a:solidFill>
              </a:defRPr>
            </a:pPr>
            <a:r>
              <a:t>20 / 24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0" y="1645920"/>
            <a:ext cx="393192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600" b="1">
                <a:solidFill>
                  <a:srgbClr val="C9A84C"/>
                </a:solidFill>
              </a:defRPr>
            </a:pPr>
            <a:r>
              <a:t>04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0" y="3611880"/>
            <a:ext cx="3931920" cy="190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286000" y="3840480"/>
            <a:ext cx="75895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F5F0E8"/>
                </a:solidFill>
              </a:defRPr>
            </a:pPr>
            <a:r>
              <a:t>REKOMENDASI KEBIJAKAN STRATEGIS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588760"/>
            <a:ext cx="7315200" cy="218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800" b="1">
                <a:solidFill>
                  <a:srgbClr val="C9A84C"/>
                </a:solidFill>
              </a:defRPr>
            </a:pPr>
            <a:r>
              <a:t>UNIVERSITAS SYIAH KUALA  |  RAPAT PIMPINAN PMB  |  ANALISA PEMINATAN &amp; DAYA TAMPUNG 2022–2026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88760"/>
            <a:ext cx="1371600" cy="218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 b="1">
                <a:solidFill>
                  <a:srgbClr val="F5F0E8"/>
                </a:solidFill>
              </a:defRPr>
            </a:pPr>
            <a:r>
              <a:t>21 / 24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C9A84C"/>
                </a:solidFill>
              </a:defRPr>
            </a:pPr>
            <a:r>
              <a:t>UNIVERSITAS SYIAH KUALA  |  RAPAT PIMPINAN PMB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D1F3C"/>
                </a:solidFill>
              </a:defRPr>
            </a:pPr>
            <a:r>
              <a:t>6 Rekomendasi Kebijakan Terintegrasi Menuju PMB 2027 yang Efisien &amp; Berkeadilan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0728655" cy="190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342900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37160" bIns="137160"/>
          <a:lstStyle/>
          <a:p>
            <a:pPr algn="ctr">
              <a:spcAft>
                <a:spcPts val="500"/>
              </a:spcAft>
              <a:defRPr b="1" sz="1000">
                <a:solidFill>
                  <a:srgbClr val="C0392B"/>
                </a:solidFill>
              </a:defRPr>
            </a:pPr>
            <a:r>
              <a:t>AKSI 1:</a:t>
            </a:r>
            <a:br/>
            <a:r>
              <a:t>RASIONALISASI KUOTA</a:t>
            </a:r>
          </a:p>
          <a:p>
            <a:pPr>
              <a:spcAft>
                <a:spcPts val="400"/>
              </a:spcAft>
              <a:defRPr sz="900"/>
            </a:pPr>
            <a:r>
              <a:rPr sz="900">
                <a:solidFill>
                  <a:srgbClr val="374151"/>
                </a:solidFill>
              </a:rPr>
              <a:t>Pangkas 20–40% pada 22 prodi Kuadran III. Budidaya Perairan 160→90, THP 160→100, Pend. Ekonomi 160→100, T. Kimia 180→120, Fisika 80→50.</a:t>
            </a:r>
          </a:p>
          <a:p>
            <a:pPr>
              <a:spcAft>
                <a:spcPts val="200"/>
              </a:spcAft>
              <a:defRPr sz="900"/>
            </a:pPr>
            <a:r>
              <a:rPr b="1" sz="900">
                <a:solidFill>
                  <a:srgbClr val="C0392B"/>
                </a:solidFill>
              </a:rPr>
              <a:t>Hasil: </a:t>
            </a:r>
            <a:r>
              <a:rPr sz="900">
                <a:solidFill>
                  <a:srgbClr val="374151"/>
                </a:solidFill>
              </a:rPr>
              <a:t>Hapus ~450 kursi kosong semu tanpa kehilangan mahasiswa riil.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43400" y="1508760"/>
            <a:ext cx="342900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37160" bIns="137160"/>
          <a:lstStyle/>
          <a:p>
            <a:pPr algn="ctr">
              <a:spcAft>
                <a:spcPts val="500"/>
              </a:spcAft>
              <a:defRPr b="1" sz="1000">
                <a:solidFill>
                  <a:srgbClr val="E65100"/>
                </a:solidFill>
              </a:defRPr>
            </a:pPr>
            <a:r>
              <a:t>AKSI 2:</a:t>
            </a:r>
            <a:br/>
            <a:r>
              <a:t>UKT PENYELAMAT DESIL 5&amp;6</a:t>
            </a:r>
          </a:p>
          <a:p>
            <a:pPr>
              <a:spcAft>
                <a:spcPts val="400"/>
              </a:spcAft>
              <a:defRPr sz="900"/>
            </a:pPr>
            <a:r>
              <a:rPr sz="900">
                <a:solidFill>
                  <a:srgbClr val="374151"/>
                </a:solidFill>
              </a:rPr>
              <a:t>SK Rektor: Pelamar KIP SNBT Desil 5-6 yang tidak tertampung APBN otomatis ditetapkan UKT Kel.1 (Rp500rb) atau Kel.2 (Rp1jt) semester 1.</a:t>
            </a:r>
          </a:p>
          <a:p>
            <a:pPr>
              <a:spcAft>
                <a:spcPts val="200"/>
              </a:spcAft>
              <a:defRPr sz="900"/>
            </a:pPr>
            <a:r>
              <a:rPr b="1" sz="900">
                <a:solidFill>
                  <a:srgbClr val="E65100"/>
                </a:solidFill>
              </a:rPr>
              <a:t>Hasil: </a:t>
            </a:r>
            <a:r>
              <a:rPr sz="900">
                <a:solidFill>
                  <a:srgbClr val="374151"/>
                </a:solidFill>
              </a:rPr>
              <a:t>Menyelamatkan 300+ calon mahasiswa berprestasi UTBK.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80" y="1508760"/>
            <a:ext cx="342900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37160" bIns="137160"/>
          <a:lstStyle/>
          <a:p>
            <a:pPr algn="ctr">
              <a:spcAft>
                <a:spcPts val="500"/>
              </a:spcAft>
              <a:defRPr b="1" sz="1000">
                <a:solidFill>
                  <a:srgbClr val="1B3B6F"/>
                </a:solidFill>
              </a:defRPr>
            </a:pPr>
            <a:r>
              <a:t>AKSI 3:</a:t>
            </a:r>
            <a:br/>
            <a:r>
              <a:t>SUBSIDI SILANG IPI</a:t>
            </a:r>
          </a:p>
          <a:p>
            <a:pPr>
              <a:spcAft>
                <a:spcPts val="400"/>
              </a:spcAft>
              <a:defRPr sz="900"/>
            </a:pPr>
            <a:r>
              <a:rPr sz="900">
                <a:solidFill>
                  <a:srgbClr val="374151"/>
                </a:solidFill>
              </a:rPr>
              <a:t>Alokasikan 5% dari total penerimaan IPI Mandiri Kuadran I (~Rp2,0 Miliar) untuk KIP Kemitraan PTN-BH USK.</a:t>
            </a:r>
          </a:p>
          <a:p>
            <a:pPr>
              <a:spcAft>
                <a:spcPts val="200"/>
              </a:spcAft>
              <a:defRPr sz="900"/>
            </a:pPr>
            <a:r>
              <a:rPr b="1" sz="900">
                <a:solidFill>
                  <a:srgbClr val="1B3B6F"/>
                </a:solidFill>
              </a:rPr>
              <a:t>Hasil: </a:t>
            </a:r>
            <a:r>
              <a:rPr sz="900">
                <a:solidFill>
                  <a:srgbClr val="374151"/>
                </a:solidFill>
              </a:rPr>
              <a:t>Mendanai 833 beasiswa mandiri bagi mahasiswa prasejahtera Kuadran III.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840480"/>
            <a:ext cx="342900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37160" bIns="137160"/>
          <a:lstStyle/>
          <a:p>
            <a:pPr algn="ctr">
              <a:spcAft>
                <a:spcPts val="500"/>
              </a:spcAft>
              <a:defRPr b="1" sz="1000">
                <a:solidFill>
                  <a:srgbClr val="1095C1"/>
                </a:solidFill>
              </a:defRPr>
            </a:pPr>
            <a:r>
              <a:t>AKSI 4:</a:t>
            </a:r>
            <a:br/>
            <a:r>
              <a:t>FINANCIAL ENGINEERING KD.IV</a:t>
            </a:r>
          </a:p>
          <a:p>
            <a:pPr>
              <a:spcAft>
                <a:spcPts val="400"/>
              </a:spcAft>
              <a:defRPr sz="900"/>
            </a:pPr>
            <a:r>
              <a:rPr sz="900">
                <a:solidFill>
                  <a:srgbClr val="374151"/>
                </a:solidFill>
              </a:rPr>
              <a:t>Cicilan IPI 3 Tahap (50%-25%-25%). Fast-Track Auto-Call cadangan 48 jam. Commitment Fee Rp1jt untuk TALENTA.</a:t>
            </a:r>
          </a:p>
          <a:p>
            <a:pPr>
              <a:spcAft>
                <a:spcPts val="200"/>
              </a:spcAft>
              <a:defRPr sz="900"/>
            </a:pPr>
            <a:r>
              <a:rPr b="1" sz="900">
                <a:solidFill>
                  <a:srgbClr val="1095C1"/>
                </a:solidFill>
              </a:rPr>
              <a:t>Hasil: </a:t>
            </a:r>
            <a:r>
              <a:rPr sz="900">
                <a:solidFill>
                  <a:srgbClr val="374151"/>
                </a:solidFill>
              </a:rPr>
              <a:t>Menyelamatkan penerimaan Rp4,5–6,0 Miliar/tahun yang selama ini hilang.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3840480"/>
            <a:ext cx="342900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37160" bIns="137160"/>
          <a:lstStyle/>
          <a:p>
            <a:pPr algn="ctr">
              <a:spcAft>
                <a:spcPts val="500"/>
              </a:spcAft>
              <a:defRPr b="1" sz="1000">
                <a:solidFill>
                  <a:srgbClr val="8B5CF6"/>
                </a:solidFill>
              </a:defRPr>
            </a:pPr>
            <a:r>
              <a:t>AKSI 5:</a:t>
            </a:r>
            <a:br/>
            <a:r>
              <a:t>SINKRONISASI KIP × DT SNBT</a:t>
            </a:r>
          </a:p>
          <a:p>
            <a:pPr>
              <a:spcAft>
                <a:spcPts val="400"/>
              </a:spcAft>
              <a:defRPr sz="900"/>
            </a:pPr>
            <a:r>
              <a:rPr sz="900">
                <a:solidFill>
                  <a:srgbClr val="374151"/>
                </a:solidFill>
              </a:rPr>
              <a:t>Kuota kelulusan SNBT pada prodi Kuadran III disinkronkan dengan sisa kuota definitif KIP-K pasca-SNBP.</a:t>
            </a:r>
          </a:p>
          <a:p>
            <a:pPr>
              <a:spcAft>
                <a:spcPts val="200"/>
              </a:spcAft>
              <a:defRPr sz="900"/>
            </a:pPr>
            <a:r>
              <a:rPr b="1" sz="900">
                <a:solidFill>
                  <a:srgbClr val="8B5CF6"/>
                </a:solidFill>
              </a:rPr>
              <a:t>Hasil: </a:t>
            </a:r>
            <a:r>
              <a:rPr sz="900">
                <a:solidFill>
                  <a:srgbClr val="374151"/>
                </a:solidFill>
              </a:rPr>
              <a:t>Mencegah over-promising kelulusan pada prodi padat KIP.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55280" y="3840480"/>
            <a:ext cx="342900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37160" bIns="137160"/>
          <a:lstStyle/>
          <a:p>
            <a:pPr algn="ctr">
              <a:spcAft>
                <a:spcPts val="500"/>
              </a:spcAft>
              <a:defRPr b="1" sz="1000">
                <a:solidFill>
                  <a:srgbClr val="166534"/>
                </a:solidFill>
              </a:defRPr>
            </a:pPr>
            <a:r>
              <a:t>AKSI 6:</a:t>
            </a:r>
            <a:br/>
            <a:r>
              <a:t>SINERGI BAITUL MAL &amp; OTSUS</a:t>
            </a:r>
          </a:p>
          <a:p>
            <a:pPr>
              <a:spcAft>
                <a:spcPts val="400"/>
              </a:spcAft>
              <a:defRPr sz="900"/>
            </a:pPr>
            <a:r>
              <a:rPr sz="900">
                <a:solidFill>
                  <a:srgbClr val="374151"/>
                </a:solidFill>
              </a:rPr>
              <a:t>Ajukan daftar 526 calon mahasiswa Desil 5-6 kepada Baitul Mal Aceh &amp; Pemprov sebagai mustahik Fisabilillah.</a:t>
            </a:r>
          </a:p>
          <a:p>
            <a:pPr>
              <a:spcAft>
                <a:spcPts val="200"/>
              </a:spcAft>
              <a:defRPr sz="900"/>
            </a:pPr>
            <a:r>
              <a:rPr b="1" sz="900">
                <a:solidFill>
                  <a:srgbClr val="166534"/>
                </a:solidFill>
              </a:rPr>
              <a:t>Hasil: </a:t>
            </a:r>
            <a:r>
              <a:rPr sz="900">
                <a:solidFill>
                  <a:srgbClr val="374151"/>
                </a:solidFill>
              </a:rPr>
              <a:t>Mengintegrasikan dana otonomi daerah dengan misi pengentasan kemiskinan via pendidikan tinggi.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588760"/>
            <a:ext cx="7315200" cy="218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800" b="1">
                <a:solidFill>
                  <a:srgbClr val="C9A84C"/>
                </a:solidFill>
              </a:defRPr>
            </a:pPr>
            <a:r>
              <a:t>UNIVERSITAS SYIAH KUALA  |  RAPAT PIMPINAN PMB  |  ANALISA PEMINATAN &amp; DAYA TAMPUNG 2022–2026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0" y="6588760"/>
            <a:ext cx="1371600" cy="218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 b="1">
                <a:solidFill>
                  <a:srgbClr val="F5F0E8"/>
                </a:solidFill>
              </a:defRPr>
            </a:pPr>
            <a:r>
              <a:t>22 / 24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C9A84C"/>
                </a:solidFill>
              </a:defRPr>
            </a:pPr>
            <a:r>
              <a:t>UNIVERSITAS SYIAH KUALA  |  RAPAT PIMPINAN PMB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D1F3C"/>
                </a:solidFill>
              </a:defRPr>
            </a:pPr>
            <a:r>
              <a:t>Agenda Transformasi: Restrukturisasi FEB, Konversi D3→D4, dan Rasionalisasi PSDKU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0728655" cy="190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3429000" cy="457200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37160" bIns="137160"/>
          <a:lstStyle/>
          <a:p>
            <a:pPr algn="ctr">
              <a:spcAft>
                <a:spcPts val="800"/>
              </a:spcAft>
              <a:defRPr b="1" sz="1200">
                <a:solidFill>
                  <a:srgbClr val="B91C1C"/>
                </a:solidFill>
              </a:defRPr>
            </a:pPr>
            <a:r>
              <a:t>⚠️ ALARM SENAT FEB</a:t>
            </a:r>
          </a:p>
          <a:p>
            <a:pPr>
              <a:spcAft>
                <a:spcPts val="500"/>
              </a:spcAft>
              <a:defRPr sz="1000"/>
            </a:pPr>
            <a:r>
              <a:rPr b="1" sz="1000">
                <a:solidFill>
                  <a:srgbClr val="1B3B6F"/>
                </a:solidFill>
              </a:rPr>
              <a:t>Fakta Krisis: </a:t>
            </a:r>
            <a:r>
              <a:rPr sz="1000">
                <a:solidFill>
                  <a:srgbClr val="374151"/>
                </a:solidFill>
              </a:rPr>
              <a:t>3 prodi utama (Manajemen, Eko Islam, Eko Pembangunan) kehilangan 144 mhs/angkatan (-24% dari basis 2022).</a:t>
            </a:r>
          </a:p>
          <a:p>
            <a:pPr>
              <a:spcAft>
                <a:spcPts val="500"/>
              </a:spcAft>
              <a:defRPr sz="1000"/>
            </a:pPr>
            <a:r>
              <a:rPr b="1" sz="1000">
                <a:solidFill>
                  <a:srgbClr val="B91C1C"/>
                </a:solidFill>
              </a:rPr>
              <a:t>Zero-Rebound: </a:t>
            </a:r>
            <a:r>
              <a:rPr sz="1000">
                <a:solidFill>
                  <a:srgbClr val="374151"/>
                </a:solidFill>
              </a:rPr>
              <a:t>Manajemen &amp; Eko Islam tidak pernah sekalipun naik dalam 4 transisi tahunan!</a:t>
            </a:r>
          </a:p>
          <a:p>
            <a:pPr>
              <a:spcAft>
                <a:spcPts val="600"/>
              </a:spcAft>
              <a:defRPr sz="1000"/>
            </a:pPr>
            <a:r>
              <a:rPr b="1" sz="1000">
                <a:solidFill>
                  <a:srgbClr val="1B3B6F"/>
                </a:solidFill>
              </a:rPr>
              <a:t>Kanibalisasi: </a:t>
            </a:r>
            <a:r>
              <a:rPr sz="1000">
                <a:solidFill>
                  <a:srgbClr val="374151"/>
                </a:solidFill>
              </a:rPr>
              <a:t>S1 Bisnis Digital (baru 2024) menyedot 800+ peminat langsung dari Manajemen.</a:t>
            </a:r>
          </a:p>
          <a:p>
            <a:pPr>
              <a:spcAft>
                <a:spcPts val="300"/>
              </a:spcAft>
              <a:defRPr sz="1000"/>
            </a:pPr>
            <a:r>
              <a:rPr b="1" sz="1000">
                <a:solidFill>
                  <a:srgbClr val="E65100"/>
                </a:solidFill>
              </a:rPr>
              <a:t>Rekomendasi: </a:t>
            </a:r>
            <a:r>
              <a:rPr sz="1000">
                <a:solidFill>
                  <a:srgbClr val="374151"/>
                </a:solidFill>
              </a:rPr>
              <a:t>Re-engineering kurikulum → Digital Marketing, Business Analytics, Islamic FinTech untuk membalikkan tren peminat Gen Z.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43400" y="1508760"/>
            <a:ext cx="3429000" cy="457200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37160" bIns="137160"/>
          <a:lstStyle/>
          <a:p>
            <a:pPr algn="ctr">
              <a:spcAft>
                <a:spcPts val="800"/>
              </a:spcAft>
              <a:defRPr b="1" sz="1200">
                <a:solidFill>
                  <a:srgbClr val="166534"/>
                </a:solidFill>
              </a:defRPr>
            </a:pPr>
            <a:r>
              <a:t>🔄 KONVERSI D3 → D4</a:t>
            </a:r>
          </a:p>
          <a:p>
            <a:pPr>
              <a:spcAft>
                <a:spcPts val="500"/>
              </a:spcAft>
              <a:defRPr sz="1000"/>
            </a:pPr>
            <a:r>
              <a:rPr b="1" sz="1000">
                <a:solidFill>
                  <a:srgbClr val="1B3B6F"/>
                </a:solidFill>
              </a:rPr>
              <a:t>Akar Masalah: </a:t>
            </a:r>
            <a:r>
              <a:rPr sz="1000">
                <a:solidFill>
                  <a:srgbClr val="374151"/>
                </a:solidFill>
              </a:rPr>
              <a:t>Lulusan D3 = Golongan II/c ASN, kalah dari D4/S1 = Golongan III/a. Kurikulum D3 hanya 'versi ringkas' S1 tanpa sertifikasi industri.</a:t>
            </a:r>
          </a:p>
          <a:p>
            <a:pPr>
              <a:spcAft>
                <a:spcPts val="500"/>
              </a:spcAft>
              <a:defRPr sz="1000"/>
            </a:pPr>
            <a:r>
              <a:rPr b="1" sz="1000">
                <a:solidFill>
                  <a:srgbClr val="1B3B6F"/>
                </a:solidFill>
              </a:rPr>
              <a:t>Target Konversi: </a:t>
            </a:r>
            <a:r>
              <a:rPr sz="1000">
                <a:solidFill>
                  <a:srgbClr val="374151"/>
                </a:solidFill>
              </a:rPr>
              <a:t>• D3 Manajemen Informatika → D4 Sains Data Terapan
• D3 Teknik Sipil → D4 Manajemen Rekayasa Konstruksi
• D3 Akuntansi → D4 Akuntansi Sektor Publik</a:t>
            </a:r>
          </a:p>
          <a:p>
            <a:pPr>
              <a:spcAft>
                <a:spcPts val="500"/>
              </a:spcAft>
              <a:defRPr sz="1000"/>
            </a:pPr>
            <a:r>
              <a:rPr b="1" sz="1000">
                <a:solidFill>
                  <a:srgbClr val="C0392B"/>
                </a:solidFill>
              </a:rPr>
              <a:t>Moratorium: </a:t>
            </a:r>
            <a:r>
              <a:rPr sz="1000">
                <a:solidFill>
                  <a:srgbClr val="374151"/>
                </a:solidFill>
              </a:rPr>
              <a:t>D3 Manajemen Agribisnis (keterisian 36,8%) dan D3 Budidaya Peternakan (32,0%).</a:t>
            </a:r>
          </a:p>
          <a:p>
            <a:pPr>
              <a:spcAft>
                <a:spcPts val="300"/>
              </a:spcAft>
              <a:defRPr sz="1000"/>
            </a:pPr>
            <a:r>
              <a:rPr b="1" sz="1000">
                <a:solidFill>
                  <a:srgbClr val="1B3B6F"/>
                </a:solidFill>
              </a:rPr>
              <a:t>Kurikulum Dual System: </a:t>
            </a:r>
            <a:r>
              <a:rPr sz="1000">
                <a:solidFill>
                  <a:srgbClr val="374151"/>
                </a:solidFill>
              </a:rPr>
              <a:t>Magang industri 1 tahun penuh + sertifikasi kompetensi BNSP.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1508760"/>
            <a:ext cx="3429000" cy="4572000"/>
          </a:xfrm>
          <a:prstGeom prst="roundRect">
            <a:avLst/>
          </a:prstGeom>
          <a:solidFill>
            <a:srgbClr val="FFF7ED"/>
          </a:solidFill>
          <a:ln w="12700">
            <a:solidFill>
              <a:srgbClr val="FDE6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37160" bIns="137160"/>
          <a:lstStyle/>
          <a:p>
            <a:pPr algn="ctr">
              <a:spcAft>
                <a:spcPts val="800"/>
              </a:spcAft>
              <a:defRPr b="1" sz="1200">
                <a:solidFill>
                  <a:srgbClr val="E65100"/>
                </a:solidFill>
              </a:defRPr>
            </a:pPr>
            <a:r>
              <a:t>📍 RASIONALISASI PSDKU</a:t>
            </a:r>
          </a:p>
          <a:p>
            <a:pPr>
              <a:spcAft>
                <a:spcPts val="500"/>
              </a:spcAft>
              <a:defRPr sz="1000"/>
            </a:pPr>
            <a:r>
              <a:rPr b="1" sz="1000">
                <a:solidFill>
                  <a:srgbClr val="1B3B6F"/>
                </a:solidFill>
              </a:rPr>
              <a:t>Fakta Inefisiensi: </a:t>
            </a:r>
            <a:r>
              <a:rPr sz="1000">
                <a:solidFill>
                  <a:srgbClr val="374151"/>
                </a:solidFill>
              </a:rPr>
              <a:t>5 tahun: 1.050 kursi dibuka, hanya 267 mahasiswa masuk. 783 kursi (74,6%) terbuang sia-sia.</a:t>
            </a:r>
          </a:p>
          <a:p>
            <a:pPr>
              <a:spcAft>
                <a:spcPts val="500"/>
              </a:spcAft>
              <a:defRPr sz="1000"/>
            </a:pPr>
            <a:r>
              <a:rPr b="1" sz="1000">
                <a:solidFill>
                  <a:srgbClr val="1B3B6F"/>
                </a:solidFill>
              </a:rPr>
              <a:t>Kendala Geografis: </a:t>
            </a:r>
            <a:r>
              <a:rPr sz="1000">
                <a:solidFill>
                  <a:srgbClr val="374151"/>
                </a:solidFill>
              </a:rPr>
              <a:t>Blangkejeren berjarak 10–12 jam darat dari Banda Aceh/Medan. Isolated dari pasar pendaftar nasional.</a:t>
            </a:r>
          </a:p>
          <a:p>
            <a:pPr>
              <a:spcAft>
                <a:spcPts val="500"/>
              </a:spcAft>
              <a:defRPr sz="1000"/>
            </a:pPr>
            <a:r>
              <a:rPr b="1" sz="1000">
                <a:solidFill>
                  <a:srgbClr val="C0392B"/>
                </a:solidFill>
              </a:rPr>
              <a:t>Downsizing 50%: </a:t>
            </a:r>
            <a:r>
              <a:rPr sz="1000">
                <a:solidFill>
                  <a:srgbClr val="374151"/>
                </a:solidFill>
              </a:rPr>
              <a:t>Pangkas dari 220 → 100–110 kursi/tahun (rata-rata 25/prodi).</a:t>
            </a:r>
          </a:p>
          <a:p>
            <a:pPr>
              <a:spcAft>
                <a:spcPts val="300"/>
              </a:spcAft>
              <a:defRPr sz="1000"/>
            </a:pPr>
            <a:r>
              <a:rPr b="1" sz="1000">
                <a:solidFill>
                  <a:srgbClr val="1B3B6F"/>
                </a:solidFill>
              </a:rPr>
              <a:t>MoU Pemkab: </a:t>
            </a:r>
            <a:r>
              <a:rPr sz="1000">
                <a:solidFill>
                  <a:srgbClr val="374151"/>
                </a:solidFill>
              </a:rPr>
              <a:t>Ikat kuota dengan beasiswa penuh APBD Gayo Lues / Aceh Tenggara.</a:t>
            </a:r>
          </a:p>
          <a:p>
            <a:pPr>
              <a:spcAft>
                <a:spcPts val="200"/>
              </a:spcAft>
              <a:defRPr sz="1000"/>
            </a:pPr>
            <a:r>
              <a:rPr b="1" sz="1000">
                <a:solidFill>
                  <a:srgbClr val="1B3B6F"/>
                </a:solidFill>
              </a:rPr>
              <a:t>Fokus Niche Lokal: </a:t>
            </a:r>
            <a:r>
              <a:rPr sz="1000">
                <a:solidFill>
                  <a:srgbClr val="374151"/>
                </a:solidFill>
              </a:rPr>
              <a:t>Kurikulum Agribisnis Kopi Gayo &amp; Konservasi Ekosistem Leuser.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6588760"/>
            <a:ext cx="7315200" cy="218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800" b="1">
                <a:solidFill>
                  <a:srgbClr val="C9A84C"/>
                </a:solidFill>
              </a:defRPr>
            </a:pPr>
            <a:r>
              <a:t>UNIVERSITAS SYIAH KUALA  |  RAPAT PIMPINAN PMB  |  ANALISA PEMINATAN &amp; DAYA TAMPUNG 2022–2026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588760"/>
            <a:ext cx="1371600" cy="218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 b="1">
                <a:solidFill>
                  <a:srgbClr val="F5F0E8"/>
                </a:solidFill>
              </a:defRPr>
            </a:pPr>
            <a:r>
              <a:t>23 / 24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548640"/>
            <a:ext cx="99669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400"/>
              </a:spcAft>
              <a:defRPr sz="1100" b="1">
                <a:solidFill>
                  <a:srgbClr val="C9A84C"/>
                </a:solidFill>
              </a:defRPr>
            </a:pPr>
            <a:r>
              <a:t>UNIVERSITAS SYIAH KUALA  |  PESAN KUNCI PIMPINAN</a:t>
            </a:r>
          </a:p>
          <a:p>
            <a:pPr algn="ctr">
              <a:defRPr sz="1600" i="1" b="1">
                <a:solidFill>
                  <a:srgbClr val="FFFFFF"/>
                </a:solidFill>
              </a:defRPr>
            </a:pPr>
            <a:r>
              <a:t>"Tolak ukur keberhasilan PMB PTN-BH bukanlah seberapa besar daya tampung yang kita umumkan di atas kertas, melainkan seberapa presisi kuota tersebut terisi oleh mahasiswa yang nyata, berdaya beli, atau terlindungi beasiswanya hingga lulus tepat waktu."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0" y="3063240"/>
            <a:ext cx="4846320" cy="190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97280" y="3337560"/>
            <a:ext cx="3154680" cy="2834640"/>
          </a:xfrm>
          <a:prstGeom prst="roundRect">
            <a:avLst/>
          </a:prstGeom>
          <a:solidFill>
            <a:srgbClr val="142A50"/>
          </a:solidFill>
          <a:ln w="12700">
            <a:solidFill>
              <a:srgbClr val="3C50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37160" bIns="137160"/>
          <a:lstStyle/>
          <a:p>
            <a:pPr algn="ctr">
              <a:spcAft>
                <a:spcPts val="800"/>
              </a:spcAft>
              <a:defRPr b="1" sz="1200">
                <a:solidFill>
                  <a:srgbClr val="C9A84C"/>
                </a:solidFill>
              </a:defRPr>
            </a:pPr>
            <a:r>
              <a:t>1. AUDIT DATA MEMBUKTIKAN</a:t>
            </a:r>
          </a:p>
          <a:p>
            <a:pPr>
              <a:spcAft>
                <a:spcPts val="500"/>
              </a:spcAft>
              <a:defRPr sz="1050"/>
            </a:pPr>
            <a:r>
              <a:rPr b="1" sz="1050">
                <a:solidFill>
                  <a:srgbClr val="F5F0E8"/>
                </a:solidFill>
              </a:rPr>
              <a:t>Bukan Masalah Minat: </a:t>
            </a:r>
            <a:r>
              <a:rPr sz="1050">
                <a:solidFill>
                  <a:srgbClr val="B4BED2"/>
                </a:solidFill>
              </a:rPr>
              <a:t>Kebocoran SNBT = keterbatasan kuota beasiswa (cutoff Desil 5-6), bukan ketidakmampuan universitas menarik peminat.</a:t>
            </a:r>
          </a:p>
          <a:p>
            <a:pPr>
              <a:spcAft>
                <a:spcPts val="300"/>
              </a:spcAft>
              <a:defRPr sz="1050"/>
            </a:pPr>
            <a:r>
              <a:rPr b="1" sz="1050">
                <a:solidFill>
                  <a:srgbClr val="F5F0E8"/>
                </a:solidFill>
              </a:rPr>
              <a:t>Kausalitas 97,6%: </a:t>
            </a:r>
            <a:r>
              <a:rPr sz="1050">
                <a:solidFill>
                  <a:srgbClr val="B4BED2"/>
                </a:solidFill>
              </a:rPr>
              <a:t>Siswa yang gugur adalah anak prasejahtera terhempas ketiadaan beasiswa.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17136" y="3337560"/>
            <a:ext cx="3154680" cy="2834640"/>
          </a:xfrm>
          <a:prstGeom prst="roundRect">
            <a:avLst/>
          </a:prstGeom>
          <a:solidFill>
            <a:srgbClr val="142A50"/>
          </a:solidFill>
          <a:ln w="12700">
            <a:solidFill>
              <a:srgbClr val="3C50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37160" bIns="137160"/>
          <a:lstStyle/>
          <a:p>
            <a:pPr algn="ctr">
              <a:spcAft>
                <a:spcPts val="800"/>
              </a:spcAft>
              <a:defRPr b="1" sz="1200">
                <a:solidFill>
                  <a:srgbClr val="E65100"/>
                </a:solidFill>
              </a:defRPr>
            </a:pPr>
            <a:r>
              <a:t>2. EFISIENSI MENYELAMATKAN AKREDITASI</a:t>
            </a:r>
          </a:p>
          <a:p>
            <a:pPr>
              <a:spcAft>
                <a:spcPts val="500"/>
              </a:spcAft>
              <a:defRPr sz="1050"/>
            </a:pPr>
            <a:r>
              <a:rPr b="1" sz="1050">
                <a:solidFill>
                  <a:srgbClr val="F5F0E8"/>
                </a:solidFill>
              </a:rPr>
              <a:t>Hapus Bangku Semu: </a:t>
            </a:r>
            <a:r>
              <a:rPr sz="1050">
                <a:solidFill>
                  <a:srgbClr val="B4BED2"/>
                </a:solidFill>
              </a:rPr>
              <a:t>Rasionalisasi kuota Kuadran III = penyehatan mutu akademik, bukan pelemahan fakultas.</a:t>
            </a:r>
          </a:p>
          <a:p>
            <a:pPr>
              <a:spcAft>
                <a:spcPts val="300"/>
              </a:spcAft>
              <a:defRPr sz="1050"/>
            </a:pPr>
            <a:r>
              <a:rPr b="1" sz="1050">
                <a:solidFill>
                  <a:srgbClr val="F5F0E8"/>
                </a:solidFill>
              </a:rPr>
              <a:t>Rasio Optimal: </a:t>
            </a:r>
            <a:r>
              <a:rPr sz="1050">
                <a:solidFill>
                  <a:srgbClr val="B4BED2"/>
                </a:solidFill>
              </a:rPr>
              <a:t>Kapasitas yang pas menjaga rasio dosen-mahasiswa dan instrumen akreditasi unggul internasional.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36992" y="3337560"/>
            <a:ext cx="3154680" cy="2834640"/>
          </a:xfrm>
          <a:prstGeom prst="roundRect">
            <a:avLst/>
          </a:prstGeom>
          <a:solidFill>
            <a:srgbClr val="142A50"/>
          </a:solidFill>
          <a:ln w="12700">
            <a:solidFill>
              <a:srgbClr val="3C50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37160" bIns="137160"/>
          <a:lstStyle/>
          <a:p>
            <a:pPr algn="ctr">
              <a:spcAft>
                <a:spcPts val="800"/>
              </a:spcAft>
              <a:defRPr b="1" sz="1200">
                <a:solidFill>
                  <a:srgbClr val="166534"/>
                </a:solidFill>
              </a:defRPr>
            </a:pPr>
            <a:r>
              <a:t>3. KEBERPIHAKAN SOSIAL PTN-BH</a:t>
            </a:r>
          </a:p>
          <a:p>
            <a:pPr>
              <a:spcAft>
                <a:spcPts val="500"/>
              </a:spcAft>
              <a:defRPr sz="1050"/>
            </a:pPr>
            <a:r>
              <a:rPr b="1" sz="1050">
                <a:solidFill>
                  <a:srgbClr val="F5F0E8"/>
                </a:solidFill>
              </a:rPr>
              <a:t>Kemandirian Berkeadilan: </a:t>
            </a:r>
            <a:r>
              <a:rPr sz="1050">
                <a:solidFill>
                  <a:srgbClr val="B4BED2"/>
                </a:solidFill>
              </a:rPr>
              <a:t>Fleksibilitas finansial PTN-BH harus menjadi berkah bagi mahasiswa prasejahtera melalui subsidi silang IPI mandiri.</a:t>
            </a:r>
          </a:p>
          <a:p>
            <a:pPr>
              <a:spcAft>
                <a:spcPts val="300"/>
              </a:spcAft>
              <a:defRPr sz="1050"/>
            </a:pPr>
            <a:r>
              <a:rPr b="1" sz="1050">
                <a:solidFill>
                  <a:srgbClr val="F5F0E8"/>
                </a:solidFill>
              </a:rPr>
              <a:t>Jantong Hate Rakyat Aceh: </a:t>
            </a:r>
            <a:r>
              <a:rPr sz="1050">
                <a:solidFill>
                  <a:srgbClr val="B4BED2"/>
                </a:solidFill>
              </a:rPr>
              <a:t>Menjaga marwah USK sebagai benteng kesempatan pendidikan tinggi bagi seluruh lapisan masyarakat Aceh.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6588760"/>
            <a:ext cx="7315200" cy="218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800" b="1">
                <a:solidFill>
                  <a:srgbClr val="C9A84C"/>
                </a:solidFill>
              </a:defRPr>
            </a:pPr>
            <a:r>
              <a:t>UNIVERSITAS SYIAH KUALA  |  RAPAT PIMPINAN PMB  |  ANALISA PEMINATAN &amp; DAYA TAMPUNG 2022–2026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588760"/>
            <a:ext cx="1371600" cy="218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 b="1">
                <a:solidFill>
                  <a:srgbClr val="F5F0E8"/>
                </a:solidFill>
              </a:defRPr>
            </a:pPr>
            <a:r>
              <a:t>24 / 24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