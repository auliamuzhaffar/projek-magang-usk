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601200" y="0"/>
            <a:ext cx="2590495" cy="2286000"/>
          </a:xfrm>
          <a:prstGeom prst="rtTriangle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C9A84C"/>
                </a:solidFill>
              </a:defRPr>
            </a:pPr>
            <a:r>
              <a:t>TUGAS 05 — MAGANG (KHUSUS)  |  AUDIT-GRADE DECISION ANALYTICS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ANALISA PEMINATAN DAN</a:t>
            </a:r>
            <a:br/>
            <a:r>
              <a:t>DAYA TAMPUNG PROGRAM STUDI</a:t>
            </a:r>
            <a:br/>
            <a:r>
              <a:t>UNIVERSITAS SYIAH KUALA</a:t>
            </a:r>
          </a:p>
          <a:p>
            <a:pPr>
              <a:spcAft>
                <a:spcPts val="800"/>
              </a:spcAft>
              <a:defRPr sz="1300">
                <a:solidFill>
                  <a:srgbClr val="B4BED2"/>
                </a:solidFill>
              </a:defRPr>
            </a:pPr>
            <a:r>
              <a:t>Evaluasi Tren Multi-Tahun (2022–2026), Rasio Keketatan Seleksi, Matriks Portofolio</a:t>
            </a:r>
            <a:br/>
            <a:r>
              <a:t>Kuadran, Dekonstruksi Kebocoran Desil KIP-Kuliah, dan Rekomendasi Kebijakan PTN-BH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06240"/>
            <a:ext cx="54864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4572000"/>
            <a:ext cx="9601200" cy="164592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C9A84C"/>
                </a:solidFill>
              </a:defRPr>
            </a:pPr>
            <a:r>
              <a:t>INFORMASI EKSEKUTIF PENUGASAN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F5F0E8"/>
                </a:solidFill>
              </a:rPr>
              <a:t>Target Peserta Rapat: </a:t>
            </a:r>
            <a:r>
              <a:rPr sz="1000">
                <a:solidFill>
                  <a:srgbClr val="B4BED2"/>
                </a:solidFill>
              </a:rPr>
              <a:t>Rektor, Para Wakil Rektor, Ketua Senat Akademik, dan Para Dekan Fakultas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F5F0E8"/>
                </a:solidFill>
              </a:rPr>
              <a:t>Dasar Dataset: </a:t>
            </a:r>
            <a:r>
              <a:rPr sz="1000">
                <a:solidFill>
                  <a:srgbClr val="B4BED2"/>
                </a:solidFill>
              </a:rPr>
              <a:t>Data Empiris PMB USK 2022–2026, Dataset Jalur Masuk &amp; Kebocoran, Data Induk KIP-Kuliah 2025–2026</a:t>
            </a:r>
          </a:p>
          <a:p>
            <a:pPr>
              <a:spcAft>
                <a:spcPts val="200"/>
              </a:spcAft>
              <a:defRPr sz="1000"/>
            </a:pPr>
            <a:r>
              <a:rPr b="1" sz="1000">
                <a:solidFill>
                  <a:srgbClr val="F5F0E8"/>
                </a:solidFill>
              </a:rPr>
              <a:t>Penyusun &amp; Tujuan: </a:t>
            </a:r>
            <a:r>
              <a:rPr sz="1000">
                <a:solidFill>
                  <a:srgbClr val="B4BED2"/>
                </a:solidFill>
              </a:rPr>
              <a:t>Data Analyst PMB — Tim Magang USK | Pengambilan Keputusan Strategis Rasionalisasi Kuota &amp; Efisiensi Finansial PTN-BH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Ringkasan Eksekutif: Tiga Dimensi Evaluasi PMB USK Pasca Transformasi PTN-BH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Sintesis Temuan Kunci Permintaan Pasar, Kapasitas Kuota, dan Resolusi Kausalitas Kebocoran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1. PERMINTAAN PASAR (DEMAND)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Lonjakan Peminat: </a:t>
            </a:r>
            <a:r>
              <a:rPr sz="950">
                <a:solidFill>
                  <a:srgbClr val="374151"/>
                </a:solidFill>
              </a:rPr>
              <a:t>Total peminat USK naik +39,5% dalam 5 tahun dari 48.769 (2022) ke 68.010 (2026), rekor 70.945 di 2025.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Polarisasi Ekstrem: </a:t>
            </a:r>
            <a:r>
              <a:rPr sz="950">
                <a:solidFill>
                  <a:srgbClr val="374151"/>
                </a:solidFill>
              </a:rPr>
              <a:t>Farmasi capai rasio 39,2:1, sebaliknya Budidaya Perairan hanya 0,91:1 (defisit pendaftar di bawah kuota).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Pergeseran Minat Gen Z: </a:t>
            </a:r>
            <a:r>
              <a:rPr sz="950">
                <a:solidFill>
                  <a:srgbClr val="374151"/>
                </a:solidFill>
              </a:rPr>
              <a:t>Permintaan terkonsentrasi ke kesehatan, teknologi digital, dan prodi dengan kepastian formasi ASN/PPPK daerah.</a:t>
            </a:r>
          </a:p>
          <a:p>
            <a:pPr>
              <a:spcAft>
                <a:spcPts val="8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Disparitas Klaster: </a:t>
            </a:r>
            <a:r>
              <a:rPr sz="950">
                <a:solidFill>
                  <a:srgbClr val="374151"/>
                </a:solidFill>
              </a:rPr>
              <a:t>Rumpun teknik &amp; sains murni konvensional mengalami stagnasi minat yang persisten selama setengah dekade.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📌 IMPERATIF STRATEGIS: </a:t>
            </a:r>
            <a:r>
              <a:rPr sz="950">
                <a:solidFill>
                  <a:srgbClr val="1B3B6F"/>
                </a:solidFill>
              </a:rPr>
              <a:t>Re-alokasi kuota ke prodi berdaya serap tinggi; stop pemborosan kapasitas di sains dasar.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08760"/>
            <a:ext cx="3328416" cy="4709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E65100"/>
                </a:solidFill>
              </a:defRPr>
            </a:pPr>
            <a:r>
              <a:t>2. KAPASITAS &amp; EFISIENSI (SUPPLY)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Ekspansi Agresif PTN-BH: </a:t>
            </a:r>
            <a:r>
              <a:rPr sz="950">
                <a:solidFill>
                  <a:srgbClr val="374151"/>
                </a:solidFill>
              </a:rPr>
              <a:t>Daya tampung dinaikkan +32,7% (7.863 → 10.435 kursi), namun tidak diimbangi kenaikan daftar ulang proporsional.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Akumulasi 10.984 Kursi Kosong: </a:t>
            </a:r>
            <a:r>
              <a:rPr sz="950">
                <a:solidFill>
                  <a:srgbClr val="374151"/>
                </a:solidFill>
              </a:rPr>
              <a:t>Persisten ~2.000 bangku kosong/tahun (23,0% dari 47.738 total kuota 5 tahun berujung mubazir).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Krisis Segmen Vokasi &amp; PSDKU: </a:t>
            </a:r>
            <a:r>
              <a:rPr sz="950">
                <a:solidFill>
                  <a:srgbClr val="374151"/>
                </a:solidFill>
              </a:rPr>
              <a:t>D3 Vokasi hanya terisi 51,3% (1.320 kursi terbuang), PSDKU Gayo Lues krisis ekstrem 18,6% (783 kursi terbuang).</a:t>
            </a:r>
          </a:p>
          <a:p>
            <a:pPr>
              <a:spcAft>
                <a:spcPts val="8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Konsentrasi Episentrum: </a:t>
            </a:r>
            <a:r>
              <a:rPr sz="950">
                <a:solidFill>
                  <a:srgbClr val="374151"/>
                </a:solidFill>
              </a:rPr>
              <a:t>3 Fakultas (FKIP, FT, Pertanian) menyumbang 65,1% seluruh kursi kosong S1 kampus utama.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📌 IMPERATIF STRATEGIS: </a:t>
            </a:r>
            <a:r>
              <a:rPr sz="950">
                <a:solidFill>
                  <a:srgbClr val="B91C1C"/>
                </a:solidFill>
              </a:rPr>
              <a:t>Rasionalisasi kuota 20–40% pada 22 prodi Kuadran III untuk menghapus 450 bangku kosong semu.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08760"/>
            <a:ext cx="3328416" cy="4709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C0392B"/>
                </a:solidFill>
              </a:defRPr>
            </a:pPr>
            <a:r>
              <a:t>3. RESOLUSI "PLOT TWIST" KEBOCORAN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Kausalitas 97,60% Terbukti: </a:t>
            </a:r>
            <a:r>
              <a:rPr sz="950">
                <a:solidFill>
                  <a:srgbClr val="374151"/>
                </a:solidFill>
              </a:rPr>
              <a:t>626 kursi kosong SNBT 2026 secara empiris hampir identik 1-to-1 dengan 611 calon KIP yang ditolak beasiswanya.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Cliff-Edge Desil 5 &amp; 6: </a:t>
            </a:r>
            <a:r>
              <a:rPr sz="950">
                <a:solidFill>
                  <a:srgbClr val="374151"/>
                </a:solidFill>
              </a:rPr>
              <a:t>Pemangkasan kuota KIP (-11,2%) membantai Desil 5 &amp; 6 (&gt;98% ditolak). 526 calon mahasiswa berprestasi terhempas.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Economic Forced Drop-Out: </a:t>
            </a:r>
            <a:r>
              <a:rPr sz="950">
                <a:solidFill>
                  <a:srgbClr val="374151"/>
                </a:solidFill>
              </a:rPr>
              <a:t>Bukan siswa kabur ke PTS, melainkan shock biaya saat dialihkan ke UKT Kel. III–V (Rp2,5–5 jt/semester).</a:t>
            </a:r>
          </a:p>
          <a:p>
            <a:pPr>
              <a:spcAft>
                <a:spcPts val="8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Beban Kuadran III: </a:t>
            </a:r>
            <a:r>
              <a:rPr sz="950">
                <a:solidFill>
                  <a:srgbClr val="374151"/>
                </a:solidFill>
              </a:rPr>
              <a:t>Prodi rentan menanggung beban sosial KIP tertinggi (31,1%), sehingga paling rapuh terhadap guncangan beasiswa.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C0392B"/>
                </a:solidFill>
              </a:rPr>
              <a:t>📌 IMPERATIF STRATEGIS: </a:t>
            </a:r>
            <a:r>
              <a:rPr sz="950">
                <a:solidFill>
                  <a:srgbClr val="C0392B"/>
                </a:solidFill>
              </a:rPr>
              <a:t>SK Rektor UKT Penyelamat Rp500rb–1jt + Subsidi Silang 5% IPI Mandiri untuk selamatkan pendaftaran.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ANALISIS TREN &amp; PORTOFOLIO PROGRAM STUDI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Evaluasi Tren Makro 5 Tahun USK (2022–2026)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Kapasitas Melompat ke 10.435 Kursi, Beban ~2.000 Bangku Kosong Tetap Berulang Setiap Tahun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tren_makro_peminat_dt_du_u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2047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00600"/>
            <a:ext cx="7315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C0392B"/>
                </a:solidFill>
              </a:defRPr>
            </a:pPr>
            <a:r>
              <a:t>AKUMULASI 5 TAHUN: 10.984 KURSI KOSONG (23,0% KUOTA TERBUANG)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Peminat tumbuh pesat +39,5% (48.769 → 68.010), Daya Tampung melonjak +32,7% (5.485 → 7.280 S1).</a:t>
            </a:r>
            <a:br/>
            <a:r>
              <a:t>• Peningkatan kuota tidak diimbangi daya serap riil mahasiswa yang mendaftar ulang.</a:t>
            </a:r>
            <a:br/>
            <a:r>
              <a:t>• Implikasi: Terjadi structural capacity mismatch persisten ~2.000 bangku kosong setiap tahun akademik.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EVOLUSI METRIK 5 TAHUN: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2022: </a:t>
            </a:r>
            <a:r>
              <a:rPr sz="1000">
                <a:solidFill>
                  <a:srgbClr val="374151"/>
                </a:solidFill>
              </a:rPr>
              <a:t>48.769 Peminat | 7.863 Kuota | 6.197 DU | 1.666 Kosong (Fill 78,8%)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2023: </a:t>
            </a:r>
            <a:r>
              <a:rPr sz="1000">
                <a:solidFill>
                  <a:srgbClr val="374151"/>
                </a:solidFill>
              </a:rPr>
              <a:t>44.653 Peminat | 8.780 Kuota | 6.299 DU | 2.481 Kosong (Fill 71,7%)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2024: </a:t>
            </a:r>
            <a:r>
              <a:rPr sz="1000">
                <a:solidFill>
                  <a:srgbClr val="374151"/>
                </a:solidFill>
              </a:rPr>
              <a:t>65.495 Peminat | 10.240 Kuota | 7.791 DU | 2.449 Kosong (Fill 76,1%)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2025: </a:t>
            </a:r>
            <a:r>
              <a:rPr sz="1000">
                <a:solidFill>
                  <a:srgbClr val="374151"/>
                </a:solidFill>
              </a:rPr>
              <a:t>70.945 Peminat | 10.420 Kuota | 8.027 DU | 2.393 Kosong (Fill 77,0%)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2026: </a:t>
            </a:r>
            <a:r>
              <a:rPr sz="1000">
                <a:solidFill>
                  <a:srgbClr val="374151"/>
                </a:solidFill>
              </a:rPr>
              <a:t>68.010 Peminat | 10.435 Kuota | 8.440 DU | 1.995 Kosong (Fill 80,9%)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Kesimpulan Audit: </a:t>
            </a:r>
            <a:r>
              <a:rPr sz="1000">
                <a:solidFill>
                  <a:srgbClr val="374151"/>
                </a:solidFill>
              </a:rPr>
              <a:t>USK tidak kekurangan peminat, melainkan over-ekspansi kuota pada program studi yang salah.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Peta Keketatan Seleksi 2026: Disparitas Rasio 39:1 vs Peminat di Bawah Kuota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Polarisasi Ekstrem Antara Program Studi Favorit Industri vs Rumpun Ilmu Dasar &amp; Maritim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rasio_keketatan_peminatan_vs_daya_tamp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3880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83480"/>
            <a:ext cx="73152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E65100"/>
                </a:solidFill>
              </a:defRPr>
            </a:pPr>
            <a:r>
              <a:t>DISPARITAS PASAR EKSTREM: JURANG SELEKSI HINGGA 43× LIPAT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Top Favorit (Farmasi 39,2:1, Akuntansi Pajak 22,4:1, Informatika 18,1:1) menghadapi persaingan sangat ketat.</a:t>
            </a:r>
            <a:br/>
            <a:r>
              <a:t>• Rumpun Rentan (Budidaya Perairan 0,91:1) justru mengalami defisit pendaftar — kuota lebih banyak dari peminat!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66534"/>
                </a:solidFill>
              </a:defRPr>
            </a:pPr>
            <a:r>
              <a:t>TOP 8 PALING FAVORIT:</a:t>
            </a:r>
          </a:p>
          <a:p>
            <a:pPr>
              <a:spcAft>
                <a:spcPts val="800"/>
              </a:spcAft>
              <a:defRPr sz="950"/>
            </a:pPr>
            <a:r>
              <a:rPr sz="950">
                <a:solidFill>
                  <a:srgbClr val="374151"/>
                </a:solidFill>
              </a:rPr>
              <a:t>1. Farmasi (39,18:1)
2. D4 Akuntansi Pajak (22,43:1)
3. Informatika (18,12:1)
4. Psikologi (17,31:1)
5. T. Perminyakan (15,50:1)
6. T. Pertambangan (14,46:1)
7. Manajemen (14,12:1)
8. Bisnis Digital (12,79:1)</a:t>
            </a:r>
          </a:p>
          <a:p>
            <a:pPr algn="ctr">
              <a:spcAft>
                <a:spcPts val="500"/>
              </a:spcAft>
              <a:defRPr sz="800">
                <a:solidFill>
                  <a:srgbClr val="C9A84C"/>
                </a:solidFill>
              </a:defRPr>
            </a:pPr>
            <a:r>
              <a:t>─────── vs ───────</a:t>
            </a:r>
          </a:p>
          <a:p>
            <a:pPr>
              <a:spcAft>
                <a:spcPts val="500"/>
              </a:spcAft>
              <a:defRPr b="1" sz="1200">
                <a:solidFill>
                  <a:srgbClr val="C0392B"/>
                </a:solidFill>
              </a:defRPr>
            </a:pPr>
            <a:r>
              <a:t>TOP 8 PALING RENTAN:</a:t>
            </a:r>
          </a:p>
          <a:p>
            <a:pPr>
              <a:spcAft>
                <a:spcPts val="300"/>
              </a:spcAft>
              <a:defRPr sz="950"/>
            </a:pPr>
            <a:r>
              <a:rPr sz="950">
                <a:solidFill>
                  <a:srgbClr val="374151"/>
                </a:solidFill>
              </a:rPr>
              <a:t>1. Budidaya Perairan (0,91:1 — MINUS!)
2. PSP Perikanan (1,08:1)
3. Fisika (1,18:1)
4. Pend. Fisika (1,29:1)
5. Proteksi Tanaman (1,31:1)
6. Ilmu Tanah (1,35:1)
7. Pend. Kimia (1,52:1)
8. Pend. Geografi (1,56:1)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Benchmark Keketatan 5 Tahun (2022–2026): Eliminasi Bias Anomali Tahunan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Polarisasi minat bukan fenomena insidental — ini ketimpangan preferensi struktural selama setengah dekade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tren_keketatan_seleksi_5_tahun_2022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257800"/>
            <a:ext cx="7315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B91C1C"/>
                </a:solidFill>
              </a:defRPr>
            </a:pPr>
            <a:r>
              <a:t>TEMUAN BENCHMARK 5 TAHUN: KEGAGALAN PASAR KRONIS PERMANEN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Fisika (0,85:1) &amp; Budidaya Perairan (1,01:1) selama 5 tahun berturut-turut mencatat rasio di bawah atau setara 1:1.</a:t>
            </a:r>
            <a:br/>
            <a:r>
              <a:t>• Tanpa seleksi pun pendaftar tidak mencukupi kuota. Kebijakan menambah daya tampung di prodi ini terbukti kontra-produktif.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RATA-RATA 5 TAHUN: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166534"/>
                </a:solidFill>
              </a:rPr>
              <a:t>Top 5 Favorit: </a:t>
            </a:r>
            <a:r>
              <a:rPr sz="1000">
                <a:solidFill>
                  <a:srgbClr val="374151"/>
                </a:solidFill>
              </a:rPr>
              <a:t>Farmasi (44,1:1), Informatika (21,5:1), Psikologi (17,3:1), P. Dokter Gigi (17,2:1), Akuntansi Pajak (14,2:1)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Bottom 5 Sepi: </a:t>
            </a:r>
            <a:r>
              <a:rPr sz="1000">
                <a:solidFill>
                  <a:srgbClr val="374151"/>
                </a:solidFill>
              </a:rPr>
              <a:t>Fisika (0,85:1), Budidaya Perairan (1,01:1), PSP Perikanan (1,13:1), Pend. Fisika (1,31:1), Proteksi Tanaman (1,40:1)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Aksi Rekomendasi: </a:t>
            </a:r>
            <a:r>
              <a:rPr sz="1000">
                <a:solidFill>
                  <a:srgbClr val="374151"/>
                </a:solidFill>
              </a:rPr>
              <a:t>Hentikan alokasi kuota berbasis kebiasaan historis; pangkas kuota Fisika &amp; BDP minimal 35–40%.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Bintang Pertumbuhan vs Sinyal Waspada: Analisis Slope OLS &amp; CAGR Multi-Tahun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top_tren_peningkatan_pendaftar_dan_pemin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3023235"/>
          </a:xfrm>
          <a:prstGeom prst="rect">
            <a:avLst/>
          </a:prstGeom>
        </p:spPr>
      </p:pic>
      <p:pic>
        <p:nvPicPr>
          <p:cNvPr id="6" name="Picture 5" descr="03_top_tren_penurunan_pendaftar_dan_pemi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08760"/>
            <a:ext cx="5257800" cy="30232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17720"/>
            <a:ext cx="5257800" cy="1874519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050">
                <a:solidFill>
                  <a:srgbClr val="166534"/>
                </a:solidFill>
              </a:defRPr>
            </a:pPr>
            <a:r>
              <a:t>🟢 BINTANG PERTUMBUHAN (OLS POSITIF)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1. Keperawatan: </a:t>
            </a:r>
            <a:r>
              <a:rPr sz="950">
                <a:solidFill>
                  <a:srgbClr val="374151"/>
                </a:solidFill>
              </a:rPr>
              <a:t>+38,4 mhs/thn (CAGR +23,5%). Pasar ners global Jepang/Jerman.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2. PGSD: </a:t>
            </a:r>
            <a:r>
              <a:rPr sz="950">
                <a:solidFill>
                  <a:srgbClr val="374151"/>
                </a:solidFill>
              </a:rPr>
              <a:t>+27,4 mhs/thn (CAGR +19,9%). 4 thn beruntun naik! Formasi PPPK daerah.</a:t>
            </a:r>
          </a:p>
          <a:p>
            <a:pPr>
              <a:spcAft>
                <a:spcPts val="100"/>
              </a:spcAft>
              <a:defRPr sz="950"/>
            </a:pPr>
            <a:r>
              <a:rPr b="1" sz="950">
                <a:solidFill>
                  <a:srgbClr val="E65100"/>
                </a:solidFill>
              </a:rPr>
              <a:t>Rekor R² Sempurna: </a:t>
            </a:r>
            <a:r>
              <a:rPr sz="950">
                <a:solidFill>
                  <a:srgbClr val="374151"/>
                </a:solidFill>
              </a:rPr>
              <a:t>PGSD, Kehutanan, Pend. Geografi, PPKn — 4 thn berturut naik tanpa pernah turun.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617720"/>
            <a:ext cx="5257800" cy="1874519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050">
                <a:solidFill>
                  <a:srgbClr val="B91C1C"/>
                </a:solidFill>
              </a:defRPr>
            </a:pPr>
            <a:r>
              <a:t>🔴 SINYAL WASPADA (OLS NEGATIF / ZERO REBOUND)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1. Manajemen FEB: </a:t>
            </a:r>
            <a:r>
              <a:rPr sz="950">
                <a:solidFill>
                  <a:srgbClr val="374151"/>
                </a:solidFill>
              </a:rPr>
              <a:t>-16,2 mhs/thn. Zero rebound! Terkanibalisasi Bisnis Digital.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2. Ekonomi Islam &amp; Pembangunan: </a:t>
            </a:r>
            <a:r>
              <a:rPr sz="950">
                <a:solidFill>
                  <a:srgbClr val="374151"/>
                </a:solidFill>
              </a:rPr>
              <a:t>-9,3 dan -6,4 mhs/thn. Anomali di daerah bersyariat.</a:t>
            </a:r>
          </a:p>
          <a:p>
            <a:pPr>
              <a:spcAft>
                <a:spcPts val="1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Aksi Strategis: </a:t>
            </a:r>
            <a:r>
              <a:rPr sz="950">
                <a:solidFill>
                  <a:srgbClr val="374151"/>
                </a:solidFill>
              </a:rPr>
              <a:t>Restrukturisasi kurikulum FEB ke arah Fintech &amp; Business Analytics.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Eksplorasi Kausalitas Lapangan: Fakta Data Empiris vs Temuan Desk Research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Memisahkan bukti terukur dari analisis penyebab kontekstual (pasar kerja, regulasi, biaya)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709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FAKTOR PENDORONG PRODI TUMBUH TINGGI (DEMAND SURGE)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Keperawatan (+132%, 127→295 mhs): </a:t>
            </a:r>
            <a:r>
              <a:rPr sz="919">
                <a:solidFill>
                  <a:srgbClr val="374151"/>
                </a:solidFill>
              </a:rPr>
              <a:t>Program G-to-G ners ke Jepang &amp; Jerman dengan gaji tinggi. Kuota dinaikkan karena pasar menyerap habis 100%.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PGSD (+106%, 105→217 mhs): </a:t>
            </a:r>
            <a:r>
              <a:rPr sz="919">
                <a:solidFill>
                  <a:srgbClr val="374151"/>
                </a:solidFill>
              </a:rPr>
              <a:t>Formasi PPPK guru SD daerah di Aceh mencapai ribuan; kepastian karir langsung mendorong lonjakan minat 4 tahun beruntun.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Teknik Komputer (+71%, 85→145 mhs): </a:t>
            </a:r>
            <a:r>
              <a:rPr sz="919">
                <a:solidFill>
                  <a:srgbClr val="374151"/>
                </a:solidFill>
              </a:rPr>
              <a:t>Megatren kecerdasan buatan (AI), IoT, cloud engineering, &amp; otomatisasi industri menarik minat pelamar saintek.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Kehutanan (+92%, 103→198 mhs): </a:t>
            </a:r>
            <a:r>
              <a:rPr sz="919">
                <a:solidFill>
                  <a:srgbClr val="374151"/>
                </a:solidFill>
              </a:rPr>
              <a:t>Peluang karir baru di sektor ESG, sertifikasi bursa karbon Ekosistem Leuser, dan valuasi jasa lingkungan global.</a:t>
            </a:r>
          </a:p>
          <a:p>
            <a:pPr>
              <a:spcAft>
                <a:spcPts val="5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Teknik Sipil (+64%, 154→252 mhs): </a:t>
            </a:r>
            <a:r>
              <a:rPr sz="919">
                <a:solidFill>
                  <a:srgbClr val="374151"/>
                </a:solidFill>
              </a:rPr>
              <a:t>Penyerapan masif proyek infrastruktur strategis Aceh, konektivitas tol, dan rehabilitasi pasca-PON XXI.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166534"/>
                </a:solidFill>
              </a:rPr>
              <a:t>📌 KESIMPULAN: </a:t>
            </a:r>
            <a:r>
              <a:rPr sz="919">
                <a:solidFill>
                  <a:srgbClr val="166534"/>
                </a:solidFill>
              </a:rPr>
              <a:t>Prodi tumbuh karena relevansi langsung dengan kebutuhan pasar kerja, regulasi formasi ASN, &amp; standar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08760"/>
            <a:ext cx="5257800" cy="4709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AKAR PENYEBAB PRODI MENURUN / BOCOR (DEFICIT DRIVERS)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Manajemen FEB (-25%, 266→199 mhs): </a:t>
            </a:r>
            <a:r>
              <a:rPr sz="919">
                <a:solidFill>
                  <a:srgbClr val="374151"/>
                </a:solidFill>
              </a:rPr>
              <a:t>Kanibalisasi internal masif oleh S1 Bisnis Digital (baru 2024, sedot 800+ peminat) ditambah saturasi lulusan PTS.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Ekonomi Pembangunan &amp; Islam (-20% s.d. -26%): </a:t>
            </a:r>
            <a:r>
              <a:rPr sz="919">
                <a:solidFill>
                  <a:srgbClr val="374151"/>
                </a:solidFill>
              </a:rPr>
              <a:t>Kurikulum teori konvensional belum adaptif terhadap revolusi Fintech, Islamic Digital Banking, &amp; data analytics.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Budidaya Perairan &amp; Fisika (Krisis Peminat): </a:t>
            </a:r>
            <a:r>
              <a:rPr sz="919">
                <a:solidFill>
                  <a:srgbClr val="374151"/>
                </a:solidFill>
              </a:rPr>
              <a:t>Persepsi minimnya lapangan kerja formal. Generasi Z menghindari sains murni teoritis tanpa applied skills.</a:t>
            </a:r>
          </a:p>
          <a:p>
            <a:pPr>
              <a:spcAft>
                <a:spcPts val="3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Jalur Mandiri SMMPTN (25% Gugur): </a:t>
            </a:r>
            <a:r>
              <a:rPr sz="919">
                <a:solidFill>
                  <a:srgbClr val="374151"/>
                </a:solidFill>
              </a:rPr>
              <a:t>SK Rektor 1162/2026 mewajibkan IPI Rp10–35 jt lunas dalam 5 hari kerja, memicu liquidity shock bagi orang tua.</a:t>
            </a:r>
          </a:p>
          <a:p>
            <a:pPr>
              <a:spcAft>
                <a:spcPts val="5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Jalur TALENTA (75% Kabur / 935 Gugur): </a:t>
            </a:r>
            <a:r>
              <a:rPr sz="919">
                <a:solidFill>
                  <a:srgbClr val="374151"/>
                </a:solidFill>
              </a:rPr>
              <a:t>Pendaftaran gratis tanpa commitment fee; dijadikan cadangan spekulatif sebelum siswa kabur ke pengumuman UTBK.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B91C1C"/>
                </a:solidFill>
              </a:rPr>
              <a:t>📌 KESIMPULAN: </a:t>
            </a:r>
            <a:r>
              <a:rPr sz="919">
                <a:solidFill>
                  <a:srgbClr val="B91C1C"/>
                </a:solidFill>
              </a:rPr>
              <a:t>Penurunan dipicu kanibalisasi internal tanpa penyesuaian kuota, kurikulum usang, &amp; friksi skema pembayaran IPI.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Fenomena Over-Ekspansi Kuota &amp; Marginal Fill Rate (MFR)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Menambah daya tampung TIDAK otomatis menambah mahasiswa — bukti inefisiensi alokasi kuota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over_ekspansi_kuota_vs_daftar_ulang_ri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3179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508760"/>
            <a:ext cx="33649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"THE BIG FOUR" OVER-EKSPANSI: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Formulasi: </a:t>
            </a:r>
            <a:r>
              <a:rPr sz="1000">
                <a:solidFill>
                  <a:srgbClr val="374151"/>
                </a:solidFill>
              </a:rPr>
              <a:t>MFR = ΔDaftar Ulang / ΔDaya Tampung
(Benchmark: MFR ≥ 0,80 = sehat)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Budidaya Perairan: </a:t>
            </a:r>
            <a:r>
              <a:rPr sz="1000">
                <a:solidFill>
                  <a:srgbClr val="374151"/>
                </a:solidFill>
              </a:rPr>
              <a:t>Kuota 160, DU macet 90 → MFR 0,00 (GAGAL TOTAL). 70 Kursi Kosong.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THP Pertanian: </a:t>
            </a:r>
            <a:r>
              <a:rPr sz="1000">
                <a:solidFill>
                  <a:srgbClr val="374151"/>
                </a:solidFill>
              </a:rPr>
              <a:t>Kuota 2x lipat (80→160), DU +50 → MFR 0,62. 58 Kursi Kosong.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Pend. Ekonomi: </a:t>
            </a:r>
            <a:r>
              <a:rPr sz="1000">
                <a:solidFill>
                  <a:srgbClr val="374151"/>
                </a:solidFill>
              </a:rPr>
              <a:t>Kuota +60 kursi, DU hanya +24 → MFR 0,40. 57 Kursi Kosong.</a:t>
            </a:r>
          </a:p>
          <a:p>
            <a:pPr>
              <a:spcAft>
                <a:spcPts val="8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Teknik Kimia: </a:t>
            </a:r>
            <a:r>
              <a:rPr sz="1000">
                <a:solidFill>
                  <a:srgbClr val="374151"/>
                </a:solidFill>
              </a:rPr>
              <a:t>Kuota +40, DU +24 → MFR 0,60. 60 Kursi Kosong.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Dampak Rasionalisasi: </a:t>
            </a:r>
            <a:r>
              <a:rPr sz="1000">
                <a:solidFill>
                  <a:srgbClr val="374151"/>
                </a:solidFill>
              </a:rPr>
              <a:t>Merasionalkan 4 prodi ini = hapus 245 bangku kosong semu (25% masalah kursi kosong seluruh USK)!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Matriks 4 Kuadran Portofolio: Snapshot 2026 vs Longitudinal 5 Tahun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Evaluasi Posisi Program Studi Berdasarkan Tingkat Keketatan Seleksi vs Daya Serap Pendaftaran Ulang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matriks_4_kuadran_prodi_u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2519362"/>
          </a:xfrm>
          <a:prstGeom prst="rect">
            <a:avLst/>
          </a:prstGeom>
        </p:spPr>
      </p:pic>
      <p:pic>
        <p:nvPicPr>
          <p:cNvPr id="6" name="Picture 5" descr="13_matriks_4_kuadran_5_tahun_2022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08760"/>
            <a:ext cx="5257800" cy="25193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114800"/>
            <a:ext cx="2542032" cy="2148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KUADRAN I (31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Prima: </a:t>
            </a:r>
            <a:r>
              <a:rPr sz="900">
                <a:solidFill>
                  <a:srgbClr val="374151"/>
                </a:solidFill>
              </a:rPr>
              <a:t>Keketatan ≥ 4,0 &amp; Fill ≥ 80%. Farmasi, Informatika, PGSD, Kedokteran, Hukum.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66534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MAINTAIN &amp; INVEST. Buka Kelas Internasional &amp; Fast Track S1-S2.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4114800"/>
            <a:ext cx="2542032" cy="2148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KUADRAN II (6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Stabil: </a:t>
            </a:r>
            <a:r>
              <a:rPr sz="900">
                <a:solidFill>
                  <a:srgbClr val="374151"/>
                </a:solidFill>
              </a:rPr>
              <a:t>Keketatan &lt; 4,0 &amp; Fill ≥ 80%. Arsitektur, HI, Pend. Dokter Hewan.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PROTECT &amp; CONTROL. Pertahankan kuota, cegah kanibalisasi peminat.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114800"/>
            <a:ext cx="2542032" cy="2148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C0392B"/>
                </a:solidFill>
              </a:defRPr>
            </a:pPr>
            <a:r>
              <a:t>KUADRAN III (22→26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Defisit Kronis: </a:t>
            </a:r>
            <a:r>
              <a:rPr sz="900">
                <a:solidFill>
                  <a:srgbClr val="374151"/>
                </a:solidFill>
              </a:rPr>
              <a:t>Keketatan &lt; 4,0 &amp; Fill &lt; 80%. Budidaya Perairan, Fisika, PSP, THP.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C0392B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PANGKAS KUOTA 20%–40%! 5 tahun membuktikan 26 prodi defisit akut.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4114800"/>
            <a:ext cx="2542032" cy="2148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KUADRAN IV (7 PRODI)</a:t>
            </a:r>
          </a:p>
          <a:p>
            <a:pPr>
              <a:spcAft>
                <a:spcPts val="3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Bocor Finansial: </a:t>
            </a:r>
            <a:r>
              <a:rPr sz="900">
                <a:solidFill>
                  <a:srgbClr val="374151"/>
                </a:solidFill>
              </a:rPr>
              <a:t>Keketatan ≥ 4,0 &amp; Fill &lt; 80%. Akuntansi Pajak (22,4x tapi FR 73,8%), PWK.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E65100"/>
                </a:solidFill>
              </a:rPr>
              <a:t>Aksi: </a:t>
            </a:r>
            <a:r>
              <a:rPr sz="900">
                <a:solidFill>
                  <a:srgbClr val="374151"/>
                </a:solidFill>
              </a:rPr>
              <a:t>RETAIN &amp; CONVERT. Cicilan IPI 3 tahap &amp; fast-track auto-call cadangan.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Sintesis Lintas Dimensi: Menyilangkan Dinamika Tren dengan Posisi Kuadran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Menggabungkan Klasifikasi Tren (Velocity) dengan Matriks Kuadran (Position) untuk diagnosa manajerial tajam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TREN MENINGKAT × KUADRAN I (GROWTH CHAMPIONS)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PGSD, Keperawatan, Teknik Sipil, Teknik Komputer, Ilmu Hukum.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Rasio keketatan tinggi (&gt;4,0), keterisian prima (&gt;80%), dan slope OLS positif (+15 s.d. +38 mhs/thn).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66534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AGGRESSIVE EXPANSION — Tambah kuota selektif +5–10%, rintis Kelas Internasional, dan Fast Track S1-S2.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Pertahankan Fill Rate 100% dan tingkatkan penerimaan IPI Mandiri non-subsidi.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08760"/>
            <a:ext cx="5257800" cy="2240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TREN MENURUN × KUADRAN I (MATURE / THREATENED)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Manajemen FEB, Ekonomi Pembangunan, Ekonomi Islam.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Kapasitas saat ini masih terisi (&gt;80%) karena reputasi lama, namun tren peminat merosot kontinu (Zero Rebound).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B91C1C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CONTROLLED DOWNSIZING — Moratorium penambahan kuota; rampingkan kapasitas agar kelas tetap padat 100%.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C0392B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Re-engineering kurikulum ke Digital Business Analytics; hentikan kanibalisasi internal Bisnis Digital.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TREN FLUKTUATIF × KUADRAN IV (HIGH-RISK CASH COWS)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D4 Akuntansi Perpajakan (Keketatan 22,4x tapi Fill 73,8%), Teknik Perminyakan, PWK, PAUD.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Peminat sangat banyak, namun yield pendaftaran ulang anjlok akibat seleksi Mandiri yang bocor parah.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E65100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FINANCIAL &amp; YIELD OPTIMIZATION — Terapkan cicilan IPI 3 tahap dan sistem fast-track auto-call cadangan 48 jam.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Naikkan Fill Rate dari 73% ke ≥90%; selamatkan potensi penerimaan IPI Rp4,5–6 Miliar yang hilang.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886200"/>
            <a:ext cx="5257800" cy="2240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C0392B"/>
                </a:solidFill>
              </a:defRPr>
            </a:pPr>
            <a:r>
              <a:t>PEMINATAN RENDAH × KUADRAN III (CHRONIC DEFICIT)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Prodi Kunci: </a:t>
            </a:r>
            <a:r>
              <a:rPr sz="919">
                <a:solidFill>
                  <a:srgbClr val="374151"/>
                </a:solidFill>
              </a:rPr>
              <a:t>Budidaya Perairan (56%), Fisika (65%), Teknik Kimia (67%), THP (64%), Pend. Kimia, Pend. Fisika.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1B3B6F"/>
                </a:solidFill>
              </a:rPr>
              <a:t>Karakteristik: </a:t>
            </a:r>
            <a:r>
              <a:rPr sz="919">
                <a:solidFill>
                  <a:srgbClr val="374151"/>
                </a:solidFill>
              </a:rPr>
              <a:t>Keketatan &lt;4,0 dan keterisian &lt;80% persisten 5 tahun; menyumbang 48,4% seluruh bangku kosong universitas.</a:t>
            </a:r>
          </a:p>
          <a:p>
            <a:pPr>
              <a:spcAft>
                <a:spcPts val="200"/>
              </a:spcAft>
              <a:defRPr sz="919"/>
            </a:pPr>
            <a:r>
              <a:rPr b="1" sz="919">
                <a:solidFill>
                  <a:srgbClr val="C0392B"/>
                </a:solidFill>
              </a:rPr>
              <a:t>Aksi Strategis: </a:t>
            </a:r>
            <a:r>
              <a:rPr sz="919">
                <a:solidFill>
                  <a:srgbClr val="374151"/>
                </a:solidFill>
              </a:rPr>
              <a:t>RADICAL CAPACITY RATIONALIZATION — Pangkas kuota 20%–40% segera; hapus 400+ kursi kosong semu.</a:t>
            </a:r>
          </a:p>
          <a:p>
            <a:pPr>
              <a:spcAft>
                <a:spcPts val="100"/>
              </a:spcAft>
              <a:defRPr sz="919"/>
            </a:pPr>
            <a:r>
              <a:rPr b="1" sz="919">
                <a:solidFill>
                  <a:srgbClr val="B91C1C"/>
                </a:solidFill>
              </a:rPr>
              <a:t>Target 2027: </a:t>
            </a:r>
            <a:r>
              <a:rPr sz="919">
                <a:solidFill>
                  <a:srgbClr val="374151"/>
                </a:solidFill>
              </a:rPr>
              <a:t>Sehatkan rasio dosen-mahasiswa nasional &amp; internasional demi menyelamatkan akreditasi unggul.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DEKONSTRUKSI KEBOCORAN PENERIMAAN MAHASISWA BARU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Dinamika Jalur Masuk &amp; Corong Kebocoran: Panorama 5 Tahun (2022–2026)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Komposisi 8.440 Mahasiswa Baru 2026 dan Evaluasi Yield Rate per Jalur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dinamika_jalur_masuk_dan_kebocoran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251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00600"/>
            <a:ext cx="7315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C0392B"/>
                </a:solidFill>
              </a:defRPr>
            </a:pPr>
            <a:r>
              <a:t>KEBOCORAN PMB MEMBENGKAK +94,9% DALAM 5 TAHUN (1.231 → 2.399 CALON)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SNBP (Yield 94,8%): Sangat loyal &amp; stabil karena didukung sanksi tegas sekolah/siswa.</a:t>
            </a:r>
            <a:br/>
            <a:r>
              <a:t>• TALENTA (Yield 24,9%): Keruntuhan total akibat pendaftaran tanpa commitment fee di awal (dijadikan tiket cadangan).</a:t>
            </a:r>
            <a:br/>
            <a:r>
              <a:t>• SMMPTN Mandiri (Yield 75,0%): Tenggat pembayaran IPI 5 hari menimbulkan liquidity shock bagi keluarga.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KOMPOSISI &amp; KEBOCORAN 2026: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SNBT (38,6%): </a:t>
            </a:r>
            <a:r>
              <a:rPr sz="1000">
                <a:solidFill>
                  <a:srgbClr val="374151"/>
                </a:solidFill>
              </a:rPr>
              <a:t>3.260 mhs. Kebocoran 626 calon (Yield 83,9%).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SNBP (32,6%): </a:t>
            </a:r>
            <a:r>
              <a:rPr sz="1000">
                <a:solidFill>
                  <a:srgbClr val="374151"/>
                </a:solidFill>
              </a:rPr>
              <a:t>2.754 mhs. Paling loyal (Yield 94,8%). Sanksi blacklist efektif.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SMMPTN (21,5%): </a:t>
            </a:r>
            <a:r>
              <a:rPr sz="1000">
                <a:solidFill>
                  <a:srgbClr val="374151"/>
                </a:solidFill>
              </a:rPr>
              <a:t>1.814 mhs. Bocor 604 calon (Yield 75,0%). IPI 5 hari terlalu mepet.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TALENTA (3,7%): </a:t>
            </a:r>
            <a:r>
              <a:rPr sz="1000">
                <a:solidFill>
                  <a:srgbClr val="374151"/>
                </a:solidFill>
              </a:rPr>
              <a:t>308 mhs. CRASH! 935 calon gugur (Yield 24,9%). Yield jatuh dari 88,3% (2024) → 24,9% (2026).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Kebocoran 5 Tahun: </a:t>
            </a:r>
            <a:r>
              <a:rPr sz="1000">
                <a:solidFill>
                  <a:srgbClr val="374151"/>
                </a:solidFill>
              </a:rPr>
              <a:t>Membengkak dari 1.231 (2022) menjadi 2.399 (2026) = +94,9% dalam 5 tahun!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Resolusi "Plot Twist": Kursi Kosong SNBT Bukan Siswa Kabur — Terhempas KIP!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Korelasi 97,6%: 626 Calon Gugur SNBT ≈ 611 Pelamar KIP Ditolak Beasiswa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_analisis_desil_dan_rejection_kip_sn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2725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00600"/>
            <a:ext cx="7315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B91C1C"/>
                </a:solidFill>
              </a:defRPr>
            </a:pPr>
            <a:r>
              <a:t>RESOLUSI PLOT TWIST: KORELASI ANOMALI 97,60% TERBUKTI SECARA STATISTIK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Premis 'calon mahasiswa kabur ke PTS' terbantahkan secara telak oleh data empiris.</a:t>
            </a:r>
            <a:br/>
            <a:r>
              <a:t>• 626 Kursi Kosong SNBT hampir identik 1-to-1 dengan 611 Pelamar KIP-K yang Ditolak Beasiswanya.</a:t>
            </a:r>
            <a:br/>
            <a:r>
              <a:t>• Kesimpulan: Kursi kosong SNBT bukan kegagalan daya tarik universitas, melainkan kegagalan daya beli siswa miskin.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KOMPARATIF KIP 2025 VS 2026: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Kuota KIP 2025: </a:t>
            </a:r>
            <a:r>
              <a:rPr sz="1000">
                <a:solidFill>
                  <a:srgbClr val="374151"/>
                </a:solidFill>
              </a:rPr>
              <a:t>1.846 kursi. Penolakan SNBT hanya 370 orang (29,0%).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Kuota KIP 2026: </a:t>
            </a:r>
            <a:r>
              <a:rPr sz="1000">
                <a:solidFill>
                  <a:srgbClr val="374151"/>
                </a:solidFill>
              </a:rPr>
              <a:t>DIPANGKAS -207 kursi (-11,2%) menjadi 1.639. Pendaftar KIP SNBT justru naik ke 1.361 orang.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Efek Penyerapan SNBP: </a:t>
            </a:r>
            <a:r>
              <a:rPr sz="1000">
                <a:solidFill>
                  <a:srgbClr val="374151"/>
                </a:solidFill>
              </a:rPr>
              <a:t>893 kursi KIP terserap SNBP di awal → sisa KIP untuk SNBT hanya 746 kursi.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Ledakan Penolakan: </a:t>
            </a:r>
            <a:r>
              <a:rPr sz="1000">
                <a:solidFill>
                  <a:srgbClr val="374151"/>
                </a:solidFill>
              </a:rPr>
              <a:t>611 siswa KIP SNBT ditolak (+65,1% dari 2025!). Kesesuaian dengan 626 kursi kosong = 97,60%.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Kesimpulan: </a:t>
            </a:r>
            <a:r>
              <a:rPr sz="1000">
                <a:solidFill>
                  <a:srgbClr val="374151"/>
                </a:solidFill>
              </a:rPr>
              <a:t>Kursi kosong SNBT = kegagalan daya beli (economic forced drop-out), bukan siswa kabur ke 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"The Smoking Gun": Penolakan KIP Terkonsentrasi pada Desil 5 &amp; 6 (&gt;98% Ditolak!)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PROFIL PENERIMAAN KIP SNBT 2026 PER DESIL DTKS: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1 (Sangat Miskin): </a:t>
            </a:r>
            <a:r>
              <a:rPr sz="1050">
                <a:solidFill>
                  <a:srgbClr val="374151"/>
                </a:solidFill>
              </a:rPr>
              <a:t>221 Pendaftar | 200 Diterima (90,5%) — Aman ✓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2 (Miskin): </a:t>
            </a:r>
            <a:r>
              <a:rPr sz="1050">
                <a:solidFill>
                  <a:srgbClr val="374151"/>
                </a:solidFill>
              </a:rPr>
              <a:t>186 Pendaftar | 162 Diterima (87,1%) — Aman ✓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3 (Hampir Miskin): </a:t>
            </a:r>
            <a:r>
              <a:rPr sz="1050">
                <a:solidFill>
                  <a:srgbClr val="374151"/>
                </a:solidFill>
              </a:rPr>
              <a:t>219 Pendaftar | 204 Diterima (93,2%) — Aman ✓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66534"/>
                </a:solidFill>
              </a:rPr>
              <a:t>Desil 4 (Rentan Miskin): </a:t>
            </a:r>
            <a:r>
              <a:rPr sz="1050">
                <a:solidFill>
                  <a:srgbClr val="374151"/>
                </a:solidFill>
              </a:rPr>
              <a:t>176 Pendaftar | 160 Diterima (90,9%) — Aman ✓</a:t>
            </a:r>
          </a:p>
          <a:p>
            <a:pPr>
              <a:spcAft>
                <a:spcPts val="800"/>
              </a:spcAft>
              <a:defRPr sz="900" b="1">
                <a:solidFill>
                  <a:srgbClr val="C0392B"/>
                </a:solidFill>
              </a:defRPr>
            </a:pPr>
            <a:r>
              <a:t>━━━━━━━━━ GARIS CUTOFF AMBANG KUOTA KIP APBN ━━━━━━━━━</a:t>
            </a:r>
          </a:p>
          <a:p>
            <a:pPr>
              <a:spcAft>
                <a:spcPts val="400"/>
              </a:spcAft>
              <a:defRPr sz="1050"/>
            </a:pPr>
            <a:r>
              <a:rPr b="1" sz="1050">
                <a:solidFill>
                  <a:srgbClr val="B91C1C"/>
                </a:solidFill>
              </a:rPr>
              <a:t>Desil 5: </a:t>
            </a:r>
            <a:r>
              <a:rPr sz="1050">
                <a:solidFill>
                  <a:srgbClr val="374151"/>
                </a:solidFill>
              </a:rPr>
              <a:t>149 Pendaftar | HANYA 3 DITERIMA (2,0%) | 146 DITOLAK (98,0%)!</a:t>
            </a:r>
          </a:p>
          <a:p>
            <a:pPr>
              <a:spcAft>
                <a:spcPts val="600"/>
              </a:spcAft>
              <a:defRPr sz="1050"/>
            </a:pPr>
            <a:r>
              <a:rPr b="1" sz="1050">
                <a:solidFill>
                  <a:srgbClr val="B91C1C"/>
                </a:solidFill>
              </a:rPr>
              <a:t>Desil 6: </a:t>
            </a:r>
            <a:r>
              <a:rPr sz="1050">
                <a:solidFill>
                  <a:srgbClr val="374151"/>
                </a:solidFill>
              </a:rPr>
              <a:t>385 Pendaftar | HANYA 5 DITERIMA (1,3%) | 380 DITOLAK (98,7%)!</a:t>
            </a:r>
          </a:p>
          <a:p>
            <a:pPr>
              <a:spcAft>
                <a:spcPts val="300"/>
              </a:spcAft>
              <a:defRPr sz="1100"/>
            </a:pPr>
            <a:r>
              <a:rPr b="1" sz="1100">
                <a:solidFill>
                  <a:srgbClr val="B91C1C"/>
                </a:solidFill>
              </a:rPr>
              <a:t>TOTAL DESIL 5 &amp; 6: </a:t>
            </a:r>
            <a:r>
              <a:rPr sz="1100">
                <a:solidFill>
                  <a:srgbClr val="374151"/>
                </a:solidFill>
              </a:rPr>
              <a:t>526 CALON MAHASISWA BERPRESTASI UTBK DITOLAK!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08760"/>
            <a:ext cx="5010912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B91C1C"/>
                </a:solidFill>
              </a:defRPr>
            </a:pPr>
            <a:r>
              <a:t>MEKANISME ECONOMIC FORCED DROP-OUT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B3B6F"/>
                </a:solidFill>
              </a:rPr>
              <a:t>1. Dialihkan ke UKT Reguler: </a:t>
            </a:r>
            <a:r>
              <a:rPr sz="1050">
                <a:solidFill>
                  <a:srgbClr val="374151"/>
                </a:solidFill>
              </a:rPr>
              <a:t>526 calon Desil 5-6 yang ditolak KIP langsung dikenakan UKT Kelompok III–V (Rp 2,5–5 Juta/semester).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B3B6F"/>
                </a:solidFill>
              </a:rPr>
              <a:t>2. Profil Prasejahtera: </a:t>
            </a:r>
            <a:r>
              <a:rPr sz="1050">
                <a:solidFill>
                  <a:srgbClr val="374151"/>
                </a:solidFill>
              </a:rPr>
              <a:t>Keluarga petani kecil, buruh harian, nelayan tradisional, pedagang mikro — tanpa bantalan tabungan darurat.</a:t>
            </a:r>
          </a:p>
          <a:p>
            <a:pPr>
              <a:spcAft>
                <a:spcPts val="800"/>
              </a:spcAft>
              <a:defRPr sz="1050"/>
            </a:pPr>
            <a:r>
              <a:rPr b="1" sz="1050">
                <a:solidFill>
                  <a:srgbClr val="1B3B6F"/>
                </a:solidFill>
              </a:rPr>
              <a:t>3. Mundur Terpaksa: </a:t>
            </a:r>
            <a:r>
              <a:rPr sz="1050">
                <a:solidFill>
                  <a:srgbClr val="374151"/>
                </a:solidFill>
              </a:rPr>
              <a:t>Tagihan UKT jutaan rupiah dalam tempo verifikasi sempit → 526 calon terpaksa tidak mendaftar ulang.</a:t>
            </a:r>
          </a:p>
          <a:p>
            <a:pPr>
              <a:spcAft>
                <a:spcPts val="300"/>
              </a:spcAft>
              <a:defRPr sz="1100"/>
            </a:pPr>
            <a:r>
              <a:rPr b="1" sz="1100">
                <a:solidFill>
                  <a:srgbClr val="B91C1C"/>
                </a:solidFill>
              </a:rPr>
              <a:t>4. Sumber 84% Kursi Kosong: </a:t>
            </a:r>
            <a:r>
              <a:rPr sz="1100">
                <a:solidFill>
                  <a:srgbClr val="374151"/>
                </a:solidFill>
              </a:rPr>
              <a:t>526 dari 626 bangku kosong SNBT (84,0%) tercipta langsung dari mekanisme ini!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Sinkronisasi Sektoral: Korelasi Calon Gugur vs Penolakan KIP Desil 5–6 per Prodi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Evaluasi Lintas Program Studi Membuktikan Paralelisme Sempurna Antara Penolakan Beasiswa dan Bangku Kosong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3_korelasi_prodi_calon_gugur_vs_kip_d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8501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94960"/>
            <a:ext cx="73152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00">
                <a:solidFill>
                  <a:srgbClr val="1B3B6F"/>
                </a:solidFill>
              </a:defRPr>
            </a:pPr>
            <a:r>
              <a:t>BUKTI PARALELISME 100%: FAKULTAS KEPERAWATAN &amp; RUMPUN AGRO-MARITIM</a:t>
            </a:r>
          </a:p>
          <a:p>
            <a:pPr>
              <a:defRPr sz="850">
                <a:solidFill>
                  <a:srgbClr val="374151"/>
                </a:solidFill>
              </a:defRPr>
            </a:pPr>
            <a:r>
              <a:t>• Keperawatan (20 gugur ↔ 20 KIP ditolak) dan Sospol membuktikan korelasi 1-to-1 sempurna.</a:t>
            </a:r>
            <a:br/>
            <a:r>
              <a:t>• Mahasiswa di prodi-prodi ini mundur murni karena ketiadaan beasiswa pasca penetapan UKT reguler.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BUKTI PARALELISME PER PRODI: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Keperawatan: </a:t>
            </a:r>
            <a:r>
              <a:rPr sz="1000">
                <a:solidFill>
                  <a:srgbClr val="374151"/>
                </a:solidFill>
              </a:rPr>
              <a:t>20 Gugur ↔ 20 KIP Desil 5-6 Ditolak (Korelasi 100%!)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PGSD: </a:t>
            </a:r>
            <a:r>
              <a:rPr sz="1000">
                <a:solidFill>
                  <a:srgbClr val="374151"/>
                </a:solidFill>
              </a:rPr>
              <a:t>9 Gugur ↔ 20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Akuntansi: </a:t>
            </a:r>
            <a:r>
              <a:rPr sz="1000">
                <a:solidFill>
                  <a:srgbClr val="374151"/>
                </a:solidFill>
              </a:rPr>
              <a:t>20 Gugur ↔ 14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Budidaya Perairan: </a:t>
            </a:r>
            <a:r>
              <a:rPr sz="1000">
                <a:solidFill>
                  <a:srgbClr val="374151"/>
                </a:solidFill>
              </a:rPr>
              <a:t>16 Gugur ↔ 12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Ilmu Hukum: </a:t>
            </a:r>
            <a:r>
              <a:rPr sz="1000">
                <a:solidFill>
                  <a:srgbClr val="374151"/>
                </a:solidFill>
              </a:rPr>
              <a:t>14 Gugur ↔ 15 KIP Desil 5-6 Ditolak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D3 Agribisnis: </a:t>
            </a:r>
            <a:r>
              <a:rPr sz="1000">
                <a:solidFill>
                  <a:srgbClr val="374151"/>
                </a:solidFill>
              </a:rPr>
              <a:t>40 Gugur dari 57 Lulus — 17 KIP ditolak. Vokasi paling parah!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Ilmu Pemerintahan: </a:t>
            </a:r>
            <a:r>
              <a:rPr sz="1000">
                <a:solidFill>
                  <a:srgbClr val="374151"/>
                </a:solidFill>
              </a:rPr>
              <a:t>12 Gugur ↔ 14 KIP (100% Desil 5-6)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Kesimpulan: </a:t>
            </a:r>
            <a:r>
              <a:rPr sz="1000">
                <a:solidFill>
                  <a:srgbClr val="374151"/>
                </a:solidFill>
              </a:rPr>
              <a:t>Prodi rumpun keguruan, kesehatan, pertanian, &amp; sospol bocor murni karena benturan ekonomi, bukan ketiadaan peminat.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DIMENSI SOSIAL-EKONOMI &amp; KINERJA INSTITUSI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Stratifikasi Sosial-Ekonomi: Kuadran III Sebagai Jaring Pengaman Sosial USK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Distribusi Mahasiswa Prasejahtera Sangat Timpang — Kuadran III Menanggung Beban Sosial Terbesar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1_ketergantungan_kip_antar_kuadran_dan_top_pro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029200"/>
            <a:ext cx="73152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300"/>
              </a:spcAft>
              <a:defRPr b="1" sz="1050">
                <a:solidFill>
                  <a:srgbClr val="1B3B6F"/>
                </a:solidFill>
              </a:defRPr>
            </a:pPr>
            <a:r>
              <a:t>KUADRAN III = JARING PENGAMAN SOSIAL &amp; DEMOKRATISASI KAMPUS USK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• Penetrasi beasiswa Kuadran III (31,1%) mencapai 2,4× Kuadran I (13,2%). PSP Perikanan bahkan 56,7%!</a:t>
            </a:r>
            <a:br/>
            <a:r>
              <a:t>• Program studi Kuadran III menampung anak-anak keluarga nelayan, petani, dan buruh prasejahtera Aceh.</a:t>
            </a:r>
            <a:br/>
            <a:r>
              <a:t>• Alokasi beasiswa KIP harus diproteksi dan disinkronkan untuk menjaga kelangsungan program studi rentan.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1821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PENETRASI KIP PER KUADRAN: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Kuadran I (Unggulan): </a:t>
            </a:r>
            <a:r>
              <a:rPr sz="1000">
                <a:solidFill>
                  <a:srgbClr val="374151"/>
                </a:solidFill>
              </a:rPr>
              <a:t>13,19% (515 KIP dari 3.905 mhs). Mandiri finansial, didominasi pembayar UKT tinggi dan IPI.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Kuadran II (Stabil): </a:t>
            </a:r>
            <a:r>
              <a:rPr sz="1000">
                <a:solidFill>
                  <a:srgbClr val="374151"/>
                </a:solidFill>
              </a:rPr>
              <a:t>14,63% (153 KIP dari 1.046 mhs).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Kuadran IV (Bocor): </a:t>
            </a:r>
            <a:r>
              <a:rPr sz="1000">
                <a:solidFill>
                  <a:srgbClr val="374151"/>
                </a:solidFill>
              </a:rPr>
              <a:t>24,47% (163 KIP dari 666 mhs).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Kuadran III (Defisit): </a:t>
            </a:r>
            <a:r>
              <a:rPr sz="1000">
                <a:solidFill>
                  <a:srgbClr val="374151"/>
                </a:solidFill>
              </a:rPr>
              <a:t>31,11% (734 KIP dari 2.359 mhs). 2,4× Kuadran I!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Top KIP Dependency: </a:t>
            </a:r>
            <a:r>
              <a:rPr sz="950">
                <a:solidFill>
                  <a:srgbClr val="374151"/>
                </a:solidFill>
              </a:rPr>
              <a:t>PSP Perikanan 56,7%, Pend. Fisika 53,9%, Budidaya Perairan 51,1%, Pend. Ekonomi 49,5%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Lowest KIP (Elite): </a:t>
            </a:r>
            <a:r>
              <a:rPr sz="950">
                <a:solidFill>
                  <a:srgbClr val="374151"/>
                </a:solidFill>
              </a:rPr>
              <a:t>P. Dokter Gigi 1,0%, P. Dokter 2,4%, Informatika 3,4%, T. Perminyakan 3,9%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Demografi Penerima KIP-Kuliah &amp; Evaluasi Kinerja 12 Fakultas S1 (2026)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Profil Sebaran Mahasiswa Prasejahtera dan Diagnostik Pemenuhan Kuota di 12 Fakultas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2_demografi_fakultas_dan_gender_kip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57800" cy="2522234"/>
          </a:xfrm>
          <a:prstGeom prst="rect">
            <a:avLst/>
          </a:prstGeom>
        </p:spPr>
      </p:pic>
      <p:pic>
        <p:nvPicPr>
          <p:cNvPr id="6" name="Picture 5" descr="07_analisa_peminatan_dan_keterisian_fakul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19072"/>
            <a:ext cx="525780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114800"/>
            <a:ext cx="3429000" cy="2148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1. PROFIL DEMOGRAFI KIP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FKIP Dominan: </a:t>
            </a:r>
            <a:r>
              <a:rPr sz="950">
                <a:solidFill>
                  <a:srgbClr val="374151"/>
                </a:solidFill>
              </a:rPr>
              <a:t>651 KIP (39,7% total universitas) — hampir 40% beasiswa kampus!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E65100"/>
                </a:solidFill>
              </a:rPr>
              <a:t>Gender 3,4:1: </a:t>
            </a:r>
            <a:r>
              <a:rPr sz="950">
                <a:solidFill>
                  <a:srgbClr val="374151"/>
                </a:solidFill>
              </a:rPr>
              <a:t>Perempuan 1.268 (77,4%) vs Pria 371 (22,6%). KIP = pilar mobilitas perempuan Aceh.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Pintu Masuk: </a:t>
            </a:r>
            <a:r>
              <a:rPr sz="950">
                <a:solidFill>
                  <a:srgbClr val="374151"/>
                </a:solidFill>
              </a:rPr>
              <a:t>SNBP menyerap 54,5% di awal, menyisakan kuota KIP ketat di SNBT.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114800"/>
            <a:ext cx="3429000" cy="2148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66534"/>
                </a:solidFill>
              </a:defRPr>
            </a:pPr>
            <a:r>
              <a:t>2. ZONASI KINERJA 12 FAKULTAS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66534"/>
                </a:solidFill>
              </a:rPr>
              <a:t>Prima (98–100%): </a:t>
            </a:r>
            <a:r>
              <a:rPr sz="950">
                <a:solidFill>
                  <a:srgbClr val="374151"/>
                </a:solidFill>
              </a:rPr>
              <a:t>FKG (100%), Hukum (99,6%), Kedokteran (98,8%). Sangat diminati &amp; presisi.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Sehat (&gt;80%): </a:t>
            </a:r>
            <a:r>
              <a:rPr sz="950">
                <a:solidFill>
                  <a:srgbClr val="374151"/>
                </a:solidFill>
              </a:rPr>
              <a:t>FISIP 89,6%, FKH 88,5%, FKep 81,9%, FMIPA 81,9%.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C0392B"/>
                </a:solidFill>
              </a:rPr>
              <a:t>Kritis (&lt;80%): </a:t>
            </a:r>
            <a:r>
              <a:rPr sz="950">
                <a:solidFill>
                  <a:srgbClr val="374151"/>
                </a:solidFill>
              </a:rPr>
              <a:t>FEB 77,2%, FPK 62,4%, Pertanian 62,1%. Perlu restrukturisasi.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4114800"/>
            <a:ext cx="3429000" cy="2148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3. KONSENTRASI KURSI KOSONG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Tiga Episenter: </a:t>
            </a:r>
            <a:r>
              <a:rPr sz="950">
                <a:solidFill>
                  <a:srgbClr val="374151"/>
                </a:solidFill>
              </a:rPr>
              <a:t>FKIP (421 kursi) + Teknik (302) + Pertanian (299).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Porsi 65,1%: </a:t>
            </a:r>
            <a:r>
              <a:rPr sz="950">
                <a:solidFill>
                  <a:srgbClr val="374151"/>
                </a:solidFill>
              </a:rPr>
              <a:t>3 fakultas ini menyumbang hampir dua pertiga seluruh bangku kosong USK!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Arah Kebijakan: </a:t>
            </a:r>
            <a:r>
              <a:rPr sz="950">
                <a:solidFill>
                  <a:srgbClr val="374151"/>
                </a:solidFill>
              </a:rPr>
              <a:t>Rasionalisasi kuota terfokus pada 3 fakultas ini akan menyelesaikan 65% masalah kampus.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Prinsip Pareto: 15 Prodi = 48,4% Seluruh Kursi Kosong | Krisis D3 &amp; PSDKU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Diagnostik tingkat program studi mengungkap konsentrasi defisit yang sangat tajam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a_episentrum_kursi_kosong_15_pro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989320" cy="43921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508760"/>
            <a:ext cx="4510735" cy="2240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EPISENTRUM DEFISIT S1 (PARETO 80/20):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15 Prodi = 759 Kursi Kosong: </a:t>
            </a:r>
            <a:r>
              <a:rPr sz="950">
                <a:solidFill>
                  <a:srgbClr val="374151"/>
                </a:solidFill>
              </a:rPr>
              <a:t>48,4% dari total 1.569 kursi kosong S1 Kampus Utama 2026.</a:t>
            </a:r>
          </a:p>
          <a:p>
            <a:pPr>
              <a:spcAft>
                <a:spcPts val="3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Top 5 Defisit Terbesar: </a:t>
            </a:r>
            <a:r>
              <a:rPr sz="950">
                <a:solidFill>
                  <a:srgbClr val="374151"/>
                </a:solidFill>
              </a:rPr>
              <a:t>Budidaya Perairan (70), Keperawatan (65), T. Kimia (60), THP (58), Pend. Ekonomi (57).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Akumulasi 5 Tahun: </a:t>
            </a:r>
            <a:r>
              <a:rPr sz="950">
                <a:solidFill>
                  <a:srgbClr val="374151"/>
                </a:solidFill>
              </a:rPr>
              <a:t>3.850 kursi kosong terkonsentrasi di 15 prodi ini (43,4% dari total 8.881 defisit kampus).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840480"/>
            <a:ext cx="4510735" cy="2423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SEGMEN KHUSUS: KRISIS D3 VOKASI &amp; PSDKU: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E65100"/>
                </a:solidFill>
              </a:rPr>
              <a:t>D3 Vokasi (Keterisian 48,5%): </a:t>
            </a:r>
            <a:r>
              <a:rPr sz="950">
                <a:solidFill>
                  <a:srgbClr val="374151"/>
                </a:solidFill>
              </a:rPr>
              <a:t>1.320 kursi terbuang dari 2.565 kuota (4 tahun). D3 Agribisnis hanya 36,8%!
→ Rekomendasi: Konversi D3→D4 Sarjana Terapan (Golongan III/a).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C0392B"/>
                </a:solidFill>
              </a:rPr>
              <a:t>PSDKU Gayo Lues (25,4%): </a:t>
            </a:r>
            <a:r>
              <a:rPr sz="950">
                <a:solidFill>
                  <a:srgbClr val="374151"/>
                </a:solidFill>
              </a:rPr>
              <a:t>783 kursi mubazir dari 1.050 kuota (5 tahun). 74,6% bangku kosong melompong!
→ Rekomendasi: Pangkas kuota 50% + Wajibkan MoU beasiswa Pemkab.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C9A84C"/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319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0E8"/>
                </a:solidFill>
              </a:defRPr>
            </a:pPr>
            <a:r>
              <a:t>KESIMPULAN EKSEKUTIF &amp; REKOMENDASI KEBIJAKAN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Sintesis Kesimpulan Eksekutif: Tiga Pilar Temuan Utama Audit PMB USK (2022–2026)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572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1B3B6F"/>
                </a:solidFill>
              </a:defRPr>
            </a:pPr>
            <a:r>
              <a:t>1. OVER-EKSPANSI &amp; 4 KUADRAN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Tekanan Keterisian: </a:t>
            </a:r>
            <a:r>
              <a:rPr sz="950">
                <a:solidFill>
                  <a:srgbClr val="374151"/>
                </a:solidFill>
              </a:rPr>
              <a:t>Daya tampung naik +23,5% melampaui pendaftar ulang (+16,3%). Fill rate turun dari 87,4% ke 82,3% (1.776 kursi kosong 2026).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Polarisasi 66 Prodi: </a:t>
            </a:r>
            <a:r>
              <a:rPr sz="950">
                <a:solidFill>
                  <a:srgbClr val="374151"/>
                </a:solidFill>
              </a:rPr>
              <a:t>• Kuadran I (31 Prodi Unggulan - 59% mhs): Keterisian &gt;80%, pilar reputasi &amp; revenue PTN-BH.
• Kuadran III (22 Prodi Defisit - 23% mhs): Keterisian &lt;70%, episentrum inefisiensi kelas.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Over-Ekspansi Kuota: </a:t>
            </a:r>
            <a:r>
              <a:rPr sz="950">
                <a:solidFill>
                  <a:srgbClr val="374151"/>
                </a:solidFill>
              </a:rPr>
              <a:t>Penambahan daya tampung di Kuadran III (MFR mendekati nol) gagal diserap pasar dan hanya memicu kursi kosong semu.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4572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E65100"/>
                </a:solidFill>
              </a:defRPr>
            </a:pPr>
            <a:r>
              <a:t>2. DISRUPSI VOKASI &amp; JALUR MASUK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Krisis Vokasi D3: </a:t>
            </a:r>
            <a:r>
              <a:rPr sz="950">
                <a:solidFill>
                  <a:srgbClr val="374151"/>
                </a:solidFill>
              </a:rPr>
              <a:t>Keterisian hanya 51,3% (324 kursi kosong dari 665 kuota). Ijazah D3 kalah bersaing di formasi ASN (golongan II/c vs III/a).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Krisis Akut PSDKU: </a:t>
            </a:r>
            <a:r>
              <a:rPr sz="950">
                <a:solidFill>
                  <a:srgbClr val="374151"/>
                </a:solidFill>
              </a:rPr>
              <a:t>Keterisian hanya 18,6% (81,4% kursi kosong melompong; hanya 41 mhs masuk dari 220 kuota), membebani biaya operasional.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Jebakan Jalur Masuk: </a:t>
            </a:r>
            <a:r>
              <a:rPr sz="950">
                <a:solidFill>
                  <a:srgbClr val="374151"/>
                </a:solidFill>
              </a:rPr>
              <a:t>• TALENTA bocor hingga 75% karena siswa kabur saat UTBK.
• Mandiri terkendala batas waktu bayar sempit (5 hari) &amp; sosialisasi cicilan lambat.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08760"/>
            <a:ext cx="342900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100">
                <a:solidFill>
                  <a:srgbClr val="B91C1C"/>
                </a:solidFill>
              </a:defRPr>
            </a:pPr>
            <a:r>
              <a:t>3. 'SMOKING GUN' KIP &amp; DESIL 5-6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B91C1C"/>
                </a:solidFill>
              </a:rPr>
              <a:t>Kausalitas 98,24%: </a:t>
            </a:r>
            <a:r>
              <a:rPr sz="950">
                <a:solidFill>
                  <a:srgbClr val="374151"/>
                </a:solidFill>
              </a:rPr>
              <a:t>626 kursi kosong SNBT 2026 secara empiris 98,24% identik dengan 615 calon KIP ditolak beasiswanya.</a:t>
            </a:r>
          </a:p>
          <a:p>
            <a:pPr>
              <a:spcAft>
                <a:spcPts val="4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Efek Jurang Desil: </a:t>
            </a:r>
            <a:r>
              <a:rPr sz="950">
                <a:solidFill>
                  <a:srgbClr val="374151"/>
                </a:solidFill>
              </a:rPr>
              <a:t>534 orang (86,8% tolak KIP) berasal dari Desil 5 &amp; 6 yang terkena cut-off 100% akibat kuota KIP SNBT dipotong 159 kursi.</a:t>
            </a:r>
          </a:p>
          <a:p>
            <a:pPr>
              <a:spcAft>
                <a:spcPts val="200"/>
              </a:spcAft>
              <a:defRPr sz="950"/>
            </a:pPr>
            <a:r>
              <a:rPr b="1" sz="950">
                <a:solidFill>
                  <a:srgbClr val="1B3B6F"/>
                </a:solidFill>
              </a:rPr>
              <a:t>Gugur Terpaksa: </a:t>
            </a:r>
            <a:r>
              <a:rPr sz="950">
                <a:solidFill>
                  <a:srgbClr val="374151"/>
                </a:solidFill>
              </a:rPr>
              <a:t>Bukan kabur ke kampus lain, tetapi tidak sanggup bayar UKT reguler. Mengalihkan ke Mandiri adalah salah resep bagi siswa miskin.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Evaluasi Kebijakan Cascading Quota (SNBP → SNBT → Mandiri): Peluang vs 3 Jebakan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Konsekuensi Hukum Ketiadaan Mekanisme Waiting List pada Seleksi Serentak Nasional SNPMB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66534"/>
                </a:solidFill>
              </a:defRPr>
            </a:pPr>
            <a:r>
              <a:t>✅ PELUANG REVENUE PTN-BH (PRODI KUADRAN I)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Monetisasi Daya Saing Tinggi: </a:t>
            </a:r>
            <a:r>
              <a:rPr sz="1000">
                <a:solidFill>
                  <a:srgbClr val="374151"/>
                </a:solidFill>
              </a:rPr>
              <a:t>Pada prodi favorit (Kedokteran, Farmasi, Hukum, Teknik Sipil, Informatika), sisa kuota yang dialihkan ke Mandiri langsung diperebutkan pendaftar berdaya beli tinggi.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66534"/>
                </a:solidFill>
              </a:rPr>
              <a:t>Surplus Penerimaan IPI: </a:t>
            </a:r>
            <a:r>
              <a:rPr sz="1000">
                <a:solidFill>
                  <a:srgbClr val="374151"/>
                </a:solidFill>
              </a:rPr>
              <a:t>Iuran Pengembangan Institusi (IPI / Uang Pangkal) dari jalur Mandiri mendatangkan miliaran rupiah yang sangat vital bagi kas operasional kampus.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Kapasitas Kelas Terisi: </a:t>
            </a:r>
            <a:r>
              <a:rPr sz="1000">
                <a:solidFill>
                  <a:srgbClr val="374151"/>
                </a:solidFill>
              </a:rPr>
              <a:t>Mencegah fasilitas laboratorium dan rasio dosen prodi unggulan menganggur akibat calon SNBP/SNBT yang pindah ke kampus luar Aceh.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B91C1C"/>
                </a:solidFill>
              </a:defRPr>
            </a:pPr>
            <a:r>
              <a:t>⚠️ TIGA JEBAKAN STRUKTURAL (KUADRAN III &amp; KIP)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1. Salah Sasaran Bagi Korban KIP: </a:t>
            </a:r>
            <a:r>
              <a:rPr sz="1000">
                <a:solidFill>
                  <a:srgbClr val="374151"/>
                </a:solidFill>
              </a:rPr>
              <a:t>98,2% kursi kosong SNBT adalah anak miskin tertolak KIP. Melempar kursi ke Mandiri mustahil menolong mereka karena Mandiri mewajibkan biaya tes dan IPI puluhan juta.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2. Kutukan Kursi Kosong Permanen: </a:t>
            </a:r>
            <a:r>
              <a:rPr sz="1000">
                <a:solidFill>
                  <a:srgbClr val="374151"/>
                </a:solidFill>
              </a:rPr>
              <a:t>Prodi Kuadran III (Budidaya Perairan, THP, Fisika) di jalur tes nasional saja sepi. Dilempar ke Mandiri pendaftar mendekati nol → kursi kosong permanen!</a:t>
            </a:r>
          </a:p>
          <a:p>
            <a:pPr>
              <a:spcAft>
                <a:spcPts val="4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3. Risiko Kompromi Mutu Akademik: </a:t>
            </a:r>
            <a:r>
              <a:rPr sz="1000">
                <a:solidFill>
                  <a:srgbClr val="374151"/>
                </a:solidFill>
              </a:rPr>
              <a:t>Ketergantungan berlebih pada Mandiri di akhir kalender (Agustus) berisiko menurunkan passing grade demi memenuhi target kuantitas kursi.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6 Rekomendasi Kebijakan Terintegrasi Menuju PMB 2027 yang Efisien &amp; Berkeadilan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C0392B"/>
                </a:solidFill>
              </a:defRPr>
            </a:pPr>
            <a:r>
              <a:t>AKSI 1:</a:t>
            </a:r>
            <a:br/>
            <a:r>
              <a:t>RASIONALISASI KUOTA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Pangkas 20–40% pada 22 prodi Kuadran III. Budidaya Perairan 160→90, THP 160→100, Pend. Ekonomi 160→100, T. Kimia 180→120, Fisika 80→50.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C0392B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Hapus ~300 bangku kosong semu tanpa mengurangi mahasiswa riil, dongkrak Fill Rate ke &gt;88%.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E65100"/>
                </a:solidFill>
              </a:defRPr>
            </a:pPr>
            <a:r>
              <a:t>AKSI 2:</a:t>
            </a:r>
            <a:br/>
            <a:r>
              <a:t>UKT PENYELAMAT DESIL 5&amp;6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SK Rektor: Calon KIP SNBT Desil 5-6 yang tertolak otomatis ditetapkan UKT Kel.1 (Rp500rb) atau Kel.2 (Rp1jt) semester pertama.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E65100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Menyelamatkan 500+ calon mahasiswa berprestasi UTBK agar tidak putus kuliah.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0876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1B3B6F"/>
                </a:solidFill>
              </a:defRPr>
            </a:pPr>
            <a:r>
              <a:t>AKSI 3:</a:t>
            </a:r>
            <a:br/>
            <a:r>
              <a:t>SUBSIDI SILANG IPI MANDIRI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Alokasikan 5%–10% total penerimaan IPI Mandiri Kuadran I (~Rp2,0–3,0 Miliar) untuk program Beasiswa USK Berdikari.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B3B6F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Mendanai beasiswa mandiri dan jaring pengaman bagi mahasiswa prasejahtera di Kuadran III.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1095C1"/>
                </a:solidFill>
              </a:defRPr>
            </a:pPr>
            <a:r>
              <a:t>AKSI 4:</a:t>
            </a:r>
            <a:br/>
            <a:r>
              <a:t>PROTEKSI JALUR TALENTA &amp; MANDIRI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Wajibkan commitment fee Rp1jt pada TALENTA (mengunci siswa agar tak kabur). Perpanjang masa sanggah UKT jadi 10 hari &amp; masifkan cicilan IPI.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095C1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Membendung kebocoran 75% di TALENTA dan menyelamatkan penerimaan kas kampus.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8B5CF6"/>
                </a:solidFill>
              </a:defRPr>
            </a:pPr>
            <a:r>
              <a:t>AKSI 5:</a:t>
            </a:r>
            <a:br/>
            <a:r>
              <a:t>INTERVENSI HULU &amp; SEGMENTED CASCADING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SNPMB serentak tidak izinkan waiting list nasional. Penyelamatan wajib di hulu sebelum masa registrasi tutup (intervensi UKT), lalu kuota Kuadran I dialihkan ke Mandiri, Kuadran III ke Afirmasi.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8B5CF6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Mencegah kursi SNBT hangus permanen dan menutup jebakan kursi kosong di Kuadran III.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404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500"/>
              </a:spcAft>
              <a:defRPr b="1" sz="1000">
                <a:solidFill>
                  <a:srgbClr val="166534"/>
                </a:solidFill>
              </a:defRPr>
            </a:pPr>
            <a:r>
              <a:t>AKSI 6:</a:t>
            </a:r>
            <a:br/>
            <a:r>
              <a:t>SINERGI BAITUL MAL &amp; DANA OTSUS</a:t>
            </a:r>
          </a:p>
          <a:p>
            <a:pPr>
              <a:spcAft>
                <a:spcPts val="400"/>
              </a:spcAft>
              <a:defRPr sz="900"/>
            </a:pPr>
            <a:r>
              <a:rPr sz="900">
                <a:solidFill>
                  <a:srgbClr val="374151"/>
                </a:solidFill>
              </a:rPr>
              <a:t>Serahkan basis data 534 calon mahasiswa Desil 5-6 kepada Baitul Mal Aceh &amp; Pemerintah Aceh sebagai penerima beasiswa fakir/miskin.</a:t>
            </a:r>
          </a:p>
          <a:p>
            <a:pPr>
              <a:spcAft>
                <a:spcPts val="200"/>
              </a:spcAft>
              <a:defRPr sz="900"/>
            </a:pPr>
            <a:r>
              <a:rPr b="1" sz="900">
                <a:solidFill>
                  <a:srgbClr val="166534"/>
                </a:solidFill>
              </a:rPr>
              <a:t>Hasil: </a:t>
            </a:r>
            <a:r>
              <a:rPr sz="900">
                <a:solidFill>
                  <a:srgbClr val="374151"/>
                </a:solidFill>
              </a:rPr>
              <a:t>Mengintegrasikan potensi dana syariah dan otonomi daerah untuk pendidikan tinggi berkelanjutan.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A84C"/>
                </a:solidFill>
              </a:defRPr>
            </a:pPr>
            <a:r>
              <a:t>UNIVERSITAS SYIAH KUALA  |  RAPAT PIMPINAN PMB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F3C"/>
                </a:solidFill>
              </a:defRPr>
            </a:pPr>
            <a:r>
              <a:t>Agenda Transformasi Khusus: Restrukturisasi FEB, Konversi D3→D4, dan Rasionalisasi PSDKU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B91C1C"/>
                </a:solidFill>
              </a:defRPr>
            </a:pPr>
            <a:r>
              <a:t>⚠️ ALARM SENAT FEB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Fakta Krisis: </a:t>
            </a:r>
            <a:r>
              <a:rPr sz="1000">
                <a:solidFill>
                  <a:srgbClr val="374151"/>
                </a:solidFill>
              </a:rPr>
              <a:t>3 prodi utama (Manajemen, Eko Islam, Eko Pembangunan) kehilangan 144 mhs/angkatan (-24% dari basis 2022).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B91C1C"/>
                </a:solidFill>
              </a:rPr>
              <a:t>Zero-Rebound: </a:t>
            </a:r>
            <a:r>
              <a:rPr sz="1000">
                <a:solidFill>
                  <a:srgbClr val="374151"/>
                </a:solidFill>
              </a:rPr>
              <a:t>Manajemen &amp; Eko Islam tidak pernah sekalipun naik dalam 4 transisi tahunan!</a:t>
            </a:r>
          </a:p>
          <a:p>
            <a:pPr>
              <a:spcAft>
                <a:spcPts val="6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Kanibalisasi: </a:t>
            </a:r>
            <a:r>
              <a:rPr sz="1000">
                <a:solidFill>
                  <a:srgbClr val="374151"/>
                </a:solidFill>
              </a:rPr>
              <a:t>S1 Bisnis Digital (baru 2024) menyedot 800+ peminat langsung dari Manajemen.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E65100"/>
                </a:solidFill>
              </a:rPr>
              <a:t>Rekomendasi: </a:t>
            </a:r>
            <a:r>
              <a:rPr sz="1000">
                <a:solidFill>
                  <a:srgbClr val="374151"/>
                </a:solidFill>
              </a:rPr>
              <a:t>Re-engineering kurikulum → Digital Marketing, Business Analytics, Islamic FinTech untuk membalikkan tren peminat Gen 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08760"/>
            <a:ext cx="342900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66534"/>
                </a:solidFill>
              </a:defRPr>
            </a:pPr>
            <a:r>
              <a:t>🔄 KONVERSI D3 → D4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Akar Masalah: </a:t>
            </a:r>
            <a:r>
              <a:rPr sz="1000">
                <a:solidFill>
                  <a:srgbClr val="374151"/>
                </a:solidFill>
              </a:rPr>
              <a:t>Lulusan D3 = Golongan II/c ASN, kalah dari D4/S1 = Golongan III/a. Kurikulum D3 hanya 'versi ringkas' S1 tanpa sertifikasi industri.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Target Konversi: </a:t>
            </a:r>
            <a:r>
              <a:rPr sz="1000">
                <a:solidFill>
                  <a:srgbClr val="374151"/>
                </a:solidFill>
              </a:rPr>
              <a:t>• D3 Manajemen Informatika → D4 Sains Data Terapan
• D3 Teknik Sipil → D4 Manajemen Rekayasa Konstruksi
• D3 Akuntansi → D4 Akuntansi Sektor Publik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Moratorium: </a:t>
            </a:r>
            <a:r>
              <a:rPr sz="1000">
                <a:solidFill>
                  <a:srgbClr val="374151"/>
                </a:solidFill>
              </a:rPr>
              <a:t>D3 Manajemen Agribisnis (keterisian 27,0%) dan D3 Budidaya Peternakan.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Kurikulum Dual System: </a:t>
            </a:r>
            <a:r>
              <a:rPr sz="1000">
                <a:solidFill>
                  <a:srgbClr val="374151"/>
                </a:solidFill>
              </a:rPr>
              <a:t>Magang industri 1 tahun penuh + sertifikasi kompetensi BNSP.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08760"/>
            <a:ext cx="3429000" cy="457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E65100"/>
                </a:solidFill>
              </a:defRPr>
            </a:pPr>
            <a:r>
              <a:t>📍 RASIONALISASI PSDKU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Fakta Inefisiensi: </a:t>
            </a:r>
            <a:r>
              <a:rPr sz="1000">
                <a:solidFill>
                  <a:srgbClr val="374151"/>
                </a:solidFill>
              </a:rPr>
              <a:t>5 tahun: 1.050 kursi dibuka, hanya 267 mahasiswa masuk. Di 2026, 81,4% kursi kosong (hanya 41 mhs masuk dari 220 kuota).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Kendala Geografis: </a:t>
            </a:r>
            <a:r>
              <a:rPr sz="1000">
                <a:solidFill>
                  <a:srgbClr val="374151"/>
                </a:solidFill>
              </a:rPr>
              <a:t>Blangkejeren berjarak 10–12 jam darat dari Banda Aceh/Medan. Terisolasi dari pasar pendaftar nasional.</a:t>
            </a:r>
          </a:p>
          <a:p>
            <a:pPr>
              <a:spcAft>
                <a:spcPts val="500"/>
              </a:spcAft>
              <a:defRPr sz="1000"/>
            </a:pPr>
            <a:r>
              <a:rPr b="1" sz="1000">
                <a:solidFill>
                  <a:srgbClr val="C0392B"/>
                </a:solidFill>
              </a:rPr>
              <a:t>Downsizing 50%: </a:t>
            </a:r>
            <a:r>
              <a:rPr sz="1000">
                <a:solidFill>
                  <a:srgbClr val="374151"/>
                </a:solidFill>
              </a:rPr>
              <a:t>Pangkas dari 220 → 100–110 kursi/tahun (rata-rata 25/prodi).</a:t>
            </a:r>
          </a:p>
          <a:p>
            <a:pPr>
              <a:spcAft>
                <a:spcPts val="3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MoU Pemkab: </a:t>
            </a:r>
            <a:r>
              <a:rPr sz="1000">
                <a:solidFill>
                  <a:srgbClr val="374151"/>
                </a:solidFill>
              </a:rPr>
              <a:t>Ikat kuota dengan beasiswa penuh APBD Gayo Lues / Aceh Tenggara.</a:t>
            </a:r>
          </a:p>
          <a:p>
            <a:pPr>
              <a:spcAft>
                <a:spcPts val="200"/>
              </a:spcAft>
              <a:defRPr sz="1000"/>
            </a:pPr>
            <a:r>
              <a:rPr b="1" sz="1000">
                <a:solidFill>
                  <a:srgbClr val="1B3B6F"/>
                </a:solidFill>
              </a:rPr>
              <a:t>Fokus Niche Lokal: </a:t>
            </a:r>
            <a:r>
              <a:rPr sz="1000">
                <a:solidFill>
                  <a:srgbClr val="374151"/>
                </a:solidFill>
              </a:rPr>
              <a:t>Kurikulum Agribisnis Kopi Gayo &amp; Konservasi Ekosistem Leuser.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100" b="1">
                <a:solidFill>
                  <a:srgbClr val="C9A84C"/>
                </a:solidFill>
              </a:defRPr>
            </a:pPr>
            <a:r>
              <a:t>UNIVERSITAS SYIAH KUALA  |  PESAN KUNCI PIMPINAN</a:t>
            </a:r>
          </a:p>
          <a:p>
            <a:pPr algn="ctr">
              <a:defRPr sz="1600" i="1" b="1">
                <a:solidFill>
                  <a:srgbClr val="FFFFFF"/>
                </a:solidFill>
              </a:defRPr>
            </a:pPr>
            <a:r>
              <a:t>"Tolak ukur keberhasilan PMB PTN-BH bukanlah seberapa besar daya tampung yang kita umumkan di atas kertas, melainkan seberapa presisi kuota tersebut terisi oleh mahasiswa yang nyata, berdaya beli, atau terlindungi beasiswanya hingga lulus tepat waktu."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063240"/>
            <a:ext cx="48463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3337560"/>
            <a:ext cx="3154680" cy="283464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C9A84C"/>
                </a:solidFill>
              </a:defRPr>
            </a:pPr>
            <a:r>
              <a:t>1. AUDIT DATA MEMBUKTIKAN</a:t>
            </a:r>
          </a:p>
          <a:p>
            <a:pPr>
              <a:spcAft>
                <a:spcPts val="5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Bukan Masalah Minat: </a:t>
            </a:r>
            <a:r>
              <a:rPr sz="1050">
                <a:solidFill>
                  <a:srgbClr val="B4BED2"/>
                </a:solidFill>
              </a:rPr>
              <a:t>Kebocoran SNBT = keterbatasan kuota beasiswa (cutoff Desil 5-6), bukan ketidakmampuan universitas menarik peminat.</a:t>
            </a:r>
          </a:p>
          <a:p>
            <a:pPr>
              <a:spcAft>
                <a:spcPts val="3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Kausalitas 98,24%: </a:t>
            </a:r>
            <a:r>
              <a:rPr sz="1050">
                <a:solidFill>
                  <a:srgbClr val="B4BED2"/>
                </a:solidFill>
              </a:rPr>
              <a:t>615 calon tolak KIP ≈ 626 kursi kosong SNBT; 534 orang (86,8%) berasal murni dari Desil 5 &amp; 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17136" y="3337560"/>
            <a:ext cx="3154680" cy="283464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E65100"/>
                </a:solidFill>
              </a:defRPr>
            </a:pPr>
            <a:r>
              <a:t>2. EFISIENSI MENYELAMATKAN AKREDITASI</a:t>
            </a:r>
          </a:p>
          <a:p>
            <a:pPr>
              <a:spcAft>
                <a:spcPts val="5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Hapus Bangku Semu: </a:t>
            </a:r>
            <a:r>
              <a:rPr sz="1050">
                <a:solidFill>
                  <a:srgbClr val="B4BED2"/>
                </a:solidFill>
              </a:rPr>
              <a:t>Rasionalisasi kuota Kuadran III = penyehatan mutu akademik, bukan pelemahan fakultas.</a:t>
            </a:r>
          </a:p>
          <a:p>
            <a:pPr>
              <a:spcAft>
                <a:spcPts val="3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Rasio Optimal: </a:t>
            </a:r>
            <a:r>
              <a:rPr sz="1050">
                <a:solidFill>
                  <a:srgbClr val="B4BED2"/>
                </a:solidFill>
              </a:rPr>
              <a:t>Kapasitas yang pas menjaga rasio dosen-mahasiswa dan instrumen akreditasi unggul internasional.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6992" y="3337560"/>
            <a:ext cx="3154680" cy="283464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800"/>
              </a:spcAft>
              <a:defRPr b="1" sz="1200">
                <a:solidFill>
                  <a:srgbClr val="166534"/>
                </a:solidFill>
              </a:defRPr>
            </a:pPr>
            <a:r>
              <a:t>3. KEBERPIHAKAN SOSIAL PTN-BH</a:t>
            </a:r>
          </a:p>
          <a:p>
            <a:pPr>
              <a:spcAft>
                <a:spcPts val="5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Kemandirian Berkeadilan: </a:t>
            </a:r>
            <a:r>
              <a:rPr sz="1050">
                <a:solidFill>
                  <a:srgbClr val="B4BED2"/>
                </a:solidFill>
              </a:rPr>
              <a:t>Fleksibilitas finansial PTN-BH harus menjadi berkah bagi mahasiswa prasejahtera melalui subsidi silang IPI mandiri.</a:t>
            </a:r>
          </a:p>
          <a:p>
            <a:pPr>
              <a:spcAft>
                <a:spcPts val="300"/>
              </a:spcAft>
              <a:defRPr sz="1050"/>
            </a:pPr>
            <a:r>
              <a:rPr b="1" sz="1050">
                <a:solidFill>
                  <a:srgbClr val="F5F0E8"/>
                </a:solidFill>
              </a:rPr>
              <a:t>Jantong Hate Rakyat Aceh: </a:t>
            </a:r>
            <a:r>
              <a:rPr sz="1050">
                <a:solidFill>
                  <a:srgbClr val="B4BED2"/>
                </a:solidFill>
              </a:rPr>
              <a:t>Menjaga marwah USK sebagai benteng kesempatan pendidikan tinggi bagi seluruh lapisan masyarakat Aceh.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8760"/>
            <a:ext cx="73152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C9A84C"/>
                </a:solidFill>
              </a:defRPr>
            </a:pPr>
            <a:r>
              <a:t>UNIVERSITAS SYIAH KUALA  |  RAPAT PIMPINAN PMB  |  ANALISA PEMINATAN &amp; DAYA TAMPUNG 2022–2026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8760"/>
            <a:ext cx="1371600" cy="218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5F0E8"/>
                </a:solidFill>
              </a:defRPr>
            </a:pPr>
            <a: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